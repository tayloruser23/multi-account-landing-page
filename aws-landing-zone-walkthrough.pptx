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fe6c991-10a5-96ea-2fbd-5b5df53151f4}">
          <p14:sldIdLst>
            <p14:sldId id="256"/>
            <p14:sldId id="257"/>
            <p14:sldId id="258"/>
            <p14:sldId id="259"/>
          </p14:sldIdLst>
        </p14:section>
        <p14:section name="HCL for programmers" id="{fed2d199-0deb-21af-56df-c6bf236260a0}">
          <p14:sldIdLst>
            <p14:sldId id="260"/>
            <p14:sldId id="261"/>
            <p14:sldId id="262"/>
            <p14:sldId id="263"/>
            <p14:sldId id="264"/>
            <p14:sldId id="265"/>
            <p14:sldId id="266"/>
          </p14:sldIdLst>
        </p14:section>
        <p14:section name="Layer 00: Bootstrap" id="{e5701381-6725-4b3e-1f3e-54b117309a4c}">
          <p14:sldIdLst>
            <p14:sldId id="267"/>
            <p14:sldId id="268"/>
            <p14:sldId id="269"/>
            <p14:sldId id="270"/>
            <p14:sldId id="271"/>
            <p14:sldId id="272"/>
            <p14:sldId id="273"/>
            <p14:sldId id="274"/>
            <p14:sldId id="275"/>
          </p14:sldIdLst>
        </p14:section>
        <p14:section name="Layer 01: Organization" id="{03d3d449-cd03-5057-d8c1-002a57932b28}">
          <p14:sldIdLst>
            <p14:sldId id="276"/>
            <p14:sldId id="277"/>
            <p14:sldId id="278"/>
            <p14:sldId id="279"/>
            <p14:sldId id="280"/>
            <p14:sldId id="281"/>
            <p14:sldId id="282"/>
            <p14:sldId id="283"/>
            <p14:sldId id="284"/>
          </p14:sldIdLst>
        </p14:section>
        <p14:section name="Layer 02: Identity" id="{c6891c70-4c15-3fa8-b5b8-b825e8de0dac}">
          <p14:sldIdLst>
            <p14:sldId id="285"/>
            <p14:sldId id="286"/>
            <p14:sldId id="287"/>
            <p14:sldId id="288"/>
            <p14:sldId id="289"/>
          </p14:sldIdLst>
        </p14:section>
        <p14:section name="Layer 03: Logging" id="{b2f178e6-8e8f-5616-b500-71e95bca31f9}">
          <p14:sldIdLst>
            <p14:sldId id="290"/>
            <p14:sldId id="291"/>
            <p14:sldId id="292"/>
            <p14:sldId id="293"/>
            <p14:sldId id="294"/>
            <p14:sldId id="295"/>
            <p14:sldId id="296"/>
          </p14:sldIdLst>
        </p14:section>
        <p14:section name="Layer 04: Security" id="{210ae357-ffc8-0ee5-9638-ffa68bfd55b8}">
          <p14:sldIdLst>
            <p14:sldId id="297"/>
            <p14:sldId id="298"/>
            <p14:sldId id="299"/>
            <p14:sldId id="300"/>
          </p14:sldIdLst>
        </p14:section>
        <p14:section name="Layer 05: Network" id="{704d31f3-c2e8-a624-95c1-698759dd416f}">
          <p14:sldIdLst>
            <p14:sldId id="301"/>
            <p14:sldId id="302"/>
            <p14:sldId id="303"/>
            <p14:sldId id="304"/>
            <p14:sldId id="305"/>
            <p14:sldId id="306"/>
          </p14:sldIdLst>
        </p14:section>
        <p14:section name="Prove it, ship it, pay for it" id="{2d76ffd5-0605-c751-65cc-07f4050b85d7}">
          <p14:sldIdLst>
            <p14:sldId id="307"/>
            <p14:sldId id="308"/>
            <p14:sldId id="309"/>
            <p14:sldId id="310"/>
            <p14:sldId id="311"/>
          </p14:sldIdLst>
        </p14:section>
        <p14:section name="Wrap-up" id="{d044d1fa-925e-037b-5b92-c5668187878e}">
          <p14:sldIdLst>
            <p14:sldId id="312"/>
            <p14:sldId id="313"/>
            <p14:sldId id="31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the landing zone project: what it is, why each piece exists, and what every block of Terraform does. No prior HCL knowledge is assumed. Read it alongside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account boundary is the strongest isolation AWS offers. A landing zone is the standard structure companies set up before running real workloads. AWS Control Tower builds one for you; this project builds it by hand so every piece is understood.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Accounts live inside organizational units (OUs). Policies attached to an OU apply to every account under it, including accounts added later. The management account sits above the tree and is the one account SCPs cannot restrict.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is its own Terraform root with its own state file. A later layer reads an earlier layer's outputs with terraform_remote_state, which works like importing return values from another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HCL is the language Terraform files are written in. It looks like JSON with less punctuation, but it behaves like a declarative build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same Terraform twice is safe: the second plan shows no changes. That property is called idempotence, and it is the main reason infrastructure as code beats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Labels in quotes after the block type identify the block. For a resource, the first label is the type, which always starts with the provider name, and the second is a name you choose. The pair must be unique in the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mapping: variables are inputs, outputs are return values, modules are function calls, and resources are the things that actually cost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builds a graph from references and creates independent resources in parallel. Here the KMS key and the bucket start at the same time. depends_on is only needed when AWS has an ordering rule your code cannot express, like setting the public access block before attaching a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for_each is the workhorse. It turns a map into many resources, each addressable by key, for example aws_organizations_account.this["dev"]. Using a map instead of a list means removing one entry never renumbers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habit that matters most is reading the plan. Count the adds, changes, and destroys and make sure they match what you expect before you type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layer runs with local state exactly once. It creates the S3 bucket that every later layer stores its state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cannot store state in a bucket that does not exist yet. So the bootstrap layer keeps its own small state file locally, and that file is gitignored.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terraform block configures Terraform itself. The provider block configures the plugin that talks to AWS. Credentials are never written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locals are named expressions inside a folder. They keep long expressions readable and are referenced as local.name, singular, even though the block is locals, plural.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KMS key policy is a resource policy: it decides who can use the key at all. The default S3-managed key would work, but a customer-managed key lets you control and audit every decrypt.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Nested blocks like versioning_configuration and rule are not resources; they are structured arguments inside one resource.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deny when SecureTransport is false instead of allowing when it is true? An allow can be outweighed by other allows; a deny cannot. Denies are how you build guarantees in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output is the exact contents of backend.hcl. On Windows save it with: terraform output -raw backend_hcl | Out-File -Encoding ascii ..\..\backend.hcl. The ascii encoding matters because PowerShell writes UTF-16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 real error during the build, and it is a good interview story: you hit exactly the type of guardrail you were about to build. Note the partial apply: the KMS key was created before the bucket failed, and Terraform state recorded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layer runs in the management account. It turns a single account into an organization with five member accounts and four service control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common local name when a folder has exactly one of something. The root is the top of the OU tree; policies attached to it apply to every member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account gets the address aws_organizations_account.this["dev"]. Account emails must be unique and can never be reused after an account is closed. Gmail plus-addressing gives you unlimited addresses that land in one inbox.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IAM as what a user is given, and an SCP as what the account is allowed to give. Both have to say yes. This is how a company stops a developer with admin rights from turning off CloudTrail.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Policies live in their own folder as JSON templates so they can be reviewed as plain policy documents. The real file has more actions in each list. The same SCP also denies changes to the exempt role, so nobody can rewrite its trust policy to borrow the exemption.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scp_attachments is a second map: root-baseline, root-region, workloads-guardrails and suspended-deny-all, each naming a policy and a target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budget in the management account sees spend across every member account through consolidated billing, so one budget covers the whole 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IAM Identity Center is AWS's single sign-on. You enable it once in the console; Terraform defines who can do what in which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Signing in through the access portal gives temporary credentials that expire. Nothing long-lived exists to leak, which is why the workload SCP can deny IAM user creation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file also has SecurityAudit and ReadOnly. Developer gets an inline policy on top of PowerUserAccess that denies network and organization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for_each needs a flat map with one entry per resource. When data is nested, a set inside a map, you flatten it like this. The pipe-separated key just has to be unique and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 archive account receives CloudTrail, Config, and VPC flow logs from every account. Nobody works in it, so an attacker in a workload account cannot erase their tracks.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service principal like cloudtrail.amazonaws.com acts for every AWS customer. If your bucket policy trusts it with no condition, anyone's trail could write into your bucket. The service is the deputy, confused about whose request it is serving.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one Terraform run manages resources in several accounts. The role was created by Organizations when it made the account. The account ID comes from layer 01 via remote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key policy has four statements: account administration, CloudTrail encrypt, CloudTrail describe, and Config plus flow log delivery restricted by aws:SourceAccount.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stronger protection, S3 Object Lock can make objects immutable for a retention period. It is a variable in this layer but off by default, because a compliance-locked bucket cannot be torn down at the end of a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accounts can see the org trail but cannot stop or modify it, which the baseline SCP backs up. The first copy of management events is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GuardDuty, Security Hub, AWS Config, and IAM Access Analyzer are enabled in every account and administered from the security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Hub follows the same three steps, plus explicit member resources for accounts that already exist. Access Analyzer is delegated and then creates one organization-wide analyzer that flags anything shared outside the 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cannot loop over providers, so each account gets its own module block. The module creates a recorder, a delivery channel to the central bucket, and starts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Transit Gateway in the network account connects every VPC. Segmentation is enforced in the hub's route tables, which workload accounts cannot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VPC attachment is associated with exactly one TGW route table, which decides where its traffic can go. Propagation adds a VPC's CIDR to a route table. Spokes only learn the shared CIDR, so prod is unreachable from dev.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Checkov flags auto-accept as a risk. The skip comment in the repo explains why it is safe here: the share is org-only and default association is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shared, dev and prod can attach their own VPCs to a gateway owned by the network account. The spoke modules depend on these two associations so they never try to attach before the gateway is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count with a list is fine here because AZs are fixed. The TGW subnets are tiny /28 blocks at the very end of the range, kept separate from workload subnets so their routing and NACLs can differ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mirror image is also in the file: shared associates with rt-shared, and both spokes propagate into rt-shared. That gives shared services a route back to each spoke.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scripts and pipeline that turn the Terraform into a project you can demonstrate and safely tear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output is the proof for interviews: a screenshot of every guardrail passing says more than a description of the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Prices are us-east-1 list prices. AWS Config is $0.003 per configuration item recorded, which is small for mostly idle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 deny cannot be outweighed by any allow. 2) the baseline SCP; SCPs cap permissions regardless of IAM. 3) SCPs never apply to it. 4) any AWS customer's trail could write into it: the confused deputy. 5) the TGW route table it uses has no route to prod. 6) removing one map key does not renumber or recreate the other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786384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749040"/>
            <a:ext cx="7863840" cy="109728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804672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840480"/>
            <a:ext cx="7863840" cy="13716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chemeClr val="tx2"/>
                </a:solidFill>
              </a:rPr>
              <a:t>AWS Landing Zone with Terraform</a:t>
            </a:r>
            <a:endParaRPr lang="en-US" sz="1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4.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7863840" cy="1463040"/>
          </a:xfrm>
          <a:prstGeom prst="rect">
            <a:avLst/>
          </a:prstGeom>
          <a:noFill/>
          <a:ln/>
        </p:spPr>
        <p:txBody>
          <a:bodyPr wrap="square" lIns="0" tIns="0" rIns="0" bIns="0" rtlCol="0" anchor="b"/>
          <a:lstStyle/>
          <a:p>
            <a:pPr algn="l" indent="0" marL="0">
              <a:buNone/>
            </a:pPr>
            <a:r>
              <a:rPr lang="en-US" sz="4400" b="1" dirty="0">
                <a:solidFill>
                  <a:schemeClr val="bg1"/>
                </a:solidFill>
              </a:rPr>
              <a:t>Building an AWS Landing Zone with Terraform</a:t>
            </a:r>
            <a:endParaRPr lang="en-US" sz="4400" dirty="0"/>
          </a:p>
        </p:txBody>
      </p:sp>
      <p:sp>
        <p:nvSpPr>
          <p:cNvPr id="3" name="Text 0"/>
          <p:cNvSpPr/>
          <p:nvPr>
            <p:ph idx="101" type="body" hasCustomPrompt="1"/>
          </p:nvPr>
        </p:nvSpPr>
        <p:spPr>
          <a:xfrm>
            <a:off x="731520" y="3749040"/>
            <a:ext cx="7863840" cy="1097280"/>
          </a:xfrm>
          <a:prstGeom prst="rect">
            <a:avLst/>
          </a:prstGeom>
          <a:noFill/>
          <a:ln/>
        </p:spPr>
        <p:txBody>
          <a:bodyPr wrap="square" lIns="0" tIns="0" rIns="0" bIns="0" rtlCol="0" anchor="t"/>
          <a:lstStyle/>
          <a:p>
            <a:pPr algn="l" indent="0" marL="0">
              <a:buNone/>
            </a:pPr>
            <a:r>
              <a:rPr lang="en-US" sz="2000" dirty="0">
                <a:solidFill>
                  <a:schemeClr val="accent5"/>
                </a:solidFill>
              </a:rPr>
              <a:t>A multi-account AWS foundation, explained block by block for programmers who have never read HashiCorp Configuration Language</a:t>
            </a:r>
            <a:endParaRPr lang="en-US" sz="2000" dirty="0"/>
          </a:p>
        </p:txBody>
      </p:sp>
      <p:sp>
        <p:nvSpPr>
          <p:cNvPr id="4" name="text-1"/>
          <p:cNvSpPr txBox="1"/>
          <p:nvPr/>
        </p:nvSpPr>
        <p:spPr>
          <a:xfrm>
            <a:off x="731520" y="5760720"/>
            <a:ext cx="5486400" cy="365760"/>
          </a:xfrm>
          <a:prstGeom prst="rect">
            <a:avLst/>
          </a:prstGeom>
          <a:noFill/>
          <a:ln/>
        </p:spPr>
        <p:txBody>
          <a:bodyPr wrap="square" lIns="0" tIns="0" rIns="0" bIns="0" rtlCol="0" anchor="t"/>
          <a:lstStyle/>
          <a:p>
            <a:pPr indent="0" marL="0">
              <a:buNone/>
            </a:pPr>
            <a:r>
              <a:rPr lang="en-US" sz="1400" dirty="0">
                <a:solidFill>
                  <a:schemeClr val="bg2"/>
                </a:solidFill>
              </a:rPr>
              <a:t>Taylor  |  tw-it.net</a:t>
            </a:r>
            <a:endParaRPr lang="en-US" sz="1400" dirty="0"/>
          </a:p>
        </p:txBody>
      </p:sp>
      <p:sp>
        <p:nvSpPr>
          <p:cNvPr id="5" name="box-2"/>
          <p:cNvSpPr/>
          <p:nvPr/>
        </p:nvSpPr>
        <p:spPr>
          <a:xfrm>
            <a:off x="9784080" y="640080"/>
            <a:ext cx="914400" cy="365760"/>
          </a:xfrm>
          <a:prstGeom prst="roundRect">
            <a:avLst>
              <a:gd name="adj" fmla="val 20000"/>
            </a:avLst>
          </a:prstGeom>
          <a:solidFill>
            <a:schemeClr val="accent2"/>
          </a:solidFill>
          <a:ln w="9525">
            <a:solidFill>
              <a:schemeClr val="accent2"/>
            </a:solidFill>
            <a:prstDash val="solid"/>
          </a:ln>
        </p:spPr>
      </p:sp>
      <p:sp>
        <p:nvSpPr>
          <p:cNvPr id="6" name="arrow-3"/>
          <p:cNvSpPr/>
          <p:nvPr/>
        </p:nvSpPr>
        <p:spPr>
          <a:xfrm flipH="1">
            <a:off x="9235440" y="1005840"/>
            <a:ext cx="1005840" cy="457200"/>
          </a:xfrm>
          <a:prstGeom prst="line">
            <a:avLst/>
          </a:prstGeom>
          <a:noFill/>
          <a:ln w="19050">
            <a:solidFill>
              <a:schemeClr val="accent5"/>
            </a:solidFill>
            <a:prstDash val="solid"/>
          </a:ln>
        </p:spPr>
      </p:sp>
      <p:sp>
        <p:nvSpPr>
          <p:cNvPr id="7" name="box-4"/>
          <p:cNvSpPr/>
          <p:nvPr/>
        </p:nvSpPr>
        <p:spPr>
          <a:xfrm>
            <a:off x="8778240" y="1463040"/>
            <a:ext cx="914400" cy="365760"/>
          </a:xfrm>
          <a:prstGeom prst="roundRect">
            <a:avLst>
              <a:gd name="adj" fmla="val 20000"/>
            </a:avLst>
          </a:prstGeom>
          <a:solidFill>
            <a:schemeClr val="accent1"/>
          </a:solidFill>
          <a:ln w="9525">
            <a:solidFill>
              <a:schemeClr val="accent1"/>
            </a:solidFill>
            <a:prstDash val="solid"/>
          </a:ln>
        </p:spPr>
      </p:sp>
      <p:sp>
        <p:nvSpPr>
          <p:cNvPr id="8" name="arrow-5"/>
          <p:cNvSpPr/>
          <p:nvPr/>
        </p:nvSpPr>
        <p:spPr>
          <a:xfrm>
            <a:off x="10241280" y="1005840"/>
            <a:ext cx="0" cy="457200"/>
          </a:xfrm>
          <a:prstGeom prst="line">
            <a:avLst/>
          </a:prstGeom>
          <a:noFill/>
          <a:ln w="19050">
            <a:solidFill>
              <a:schemeClr val="accent5"/>
            </a:solidFill>
            <a:prstDash val="solid"/>
          </a:ln>
        </p:spPr>
      </p:sp>
      <p:sp>
        <p:nvSpPr>
          <p:cNvPr id="9" name="box-6"/>
          <p:cNvSpPr/>
          <p:nvPr/>
        </p:nvSpPr>
        <p:spPr>
          <a:xfrm>
            <a:off x="9784080" y="1463040"/>
            <a:ext cx="914400" cy="365760"/>
          </a:xfrm>
          <a:prstGeom prst="roundRect">
            <a:avLst>
              <a:gd name="adj" fmla="val 20000"/>
            </a:avLst>
          </a:prstGeom>
          <a:solidFill>
            <a:schemeClr val="accent1"/>
          </a:solidFill>
          <a:ln w="9525">
            <a:solidFill>
              <a:schemeClr val="accent1"/>
            </a:solidFill>
            <a:prstDash val="solid"/>
          </a:ln>
        </p:spPr>
      </p:sp>
      <p:sp>
        <p:nvSpPr>
          <p:cNvPr id="10" name="arrow-7"/>
          <p:cNvSpPr/>
          <p:nvPr/>
        </p:nvSpPr>
        <p:spPr>
          <a:xfrm>
            <a:off x="10241280" y="1005840"/>
            <a:ext cx="1005840" cy="457200"/>
          </a:xfrm>
          <a:prstGeom prst="line">
            <a:avLst/>
          </a:prstGeom>
          <a:noFill/>
          <a:ln w="19050">
            <a:solidFill>
              <a:schemeClr val="accent5"/>
            </a:solidFill>
            <a:prstDash val="solid"/>
          </a:ln>
        </p:spPr>
      </p:sp>
      <p:sp>
        <p:nvSpPr>
          <p:cNvPr id="11" name="box-8"/>
          <p:cNvSpPr/>
          <p:nvPr/>
        </p:nvSpPr>
        <p:spPr>
          <a:xfrm>
            <a:off x="10789920" y="1463040"/>
            <a:ext cx="914400" cy="365760"/>
          </a:xfrm>
          <a:prstGeom prst="roundRect">
            <a:avLst>
              <a:gd name="adj" fmla="val 20000"/>
            </a:avLst>
          </a:prstGeom>
          <a:solidFill>
            <a:schemeClr val="accent1"/>
          </a:solidFill>
          <a:ln w="9525">
            <a:solidFill>
              <a:schemeClr val="accent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Why one AWS account stops working</a:t>
            </a:r>
            <a:endParaRPr lang="en-US" sz="3400" dirty="0"/>
          </a:p>
        </p:txBody>
      </p:sp>
      <p:sp>
        <p:nvSpPr>
          <p:cNvPr id="3" name="card-9"/>
          <p:cNvSpPr/>
          <p:nvPr/>
        </p:nvSpPr>
        <p:spPr>
          <a:xfrm>
            <a:off x="502920" y="1280160"/>
            <a:ext cx="5394960" cy="4846320"/>
          </a:xfrm>
          <a:prstGeom prst="roundRect">
            <a:avLst>
              <a:gd name="adj" fmla="val 1887"/>
            </a:avLst>
          </a:prstGeom>
          <a:solidFill>
            <a:schemeClr val="bg2"/>
          </a:solidFill>
          <a:ln w="12700">
            <a:solidFill>
              <a:schemeClr val="bg2"/>
            </a:solidFill>
            <a:prstDash val="solid"/>
          </a:ln>
        </p:spPr>
      </p:sp>
      <p:sp>
        <p:nvSpPr>
          <p:cNvPr id="4" name="text-10"/>
          <p:cNvSpPr txBox="1"/>
          <p:nvPr/>
        </p:nvSpPr>
        <p:spPr>
          <a:xfrm>
            <a:off x="868680" y="1508760"/>
            <a:ext cx="4572000" cy="45720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Everything in one account</a:t>
            </a:r>
            <a:endParaRPr lang="en-US" sz="2200" dirty="0"/>
          </a:p>
        </p:txBody>
      </p:sp>
      <p:sp>
        <p:nvSpPr>
          <p:cNvPr id="5" name="list-11"/>
          <p:cNvSpPr txBox="1"/>
          <p:nvPr/>
        </p:nvSpPr>
        <p:spPr>
          <a:xfrm>
            <a:off x="868680" y="2148840"/>
            <a:ext cx="4663440" cy="37490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One leaked admin credential reaches every workload</a:t>
            </a:r>
            <a:endParaRPr lang="en-US" sz="1600" dirty="0"/>
          </a:p>
          <a:p>
            <a:pPr marL="342900" indent="-342900">
              <a:spcAft>
                <a:spcPts val="1000"/>
              </a:spcAft>
              <a:buSzPct val="100000"/>
              <a:buChar char="•"/>
            </a:pPr>
            <a:r>
              <a:rPr lang="en-US" sz="1600" dirty="0">
                <a:solidFill>
                  <a:schemeClr val="tx1"/>
                </a:solidFill>
              </a:rPr>
              <a:t>Dev mistakes can break prod, because nothing separates them</a:t>
            </a:r>
            <a:endParaRPr lang="en-US" sz="1600" dirty="0"/>
          </a:p>
          <a:p>
            <a:pPr marL="342900" indent="-342900">
              <a:spcAft>
                <a:spcPts val="1000"/>
              </a:spcAft>
              <a:buSzPct val="100000"/>
              <a:buChar char="•"/>
            </a:pPr>
            <a:r>
              <a:rPr lang="en-US" sz="1600" dirty="0">
                <a:solidFill>
                  <a:schemeClr val="tx1"/>
                </a:solidFill>
              </a:rPr>
              <a:t>Whoever breaks in can delete the logs that show what they did</a:t>
            </a:r>
            <a:endParaRPr lang="en-US" sz="1600" dirty="0"/>
          </a:p>
          <a:p>
            <a:pPr marL="342900" indent="-342900">
              <a:spcAft>
                <a:spcPts val="1000"/>
              </a:spcAft>
              <a:buSzPct val="100000"/>
              <a:buChar char="•"/>
            </a:pPr>
            <a:r>
              <a:rPr lang="en-US" sz="1600" dirty="0">
                <a:solidFill>
                  <a:schemeClr val="tx1"/>
                </a:solidFill>
              </a:rPr>
              <a:t>Costs and quotas are pooled, so one runaway service hurts everyone</a:t>
            </a:r>
            <a:endParaRPr lang="en-US" sz="1600" dirty="0"/>
          </a:p>
          <a:p>
            <a:pPr marL="342900" indent="-342900">
              <a:spcAft>
                <a:spcPts val="1000"/>
              </a:spcAft>
              <a:buSzPct val="100000"/>
              <a:buChar char="•"/>
            </a:pPr>
            <a:r>
              <a:rPr lang="en-US" sz="1600" dirty="0">
                <a:solidFill>
                  <a:schemeClr val="tx1"/>
                </a:solidFill>
              </a:rPr>
              <a:t>IAM policies become the only wall, and one bad policy removes it</a:t>
            </a:r>
            <a:endParaRPr lang="en-US" sz="1600" dirty="0"/>
          </a:p>
        </p:txBody>
      </p:sp>
      <p:sp>
        <p:nvSpPr>
          <p:cNvPr id="6" name="card-12"/>
          <p:cNvSpPr/>
          <p:nvPr/>
        </p:nvSpPr>
        <p:spPr>
          <a:xfrm>
            <a:off x="6263640" y="1280160"/>
            <a:ext cx="5394960" cy="4846320"/>
          </a:xfrm>
          <a:prstGeom prst="roundRect">
            <a:avLst>
              <a:gd name="adj" fmla="val 1887"/>
            </a:avLst>
          </a:prstGeom>
          <a:solidFill>
            <a:schemeClr val="accent1"/>
          </a:solidFill>
          <a:ln w="12700">
            <a:solidFill>
              <a:schemeClr val="accent1"/>
            </a:solidFill>
            <a:prstDash val="solid"/>
          </a:ln>
        </p:spPr>
      </p:sp>
      <p:sp>
        <p:nvSpPr>
          <p:cNvPr id="7" name="text-13"/>
          <p:cNvSpPr txBox="1"/>
          <p:nvPr/>
        </p:nvSpPr>
        <p:spPr>
          <a:xfrm>
            <a:off x="6629400" y="1508760"/>
            <a:ext cx="4572000" cy="45720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A landing zone</a:t>
            </a:r>
            <a:endParaRPr lang="en-US" sz="2200" dirty="0"/>
          </a:p>
        </p:txBody>
      </p:sp>
      <p:sp>
        <p:nvSpPr>
          <p:cNvPr id="8" name="list-14"/>
          <p:cNvSpPr txBox="1"/>
          <p:nvPr/>
        </p:nvSpPr>
        <p:spPr>
          <a:xfrm>
            <a:off x="6629400" y="2148840"/>
            <a:ext cx="4663440" cy="37490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An account per job: logs, security, network, dev, prod</a:t>
            </a:r>
            <a:endParaRPr lang="en-US" sz="1600" dirty="0"/>
          </a:p>
          <a:p>
            <a:pPr marL="342900" indent="-342900">
              <a:spcAft>
                <a:spcPts val="1000"/>
              </a:spcAft>
              <a:buSzPct val="100000"/>
              <a:buChar char="•"/>
            </a:pPr>
            <a:r>
              <a:rPr lang="en-US" sz="1600" dirty="0">
                <a:solidFill>
                  <a:schemeClr val="bg1"/>
                </a:solidFill>
              </a:rPr>
              <a:t>Guardrails (SCPs) that even account admins cannot bypass</a:t>
            </a:r>
            <a:endParaRPr lang="en-US" sz="1600" dirty="0"/>
          </a:p>
          <a:p>
            <a:pPr marL="342900" indent="-342900">
              <a:spcAft>
                <a:spcPts val="1000"/>
              </a:spcAft>
              <a:buSzPct val="100000"/>
              <a:buChar char="•"/>
            </a:pPr>
            <a:r>
              <a:rPr lang="en-US" sz="1600" dirty="0">
                <a:solidFill>
                  <a:schemeClr val="bg1"/>
                </a:solidFill>
              </a:rPr>
              <a:t>One sign-in with short sessions, and no IAM users</a:t>
            </a:r>
            <a:endParaRPr lang="en-US" sz="1600" dirty="0"/>
          </a:p>
          <a:p>
            <a:pPr marL="342900" indent="-342900">
              <a:spcAft>
                <a:spcPts val="1000"/>
              </a:spcAft>
              <a:buSzPct val="100000"/>
              <a:buChar char="•"/>
            </a:pPr>
            <a:r>
              <a:rPr lang="en-US" sz="1600" dirty="0">
                <a:solidFill>
                  <a:schemeClr val="bg1"/>
                </a:solidFill>
              </a:rPr>
              <a:t>Logs land in an account nobody works in day to day</a:t>
            </a:r>
            <a:endParaRPr lang="en-US" sz="1600" dirty="0"/>
          </a:p>
          <a:p>
            <a:pPr marL="342900" indent="-342900">
              <a:spcAft>
                <a:spcPts val="1000"/>
              </a:spcAft>
              <a:buSzPct val="100000"/>
              <a:buChar char="•"/>
            </a:pPr>
            <a:r>
              <a:rPr lang="en-US" sz="1600" dirty="0">
                <a:solidFill>
                  <a:schemeClr val="bg1"/>
                </a:solidFill>
              </a:rPr>
              <a:t>A hub network where dev and prod cannot reach each other</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The organization at a glance</a:t>
            </a:r>
            <a:endParaRPr lang="en-US" sz="3400" dirty="0"/>
          </a:p>
        </p:txBody>
      </p:sp>
      <p:sp>
        <p:nvSpPr>
          <p:cNvPr id="3" name="box-15"/>
          <p:cNvSpPr/>
          <p:nvPr/>
        </p:nvSpPr>
        <p:spPr>
          <a:xfrm>
            <a:off x="502920" y="1234440"/>
            <a:ext cx="3200400" cy="777240"/>
          </a:xfrm>
          <a:prstGeom prst="roundRect">
            <a:avLst>
              <a:gd name="adj" fmla="val 9412"/>
            </a:avLst>
          </a:prstGeom>
          <a:solidFill>
            <a:schemeClr val="tx1"/>
          </a:solidFill>
          <a:ln w="9525">
            <a:solidFill>
              <a:schemeClr val="tx1"/>
            </a:solidFill>
            <a:prstDash val="solid"/>
          </a:ln>
        </p:spPr>
      </p:sp>
      <p:sp>
        <p:nvSpPr>
          <p:cNvPr id="4" name="box-t-16"/>
          <p:cNvSpPr txBox="1"/>
          <p:nvPr/>
        </p:nvSpPr>
        <p:spPr>
          <a:xfrm>
            <a:off x="548640" y="1234440"/>
            <a:ext cx="3108960" cy="777240"/>
          </a:xfrm>
          <a:prstGeom prst="rect">
            <a:avLst/>
          </a:prstGeom>
          <a:noFill/>
          <a:ln/>
        </p:spPr>
        <p:txBody>
          <a:bodyPr wrap="square" lIns="508" tIns="508" rIns="508" bIns="508" rtlCol="0" anchor="ctr"/>
          <a:lstStyle/>
          <a:p>
            <a:pPr algn="ctr" indent="0" marL="0">
              <a:buNone/>
            </a:pPr>
            <a:r>
              <a:rPr lang="en-US" sz="1400" b="1" dirty="0">
                <a:solidFill>
                  <a:schemeClr val="bg1"/>
                </a:solidFill>
              </a:rPr>
              <a:t>Management account</a:t>
            </a:r>
            <a:endParaRPr lang="en-US" sz="1400" dirty="0"/>
          </a:p>
          <a:p>
            <a:pPr algn="ctr" indent="0" marL="0">
              <a:buNone/>
            </a:pPr>
            <a:r>
              <a:rPr lang="en-US" sz="1100" dirty="0">
                <a:solidFill>
                  <a:schemeClr val="bg1"/>
                </a:solidFill>
              </a:rPr>
              <a:t>Org, SCPs, Identity Center, org trail, budget</a:t>
            </a:r>
            <a:endParaRPr lang="en-US" sz="1400" dirty="0"/>
          </a:p>
        </p:txBody>
      </p:sp>
      <p:sp>
        <p:nvSpPr>
          <p:cNvPr id="5" name="box-17"/>
          <p:cNvSpPr/>
          <p:nvPr/>
        </p:nvSpPr>
        <p:spPr>
          <a:xfrm>
            <a:off x="5120640" y="1371600"/>
            <a:ext cx="1920240" cy="502920"/>
          </a:xfrm>
          <a:prstGeom prst="roundRect">
            <a:avLst>
              <a:gd name="adj" fmla="val 14545"/>
            </a:avLst>
          </a:prstGeom>
          <a:solidFill>
            <a:schemeClr val="accent2"/>
          </a:solidFill>
          <a:ln w="9525">
            <a:solidFill>
              <a:schemeClr val="accent2"/>
            </a:solidFill>
            <a:prstDash val="solid"/>
          </a:ln>
        </p:spPr>
      </p:sp>
      <p:sp>
        <p:nvSpPr>
          <p:cNvPr id="6" name="box-t-18"/>
          <p:cNvSpPr txBox="1"/>
          <p:nvPr/>
        </p:nvSpPr>
        <p:spPr>
          <a:xfrm>
            <a:off x="5166360" y="1371600"/>
            <a:ext cx="1828800" cy="502920"/>
          </a:xfrm>
          <a:prstGeom prst="rect">
            <a:avLst/>
          </a:prstGeom>
          <a:noFill/>
          <a:ln/>
        </p:spPr>
        <p:txBody>
          <a:bodyPr wrap="square" lIns="508" tIns="508" rIns="508" bIns="508" rtlCol="0" anchor="ctr"/>
          <a:lstStyle/>
          <a:p>
            <a:pPr algn="ctr" indent="0" marL="0">
              <a:buNone/>
            </a:pPr>
            <a:r>
              <a:rPr lang="en-US" sz="1400" b="1" dirty="0">
                <a:solidFill>
                  <a:schemeClr val="tx1"/>
                </a:solidFill>
              </a:rPr>
              <a:t>Root</a:t>
            </a:r>
            <a:endParaRPr lang="en-US" sz="1400" dirty="0"/>
          </a:p>
        </p:txBody>
      </p:sp>
      <p:sp>
        <p:nvSpPr>
          <p:cNvPr id="7" name="arrow-19"/>
          <p:cNvSpPr/>
          <p:nvPr/>
        </p:nvSpPr>
        <p:spPr>
          <a:xfrm>
            <a:off x="3703320" y="1623060"/>
            <a:ext cx="1417320" cy="0"/>
          </a:xfrm>
          <a:prstGeom prst="line">
            <a:avLst/>
          </a:prstGeom>
          <a:noFill/>
          <a:ln w="22225">
            <a:solidFill>
              <a:schemeClr val="tx2"/>
            </a:solidFill>
            <a:prstDash val="solid"/>
            <a:tailEnd type="triangle"/>
          </a:ln>
        </p:spPr>
      </p:sp>
      <p:sp>
        <p:nvSpPr>
          <p:cNvPr id="8" name="text-20"/>
          <p:cNvSpPr txBox="1"/>
          <p:nvPr/>
        </p:nvSpPr>
        <p:spPr>
          <a:xfrm>
            <a:off x="4069080" y="1325880"/>
            <a:ext cx="731520" cy="274320"/>
          </a:xfrm>
          <a:prstGeom prst="rect">
            <a:avLst/>
          </a:prstGeom>
          <a:noFill/>
          <a:ln/>
        </p:spPr>
        <p:txBody>
          <a:bodyPr wrap="square" lIns="0" tIns="0" rIns="0" bIns="0" rtlCol="0" anchor="t"/>
          <a:lstStyle/>
          <a:p>
            <a:pPr algn="ctr" indent="0" marL="0">
              <a:buNone/>
            </a:pPr>
            <a:r>
              <a:rPr lang="en-US" sz="1100" dirty="0">
                <a:solidFill>
                  <a:schemeClr val="tx2"/>
                </a:solidFill>
              </a:rPr>
              <a:t>owns</a:t>
            </a:r>
            <a:endParaRPr lang="en-US" sz="1100" dirty="0"/>
          </a:p>
        </p:txBody>
      </p:sp>
      <p:sp>
        <p:nvSpPr>
          <p:cNvPr id="9" name="arrow-21"/>
          <p:cNvSpPr/>
          <p:nvPr/>
        </p:nvSpPr>
        <p:spPr>
          <a:xfrm>
            <a:off x="6080760" y="1874520"/>
            <a:ext cx="0" cy="365760"/>
          </a:xfrm>
          <a:prstGeom prst="line">
            <a:avLst/>
          </a:prstGeom>
          <a:noFill/>
          <a:ln w="22225">
            <a:solidFill>
              <a:schemeClr val="tx2"/>
            </a:solidFill>
            <a:prstDash val="solid"/>
          </a:ln>
        </p:spPr>
      </p:sp>
      <p:sp>
        <p:nvSpPr>
          <p:cNvPr id="10" name="arrow-22"/>
          <p:cNvSpPr/>
          <p:nvPr/>
        </p:nvSpPr>
        <p:spPr>
          <a:xfrm>
            <a:off x="2011680" y="2240280"/>
            <a:ext cx="8892540" cy="0"/>
          </a:xfrm>
          <a:prstGeom prst="line">
            <a:avLst/>
          </a:prstGeom>
          <a:noFill/>
          <a:ln w="22225">
            <a:solidFill>
              <a:schemeClr val="tx2"/>
            </a:solidFill>
            <a:prstDash val="solid"/>
          </a:ln>
        </p:spPr>
      </p:sp>
      <p:sp>
        <p:nvSpPr>
          <p:cNvPr id="11" name="arrow-23"/>
          <p:cNvSpPr/>
          <p:nvPr/>
        </p:nvSpPr>
        <p:spPr>
          <a:xfrm>
            <a:off x="2011680" y="2240280"/>
            <a:ext cx="0" cy="228600"/>
          </a:xfrm>
          <a:prstGeom prst="line">
            <a:avLst/>
          </a:prstGeom>
          <a:noFill/>
          <a:ln w="22225">
            <a:solidFill>
              <a:schemeClr val="tx2"/>
            </a:solidFill>
            <a:prstDash val="solid"/>
          </a:ln>
        </p:spPr>
      </p:sp>
      <p:sp>
        <p:nvSpPr>
          <p:cNvPr id="12" name="box-24"/>
          <p:cNvSpPr/>
          <p:nvPr/>
        </p:nvSpPr>
        <p:spPr>
          <a:xfrm>
            <a:off x="502920" y="2468880"/>
            <a:ext cx="3017520" cy="457200"/>
          </a:xfrm>
          <a:prstGeom prst="roundRect">
            <a:avLst>
              <a:gd name="adj" fmla="val 16000"/>
            </a:avLst>
          </a:prstGeom>
          <a:solidFill>
            <a:schemeClr val="accent5"/>
          </a:solidFill>
          <a:ln w="9525">
            <a:solidFill>
              <a:schemeClr val="accent5"/>
            </a:solidFill>
            <a:prstDash val="solid"/>
          </a:ln>
        </p:spPr>
      </p:sp>
      <p:sp>
        <p:nvSpPr>
          <p:cNvPr id="13" name="box-t-25"/>
          <p:cNvSpPr txBox="1"/>
          <p:nvPr/>
        </p:nvSpPr>
        <p:spPr>
          <a:xfrm>
            <a:off x="548640" y="2468880"/>
            <a:ext cx="2926080" cy="457200"/>
          </a:xfrm>
          <a:prstGeom prst="rect">
            <a:avLst/>
          </a:prstGeom>
          <a:noFill/>
          <a:ln/>
        </p:spPr>
        <p:txBody>
          <a:bodyPr wrap="square" lIns="508" tIns="508" rIns="508" bIns="508" rtlCol="0" anchor="ctr"/>
          <a:lstStyle/>
          <a:p>
            <a:pPr algn="ctr" indent="0" marL="0">
              <a:buNone/>
            </a:pPr>
            <a:r>
              <a:rPr lang="en-US" sz="1300" b="1" dirty="0">
                <a:solidFill>
                  <a:schemeClr val="tx1"/>
                </a:solidFill>
              </a:rPr>
              <a:t>Security OU</a:t>
            </a:r>
            <a:endParaRPr lang="en-US" sz="1300" dirty="0"/>
          </a:p>
        </p:txBody>
      </p:sp>
      <p:sp>
        <p:nvSpPr>
          <p:cNvPr id="14" name="arrow-26"/>
          <p:cNvSpPr/>
          <p:nvPr/>
        </p:nvSpPr>
        <p:spPr>
          <a:xfrm>
            <a:off x="4846320" y="2240280"/>
            <a:ext cx="0" cy="228600"/>
          </a:xfrm>
          <a:prstGeom prst="line">
            <a:avLst/>
          </a:prstGeom>
          <a:noFill/>
          <a:ln w="22225">
            <a:solidFill>
              <a:schemeClr val="tx2"/>
            </a:solidFill>
            <a:prstDash val="solid"/>
          </a:ln>
        </p:spPr>
      </p:sp>
      <p:sp>
        <p:nvSpPr>
          <p:cNvPr id="15" name="box-27"/>
          <p:cNvSpPr/>
          <p:nvPr/>
        </p:nvSpPr>
        <p:spPr>
          <a:xfrm>
            <a:off x="3794760" y="2468880"/>
            <a:ext cx="2103120" cy="457200"/>
          </a:xfrm>
          <a:prstGeom prst="roundRect">
            <a:avLst>
              <a:gd name="adj" fmla="val 16000"/>
            </a:avLst>
          </a:prstGeom>
          <a:solidFill>
            <a:schemeClr val="accent5"/>
          </a:solidFill>
          <a:ln w="9525">
            <a:solidFill>
              <a:schemeClr val="accent5"/>
            </a:solidFill>
            <a:prstDash val="solid"/>
          </a:ln>
        </p:spPr>
      </p:sp>
      <p:sp>
        <p:nvSpPr>
          <p:cNvPr id="16" name="box-t-28"/>
          <p:cNvSpPr txBox="1"/>
          <p:nvPr/>
        </p:nvSpPr>
        <p:spPr>
          <a:xfrm>
            <a:off x="3840480" y="2468880"/>
            <a:ext cx="2011680" cy="457200"/>
          </a:xfrm>
          <a:prstGeom prst="rect">
            <a:avLst/>
          </a:prstGeom>
          <a:noFill/>
          <a:ln/>
        </p:spPr>
        <p:txBody>
          <a:bodyPr wrap="square" lIns="508" tIns="508" rIns="508" bIns="508" rtlCol="0" anchor="ctr"/>
          <a:lstStyle/>
          <a:p>
            <a:pPr algn="ctr" indent="0" marL="0">
              <a:buNone/>
            </a:pPr>
            <a:r>
              <a:rPr lang="en-US" sz="1300" b="1" dirty="0">
                <a:solidFill>
                  <a:schemeClr val="tx1"/>
                </a:solidFill>
              </a:rPr>
              <a:t>Infrastructure OU</a:t>
            </a:r>
            <a:endParaRPr lang="en-US" sz="1300" dirty="0"/>
          </a:p>
        </p:txBody>
      </p:sp>
      <p:sp>
        <p:nvSpPr>
          <p:cNvPr id="17" name="arrow-29"/>
          <p:cNvSpPr/>
          <p:nvPr/>
        </p:nvSpPr>
        <p:spPr>
          <a:xfrm>
            <a:off x="8001000" y="2240280"/>
            <a:ext cx="0" cy="228600"/>
          </a:xfrm>
          <a:prstGeom prst="line">
            <a:avLst/>
          </a:prstGeom>
          <a:noFill/>
          <a:ln w="22225">
            <a:solidFill>
              <a:schemeClr val="tx2"/>
            </a:solidFill>
            <a:prstDash val="solid"/>
          </a:ln>
        </p:spPr>
      </p:sp>
      <p:sp>
        <p:nvSpPr>
          <p:cNvPr id="18" name="box-30"/>
          <p:cNvSpPr/>
          <p:nvPr/>
        </p:nvSpPr>
        <p:spPr>
          <a:xfrm>
            <a:off x="6172200" y="2468880"/>
            <a:ext cx="3657600" cy="457200"/>
          </a:xfrm>
          <a:prstGeom prst="roundRect">
            <a:avLst>
              <a:gd name="adj" fmla="val 16000"/>
            </a:avLst>
          </a:prstGeom>
          <a:solidFill>
            <a:schemeClr val="accent5"/>
          </a:solidFill>
          <a:ln w="9525">
            <a:solidFill>
              <a:schemeClr val="accent5"/>
            </a:solidFill>
            <a:prstDash val="solid"/>
          </a:ln>
        </p:spPr>
      </p:sp>
      <p:sp>
        <p:nvSpPr>
          <p:cNvPr id="19" name="box-t-31"/>
          <p:cNvSpPr txBox="1"/>
          <p:nvPr/>
        </p:nvSpPr>
        <p:spPr>
          <a:xfrm>
            <a:off x="6217920" y="2468880"/>
            <a:ext cx="3566160" cy="457200"/>
          </a:xfrm>
          <a:prstGeom prst="rect">
            <a:avLst/>
          </a:prstGeom>
          <a:noFill/>
          <a:ln/>
        </p:spPr>
        <p:txBody>
          <a:bodyPr wrap="square" lIns="508" tIns="508" rIns="508" bIns="508" rtlCol="0" anchor="ctr"/>
          <a:lstStyle/>
          <a:p>
            <a:pPr algn="ctr" indent="0" marL="0">
              <a:buNone/>
            </a:pPr>
            <a:r>
              <a:rPr lang="en-US" sz="1300" b="1" dirty="0">
                <a:solidFill>
                  <a:schemeClr val="tx1"/>
                </a:solidFill>
              </a:rPr>
              <a:t>Workloads OU</a:t>
            </a:r>
            <a:endParaRPr lang="en-US" sz="1300" dirty="0"/>
          </a:p>
        </p:txBody>
      </p:sp>
      <p:sp>
        <p:nvSpPr>
          <p:cNvPr id="20" name="arrow-32"/>
          <p:cNvSpPr/>
          <p:nvPr/>
        </p:nvSpPr>
        <p:spPr>
          <a:xfrm>
            <a:off x="10904220" y="2240280"/>
            <a:ext cx="0" cy="228600"/>
          </a:xfrm>
          <a:prstGeom prst="line">
            <a:avLst/>
          </a:prstGeom>
          <a:noFill/>
          <a:ln w="22225">
            <a:solidFill>
              <a:schemeClr val="tx2"/>
            </a:solidFill>
            <a:prstDash val="solid"/>
          </a:ln>
        </p:spPr>
      </p:sp>
      <p:sp>
        <p:nvSpPr>
          <p:cNvPr id="21" name="box-33"/>
          <p:cNvSpPr/>
          <p:nvPr/>
        </p:nvSpPr>
        <p:spPr>
          <a:xfrm>
            <a:off x="10104120" y="2468880"/>
            <a:ext cx="1600200" cy="457200"/>
          </a:xfrm>
          <a:prstGeom prst="roundRect">
            <a:avLst>
              <a:gd name="adj" fmla="val 16000"/>
            </a:avLst>
          </a:prstGeom>
          <a:solidFill>
            <a:schemeClr val="accent5"/>
          </a:solidFill>
          <a:ln w="9525">
            <a:solidFill>
              <a:schemeClr val="accent5"/>
            </a:solidFill>
            <a:prstDash val="solid"/>
          </a:ln>
        </p:spPr>
      </p:sp>
      <p:sp>
        <p:nvSpPr>
          <p:cNvPr id="22" name="box-t-34"/>
          <p:cNvSpPr txBox="1"/>
          <p:nvPr/>
        </p:nvSpPr>
        <p:spPr>
          <a:xfrm>
            <a:off x="10149840" y="2468880"/>
            <a:ext cx="1508760" cy="457200"/>
          </a:xfrm>
          <a:prstGeom prst="rect">
            <a:avLst/>
          </a:prstGeom>
          <a:noFill/>
          <a:ln/>
        </p:spPr>
        <p:txBody>
          <a:bodyPr wrap="square" lIns="508" tIns="508" rIns="508" bIns="508" rtlCol="0" anchor="ctr"/>
          <a:lstStyle/>
          <a:p>
            <a:pPr algn="ctr" indent="0" marL="0">
              <a:buNone/>
            </a:pPr>
            <a:r>
              <a:rPr lang="en-US" sz="1300" b="1" dirty="0">
                <a:solidFill>
                  <a:schemeClr val="tx1"/>
                </a:solidFill>
              </a:rPr>
              <a:t>Suspended OU</a:t>
            </a:r>
            <a:endParaRPr lang="en-US" sz="1300" dirty="0"/>
          </a:p>
        </p:txBody>
      </p:sp>
      <p:sp>
        <p:nvSpPr>
          <p:cNvPr id="23" name="arrow-35"/>
          <p:cNvSpPr/>
          <p:nvPr/>
        </p:nvSpPr>
        <p:spPr>
          <a:xfrm>
            <a:off x="1234440" y="2926080"/>
            <a:ext cx="0" cy="365760"/>
          </a:xfrm>
          <a:prstGeom prst="line">
            <a:avLst/>
          </a:prstGeom>
          <a:noFill/>
          <a:ln w="22225">
            <a:solidFill>
              <a:schemeClr val="tx2"/>
            </a:solidFill>
            <a:prstDash val="solid"/>
          </a:ln>
        </p:spPr>
      </p:sp>
      <p:sp>
        <p:nvSpPr>
          <p:cNvPr id="24" name="arrow-36"/>
          <p:cNvSpPr/>
          <p:nvPr/>
        </p:nvSpPr>
        <p:spPr>
          <a:xfrm>
            <a:off x="2788920" y="2926080"/>
            <a:ext cx="0" cy="365760"/>
          </a:xfrm>
          <a:prstGeom prst="line">
            <a:avLst/>
          </a:prstGeom>
          <a:noFill/>
          <a:ln w="22225">
            <a:solidFill>
              <a:schemeClr val="tx2"/>
            </a:solidFill>
            <a:prstDash val="solid"/>
          </a:ln>
        </p:spPr>
      </p:sp>
      <p:sp>
        <p:nvSpPr>
          <p:cNvPr id="25" name="box-37"/>
          <p:cNvSpPr/>
          <p:nvPr/>
        </p:nvSpPr>
        <p:spPr>
          <a:xfrm>
            <a:off x="502920" y="3291840"/>
            <a:ext cx="1463040" cy="914400"/>
          </a:xfrm>
          <a:prstGeom prst="roundRect">
            <a:avLst>
              <a:gd name="adj" fmla="val 8000"/>
            </a:avLst>
          </a:prstGeom>
          <a:solidFill>
            <a:schemeClr val="accent3"/>
          </a:solidFill>
          <a:ln w="9525">
            <a:solidFill>
              <a:schemeClr val="accent3"/>
            </a:solidFill>
            <a:prstDash val="solid"/>
          </a:ln>
        </p:spPr>
      </p:sp>
      <p:sp>
        <p:nvSpPr>
          <p:cNvPr id="26" name="box-t-38"/>
          <p:cNvSpPr txBox="1"/>
          <p:nvPr/>
        </p:nvSpPr>
        <p:spPr>
          <a:xfrm>
            <a:off x="548640" y="3291840"/>
            <a:ext cx="1371600" cy="914400"/>
          </a:xfrm>
          <a:prstGeom prst="rect">
            <a:avLst/>
          </a:prstGeom>
          <a:noFill/>
          <a:ln/>
        </p:spPr>
        <p:txBody>
          <a:bodyPr wrap="square" lIns="508" tIns="508" rIns="508" bIns="508" rtlCol="0" anchor="ctr"/>
          <a:lstStyle/>
          <a:p>
            <a:pPr algn="ctr" indent="0" marL="0">
              <a:buNone/>
            </a:pPr>
            <a:r>
              <a:rPr lang="en-US" sz="1400" b="1" dirty="0">
                <a:solidFill>
                  <a:schemeClr val="bg1"/>
                </a:solidFill>
              </a:rPr>
              <a:t>log-archive</a:t>
            </a:r>
            <a:endParaRPr lang="en-US" sz="1400" dirty="0"/>
          </a:p>
          <a:p>
            <a:pPr algn="ctr" indent="0" marL="0">
              <a:buNone/>
            </a:pPr>
            <a:r>
              <a:rPr lang="en-US" sz="1100" dirty="0">
                <a:solidFill>
                  <a:schemeClr val="bg1"/>
                </a:solidFill>
              </a:rPr>
              <a:t>Every log lands here</a:t>
            </a:r>
            <a:endParaRPr lang="en-US" sz="1400" dirty="0"/>
          </a:p>
        </p:txBody>
      </p:sp>
      <p:sp>
        <p:nvSpPr>
          <p:cNvPr id="27" name="box-39"/>
          <p:cNvSpPr/>
          <p:nvPr/>
        </p:nvSpPr>
        <p:spPr>
          <a:xfrm>
            <a:off x="2057400" y="3291840"/>
            <a:ext cx="1463040" cy="914400"/>
          </a:xfrm>
          <a:prstGeom prst="roundRect">
            <a:avLst>
              <a:gd name="adj" fmla="val 8000"/>
            </a:avLst>
          </a:prstGeom>
          <a:solidFill>
            <a:schemeClr val="accent3"/>
          </a:solidFill>
          <a:ln w="9525">
            <a:solidFill>
              <a:schemeClr val="accent3"/>
            </a:solidFill>
            <a:prstDash val="solid"/>
          </a:ln>
        </p:spPr>
      </p:sp>
      <p:sp>
        <p:nvSpPr>
          <p:cNvPr id="28" name="box-t-40"/>
          <p:cNvSpPr txBox="1"/>
          <p:nvPr/>
        </p:nvSpPr>
        <p:spPr>
          <a:xfrm>
            <a:off x="2103120" y="3291840"/>
            <a:ext cx="1371600" cy="914400"/>
          </a:xfrm>
          <a:prstGeom prst="rect">
            <a:avLst/>
          </a:prstGeom>
          <a:noFill/>
          <a:ln/>
        </p:spPr>
        <p:txBody>
          <a:bodyPr wrap="square" lIns="508" tIns="508" rIns="508" bIns="508" rtlCol="0" anchor="ctr"/>
          <a:lstStyle/>
          <a:p>
            <a:pPr algn="ctr" indent="0" marL="0">
              <a:buNone/>
            </a:pPr>
            <a:r>
              <a:rPr lang="en-US" sz="1400" b="1" dirty="0">
                <a:solidFill>
                  <a:schemeClr val="bg1"/>
                </a:solidFill>
              </a:rPr>
              <a:t>security</a:t>
            </a:r>
            <a:endParaRPr lang="en-US" sz="1400" dirty="0"/>
          </a:p>
          <a:p>
            <a:pPr algn="ctr" indent="0" marL="0">
              <a:buNone/>
            </a:pPr>
            <a:r>
              <a:rPr lang="en-US" sz="1100" dirty="0">
                <a:solidFill>
                  <a:schemeClr val="bg1"/>
                </a:solidFill>
              </a:rPr>
              <a:t>Runs the security tools</a:t>
            </a:r>
            <a:endParaRPr lang="en-US" sz="1400" dirty="0"/>
          </a:p>
        </p:txBody>
      </p:sp>
      <p:sp>
        <p:nvSpPr>
          <p:cNvPr id="29" name="arrow-41"/>
          <p:cNvSpPr/>
          <p:nvPr/>
        </p:nvSpPr>
        <p:spPr>
          <a:xfrm>
            <a:off x="4846320" y="2926080"/>
            <a:ext cx="0" cy="365760"/>
          </a:xfrm>
          <a:prstGeom prst="line">
            <a:avLst/>
          </a:prstGeom>
          <a:noFill/>
          <a:ln w="22225">
            <a:solidFill>
              <a:schemeClr val="tx2"/>
            </a:solidFill>
            <a:prstDash val="solid"/>
          </a:ln>
        </p:spPr>
      </p:sp>
      <p:sp>
        <p:nvSpPr>
          <p:cNvPr id="30" name="box-42"/>
          <p:cNvSpPr/>
          <p:nvPr/>
        </p:nvSpPr>
        <p:spPr>
          <a:xfrm>
            <a:off x="3794760" y="3291840"/>
            <a:ext cx="2103120" cy="914400"/>
          </a:xfrm>
          <a:prstGeom prst="roundRect">
            <a:avLst>
              <a:gd name="adj" fmla="val 8000"/>
            </a:avLst>
          </a:prstGeom>
          <a:solidFill>
            <a:schemeClr val="accent1"/>
          </a:solidFill>
          <a:ln w="9525">
            <a:solidFill>
              <a:schemeClr val="accent1"/>
            </a:solidFill>
            <a:prstDash val="solid"/>
          </a:ln>
        </p:spPr>
      </p:sp>
      <p:sp>
        <p:nvSpPr>
          <p:cNvPr id="31" name="box-t-43"/>
          <p:cNvSpPr txBox="1"/>
          <p:nvPr/>
        </p:nvSpPr>
        <p:spPr>
          <a:xfrm>
            <a:off x="3840480" y="3291840"/>
            <a:ext cx="2011680" cy="914400"/>
          </a:xfrm>
          <a:prstGeom prst="rect">
            <a:avLst/>
          </a:prstGeom>
          <a:noFill/>
          <a:ln/>
        </p:spPr>
        <p:txBody>
          <a:bodyPr wrap="square" lIns="508" tIns="508" rIns="508" bIns="508" rtlCol="0" anchor="ctr"/>
          <a:lstStyle/>
          <a:p>
            <a:pPr algn="ctr" indent="0" marL="0">
              <a:buNone/>
            </a:pPr>
            <a:r>
              <a:rPr lang="en-US" sz="1400" b="1" dirty="0">
                <a:solidFill>
                  <a:schemeClr val="bg1"/>
                </a:solidFill>
              </a:rPr>
              <a:t>network</a:t>
            </a:r>
            <a:endParaRPr lang="en-US" sz="1400" dirty="0"/>
          </a:p>
          <a:p>
            <a:pPr algn="ctr" indent="0" marL="0">
              <a:buNone/>
            </a:pPr>
            <a:r>
              <a:rPr lang="en-US" sz="1100" dirty="0">
                <a:solidFill>
                  <a:schemeClr val="bg1"/>
                </a:solidFill>
              </a:rPr>
              <a:t>Transit Gateway hub</a:t>
            </a:r>
            <a:endParaRPr lang="en-US" sz="1400" dirty="0"/>
          </a:p>
        </p:txBody>
      </p:sp>
      <p:sp>
        <p:nvSpPr>
          <p:cNvPr id="32" name="arrow-44"/>
          <p:cNvSpPr/>
          <p:nvPr/>
        </p:nvSpPr>
        <p:spPr>
          <a:xfrm>
            <a:off x="7086600" y="2926080"/>
            <a:ext cx="0" cy="274320"/>
          </a:xfrm>
          <a:prstGeom prst="line">
            <a:avLst/>
          </a:prstGeom>
          <a:noFill/>
          <a:ln w="22225">
            <a:solidFill>
              <a:schemeClr val="tx2"/>
            </a:solidFill>
            <a:prstDash val="solid"/>
          </a:ln>
        </p:spPr>
      </p:sp>
      <p:sp>
        <p:nvSpPr>
          <p:cNvPr id="33" name="arrow-45"/>
          <p:cNvSpPr/>
          <p:nvPr/>
        </p:nvSpPr>
        <p:spPr>
          <a:xfrm>
            <a:off x="8915400" y="2926080"/>
            <a:ext cx="0" cy="274320"/>
          </a:xfrm>
          <a:prstGeom prst="line">
            <a:avLst/>
          </a:prstGeom>
          <a:noFill/>
          <a:ln w="22225">
            <a:solidFill>
              <a:schemeClr val="tx2"/>
            </a:solidFill>
            <a:prstDash val="solid"/>
          </a:ln>
        </p:spPr>
      </p:sp>
      <p:sp>
        <p:nvSpPr>
          <p:cNvPr id="34" name="box-46"/>
          <p:cNvSpPr/>
          <p:nvPr/>
        </p:nvSpPr>
        <p:spPr>
          <a:xfrm>
            <a:off x="6263640" y="3200400"/>
            <a:ext cx="1645920" cy="411480"/>
          </a:xfrm>
          <a:prstGeom prst="roundRect">
            <a:avLst>
              <a:gd name="adj" fmla="val 17778"/>
            </a:avLst>
          </a:prstGeom>
          <a:solidFill>
            <a:schemeClr val="accent5"/>
          </a:solidFill>
          <a:ln w="9525">
            <a:solidFill>
              <a:schemeClr val="accent5"/>
            </a:solidFill>
            <a:prstDash val="solid"/>
          </a:ln>
        </p:spPr>
      </p:sp>
      <p:sp>
        <p:nvSpPr>
          <p:cNvPr id="35" name="box-t-47"/>
          <p:cNvSpPr txBox="1"/>
          <p:nvPr/>
        </p:nvSpPr>
        <p:spPr>
          <a:xfrm>
            <a:off x="6309360" y="3200400"/>
            <a:ext cx="1554480" cy="411480"/>
          </a:xfrm>
          <a:prstGeom prst="rect">
            <a:avLst/>
          </a:prstGeom>
          <a:noFill/>
          <a:ln/>
        </p:spPr>
        <p:txBody>
          <a:bodyPr wrap="square" lIns="508" tIns="508" rIns="508" bIns="508" rtlCol="0" anchor="ctr"/>
          <a:lstStyle/>
          <a:p>
            <a:pPr algn="ctr" indent="0" marL="0">
              <a:buNone/>
            </a:pPr>
            <a:r>
              <a:rPr lang="en-US" sz="1200" b="1" dirty="0">
                <a:solidFill>
                  <a:schemeClr val="tx1"/>
                </a:solidFill>
              </a:rPr>
              <a:t>NonProd OU</a:t>
            </a:r>
            <a:endParaRPr lang="en-US" sz="1200" dirty="0"/>
          </a:p>
        </p:txBody>
      </p:sp>
      <p:sp>
        <p:nvSpPr>
          <p:cNvPr id="36" name="box-48"/>
          <p:cNvSpPr/>
          <p:nvPr/>
        </p:nvSpPr>
        <p:spPr>
          <a:xfrm>
            <a:off x="8092440" y="3200400"/>
            <a:ext cx="1645920" cy="411480"/>
          </a:xfrm>
          <a:prstGeom prst="roundRect">
            <a:avLst>
              <a:gd name="adj" fmla="val 17778"/>
            </a:avLst>
          </a:prstGeom>
          <a:solidFill>
            <a:schemeClr val="accent5"/>
          </a:solidFill>
          <a:ln w="9525">
            <a:solidFill>
              <a:schemeClr val="accent5"/>
            </a:solidFill>
            <a:prstDash val="solid"/>
          </a:ln>
        </p:spPr>
      </p:sp>
      <p:sp>
        <p:nvSpPr>
          <p:cNvPr id="37" name="box-t-49"/>
          <p:cNvSpPr txBox="1"/>
          <p:nvPr/>
        </p:nvSpPr>
        <p:spPr>
          <a:xfrm>
            <a:off x="8138160" y="3200400"/>
            <a:ext cx="1554480" cy="411480"/>
          </a:xfrm>
          <a:prstGeom prst="rect">
            <a:avLst/>
          </a:prstGeom>
          <a:noFill/>
          <a:ln/>
        </p:spPr>
        <p:txBody>
          <a:bodyPr wrap="square" lIns="508" tIns="508" rIns="508" bIns="508" rtlCol="0" anchor="ctr"/>
          <a:lstStyle/>
          <a:p>
            <a:pPr algn="ctr" indent="0" marL="0">
              <a:buNone/>
            </a:pPr>
            <a:r>
              <a:rPr lang="en-US" sz="1200" b="1" dirty="0">
                <a:solidFill>
                  <a:schemeClr val="tx1"/>
                </a:solidFill>
              </a:rPr>
              <a:t>Prod OU</a:t>
            </a:r>
            <a:endParaRPr lang="en-US" sz="1200" dirty="0"/>
          </a:p>
        </p:txBody>
      </p:sp>
      <p:sp>
        <p:nvSpPr>
          <p:cNvPr id="38" name="arrow-50"/>
          <p:cNvSpPr/>
          <p:nvPr/>
        </p:nvSpPr>
        <p:spPr>
          <a:xfrm>
            <a:off x="7086600" y="3611880"/>
            <a:ext cx="0" cy="274320"/>
          </a:xfrm>
          <a:prstGeom prst="line">
            <a:avLst/>
          </a:prstGeom>
          <a:noFill/>
          <a:ln w="22225">
            <a:solidFill>
              <a:schemeClr val="tx2"/>
            </a:solidFill>
            <a:prstDash val="solid"/>
          </a:ln>
        </p:spPr>
      </p:sp>
      <p:sp>
        <p:nvSpPr>
          <p:cNvPr id="39" name="arrow-51"/>
          <p:cNvSpPr/>
          <p:nvPr/>
        </p:nvSpPr>
        <p:spPr>
          <a:xfrm>
            <a:off x="8915400" y="3611880"/>
            <a:ext cx="0" cy="274320"/>
          </a:xfrm>
          <a:prstGeom prst="line">
            <a:avLst/>
          </a:prstGeom>
          <a:noFill/>
          <a:ln w="22225">
            <a:solidFill>
              <a:schemeClr val="tx2"/>
            </a:solidFill>
            <a:prstDash val="solid"/>
          </a:ln>
        </p:spPr>
      </p:sp>
      <p:sp>
        <p:nvSpPr>
          <p:cNvPr id="40" name="box-52"/>
          <p:cNvSpPr/>
          <p:nvPr/>
        </p:nvSpPr>
        <p:spPr>
          <a:xfrm>
            <a:off x="6263640" y="3886200"/>
            <a:ext cx="1645920" cy="914400"/>
          </a:xfrm>
          <a:prstGeom prst="roundRect">
            <a:avLst>
              <a:gd name="adj" fmla="val 8000"/>
            </a:avLst>
          </a:prstGeom>
          <a:solidFill>
            <a:schemeClr val="accent1"/>
          </a:solidFill>
          <a:ln w="9525">
            <a:solidFill>
              <a:schemeClr val="accent1"/>
            </a:solidFill>
            <a:prstDash val="solid"/>
          </a:ln>
        </p:spPr>
      </p:sp>
      <p:sp>
        <p:nvSpPr>
          <p:cNvPr id="41" name="box-t-53"/>
          <p:cNvSpPr txBox="1"/>
          <p:nvPr/>
        </p:nvSpPr>
        <p:spPr>
          <a:xfrm>
            <a:off x="6309360" y="3886200"/>
            <a:ext cx="1554480" cy="914400"/>
          </a:xfrm>
          <a:prstGeom prst="rect">
            <a:avLst/>
          </a:prstGeom>
          <a:noFill/>
          <a:ln/>
        </p:spPr>
        <p:txBody>
          <a:bodyPr wrap="square" lIns="508" tIns="508" rIns="508" bIns="508" rtlCol="0" anchor="ctr"/>
          <a:lstStyle/>
          <a:p>
            <a:pPr algn="ctr" indent="0" marL="0">
              <a:buNone/>
            </a:pPr>
            <a:r>
              <a:rPr lang="en-US" sz="1400" b="1" dirty="0">
                <a:solidFill>
                  <a:schemeClr val="bg1"/>
                </a:solidFill>
              </a:rPr>
              <a:t>dev</a:t>
            </a:r>
            <a:endParaRPr lang="en-US" sz="1400" dirty="0"/>
          </a:p>
          <a:p>
            <a:pPr algn="ctr" indent="0" marL="0">
              <a:buNone/>
            </a:pPr>
            <a:r>
              <a:rPr lang="en-US" sz="1100" dirty="0">
                <a:solidFill>
                  <a:schemeClr val="bg1"/>
                </a:solidFill>
              </a:rPr>
              <a:t>Spoke VPC</a:t>
            </a:r>
            <a:endParaRPr lang="en-US" sz="1400" dirty="0"/>
          </a:p>
        </p:txBody>
      </p:sp>
      <p:sp>
        <p:nvSpPr>
          <p:cNvPr id="42" name="box-54"/>
          <p:cNvSpPr/>
          <p:nvPr/>
        </p:nvSpPr>
        <p:spPr>
          <a:xfrm>
            <a:off x="8092440" y="3886200"/>
            <a:ext cx="1645920" cy="914400"/>
          </a:xfrm>
          <a:prstGeom prst="roundRect">
            <a:avLst>
              <a:gd name="adj" fmla="val 8000"/>
            </a:avLst>
          </a:prstGeom>
          <a:solidFill>
            <a:schemeClr val="accent1"/>
          </a:solidFill>
          <a:ln w="9525">
            <a:solidFill>
              <a:schemeClr val="accent1"/>
            </a:solidFill>
            <a:prstDash val="solid"/>
          </a:ln>
        </p:spPr>
      </p:sp>
      <p:sp>
        <p:nvSpPr>
          <p:cNvPr id="43" name="box-t-55"/>
          <p:cNvSpPr txBox="1"/>
          <p:nvPr/>
        </p:nvSpPr>
        <p:spPr>
          <a:xfrm>
            <a:off x="8138160" y="3886200"/>
            <a:ext cx="1554480" cy="914400"/>
          </a:xfrm>
          <a:prstGeom prst="rect">
            <a:avLst/>
          </a:prstGeom>
          <a:noFill/>
          <a:ln/>
        </p:spPr>
        <p:txBody>
          <a:bodyPr wrap="square" lIns="508" tIns="508" rIns="508" bIns="508" rtlCol="0" anchor="ctr"/>
          <a:lstStyle/>
          <a:p>
            <a:pPr algn="ctr" indent="0" marL="0">
              <a:buNone/>
            </a:pPr>
            <a:r>
              <a:rPr lang="en-US" sz="1400" b="1" dirty="0">
                <a:solidFill>
                  <a:schemeClr val="bg1"/>
                </a:solidFill>
              </a:rPr>
              <a:t>prod</a:t>
            </a:r>
            <a:endParaRPr lang="en-US" sz="1400" dirty="0"/>
          </a:p>
          <a:p>
            <a:pPr algn="ctr" indent="0" marL="0">
              <a:buNone/>
            </a:pPr>
            <a:r>
              <a:rPr lang="en-US" sz="1100" dirty="0">
                <a:solidFill>
                  <a:schemeClr val="bg1"/>
                </a:solidFill>
              </a:rPr>
              <a:t>Spoke VPC</a:t>
            </a:r>
            <a:endParaRPr lang="en-US" sz="1400" dirty="0"/>
          </a:p>
        </p:txBody>
      </p:sp>
      <p:sp>
        <p:nvSpPr>
          <p:cNvPr id="44" name="arrow-56"/>
          <p:cNvSpPr/>
          <p:nvPr/>
        </p:nvSpPr>
        <p:spPr>
          <a:xfrm>
            <a:off x="10904220" y="2926080"/>
            <a:ext cx="0" cy="365760"/>
          </a:xfrm>
          <a:prstGeom prst="line">
            <a:avLst/>
          </a:prstGeom>
          <a:noFill/>
          <a:ln w="22225">
            <a:solidFill>
              <a:schemeClr val="tx2"/>
            </a:solidFill>
            <a:prstDash val="solid"/>
          </a:ln>
        </p:spPr>
      </p:sp>
      <p:sp>
        <p:nvSpPr>
          <p:cNvPr id="45" name="box-57"/>
          <p:cNvSpPr/>
          <p:nvPr/>
        </p:nvSpPr>
        <p:spPr>
          <a:xfrm>
            <a:off x="10104120" y="3291840"/>
            <a:ext cx="1600200" cy="914400"/>
          </a:xfrm>
          <a:prstGeom prst="roundRect">
            <a:avLst>
              <a:gd name="adj" fmla="val 8000"/>
            </a:avLst>
          </a:prstGeom>
          <a:solidFill>
            <a:schemeClr val="bg1"/>
          </a:solidFill>
          <a:ln w="19050">
            <a:solidFill>
              <a:schemeClr val="accent4"/>
            </a:solidFill>
            <a:prstDash val="dash"/>
          </a:ln>
        </p:spPr>
      </p:sp>
      <p:sp>
        <p:nvSpPr>
          <p:cNvPr id="46" name="box-t-58"/>
          <p:cNvSpPr txBox="1"/>
          <p:nvPr/>
        </p:nvSpPr>
        <p:spPr>
          <a:xfrm>
            <a:off x="10149840" y="3291840"/>
            <a:ext cx="1508760" cy="914400"/>
          </a:xfrm>
          <a:prstGeom prst="rect">
            <a:avLst/>
          </a:prstGeom>
          <a:noFill/>
          <a:ln/>
        </p:spPr>
        <p:txBody>
          <a:bodyPr wrap="square" lIns="508" tIns="508" rIns="508" bIns="508" rtlCol="0" anchor="ctr"/>
          <a:lstStyle/>
          <a:p>
            <a:pPr algn="ctr" indent="0" marL="0">
              <a:buNone/>
            </a:pPr>
            <a:r>
              <a:rPr lang="en-US" sz="1400" b="1" dirty="0">
                <a:solidFill>
                  <a:schemeClr val="accent4"/>
                </a:solidFill>
              </a:rPr>
              <a:t>deny-all</a:t>
            </a:r>
            <a:endParaRPr lang="en-US" sz="1400" dirty="0"/>
          </a:p>
          <a:p>
            <a:pPr algn="ctr" indent="0" marL="0">
              <a:buNone/>
            </a:pPr>
            <a:r>
              <a:rPr lang="en-US" sz="1100" dirty="0">
                <a:solidFill>
                  <a:schemeClr val="accent4"/>
                </a:solidFill>
              </a:rPr>
              <a:t>Closed accounts park here</a:t>
            </a:r>
            <a:endParaRPr lang="en-US" sz="1400" dirty="0"/>
          </a:p>
        </p:txBody>
      </p:sp>
      <p:sp>
        <p:nvSpPr>
          <p:cNvPr id="47" name="card-59"/>
          <p:cNvSpPr/>
          <p:nvPr/>
        </p:nvSpPr>
        <p:spPr>
          <a:xfrm>
            <a:off x="502920" y="5074920"/>
            <a:ext cx="3611880" cy="1188720"/>
          </a:xfrm>
          <a:prstGeom prst="roundRect">
            <a:avLst>
              <a:gd name="adj" fmla="val 7692"/>
            </a:avLst>
          </a:prstGeom>
          <a:solidFill>
            <a:schemeClr val="bg2"/>
          </a:solidFill>
          <a:ln w="12700">
            <a:solidFill>
              <a:schemeClr val="bg2"/>
            </a:solidFill>
            <a:prstDash val="solid"/>
          </a:ln>
        </p:spPr>
      </p:sp>
      <p:sp>
        <p:nvSpPr>
          <p:cNvPr id="48" name="text-60"/>
          <p:cNvSpPr txBox="1"/>
          <p:nvPr/>
        </p:nvSpPr>
        <p:spPr>
          <a:xfrm>
            <a:off x="685800" y="5184648"/>
            <a:ext cx="3291840" cy="1005840"/>
          </a:xfrm>
          <a:prstGeom prst="rect">
            <a:avLst/>
          </a:prstGeom>
          <a:noFill/>
          <a:ln/>
        </p:spPr>
        <p:txBody>
          <a:bodyPr wrap="square" lIns="0" tIns="0" rIns="0" bIns="0" rtlCol="0" anchor="t"/>
          <a:lstStyle/>
          <a:p>
            <a:pPr indent="0" marL="0">
              <a:buNone/>
            </a:pPr>
            <a:r>
              <a:rPr lang="en-US" sz="1500" b="1" dirty="0">
                <a:solidFill>
                  <a:schemeClr val="tx1"/>
                </a:solidFill>
              </a:rPr>
              <a:t>Guardrails attach to OUs</a:t>
            </a:r>
            <a:endParaRPr lang="en-US" sz="1400" dirty="0"/>
          </a:p>
          <a:p>
            <a:pPr indent="0" marL="0">
              <a:buNone/>
            </a:pPr>
            <a:r>
              <a:rPr lang="en-US" sz="1300" dirty="0">
                <a:solidFill>
                  <a:schemeClr val="tx1"/>
                </a:solidFill>
              </a:rPr>
              <a:t>An SCP on Workloads covers dev and prod, and any account added later.</a:t>
            </a:r>
            <a:endParaRPr lang="en-US" sz="1400" dirty="0"/>
          </a:p>
        </p:txBody>
      </p:sp>
      <p:sp>
        <p:nvSpPr>
          <p:cNvPr id="49" name="card-61"/>
          <p:cNvSpPr/>
          <p:nvPr/>
        </p:nvSpPr>
        <p:spPr>
          <a:xfrm>
            <a:off x="4297680" y="5074920"/>
            <a:ext cx="3611880" cy="1188720"/>
          </a:xfrm>
          <a:prstGeom prst="roundRect">
            <a:avLst>
              <a:gd name="adj" fmla="val 7692"/>
            </a:avLst>
          </a:prstGeom>
          <a:solidFill>
            <a:schemeClr val="bg2"/>
          </a:solidFill>
          <a:ln w="12700">
            <a:solidFill>
              <a:schemeClr val="bg2"/>
            </a:solidFill>
            <a:prstDash val="solid"/>
          </a:ln>
        </p:spPr>
      </p:sp>
      <p:sp>
        <p:nvSpPr>
          <p:cNvPr id="50" name="text-62"/>
          <p:cNvSpPr txBox="1"/>
          <p:nvPr/>
        </p:nvSpPr>
        <p:spPr>
          <a:xfrm>
            <a:off x="4480560" y="5184648"/>
            <a:ext cx="3291840" cy="1005840"/>
          </a:xfrm>
          <a:prstGeom prst="rect">
            <a:avLst/>
          </a:prstGeom>
          <a:noFill/>
          <a:ln/>
        </p:spPr>
        <p:txBody>
          <a:bodyPr wrap="square" lIns="0" tIns="0" rIns="0" bIns="0" rtlCol="0" anchor="t"/>
          <a:lstStyle/>
          <a:p>
            <a:pPr indent="0" marL="0">
              <a:buNone/>
            </a:pPr>
            <a:r>
              <a:rPr lang="en-US" sz="1500" b="1" dirty="0">
                <a:solidFill>
                  <a:schemeClr val="tx1"/>
                </a:solidFill>
              </a:rPr>
              <a:t>Security accounts are separate</a:t>
            </a:r>
            <a:endParaRPr lang="en-US" sz="1400" dirty="0"/>
          </a:p>
          <a:p>
            <a:pPr indent="0" marL="0">
              <a:buNone/>
            </a:pPr>
            <a:r>
              <a:rPr lang="en-US" sz="1300" dirty="0">
                <a:solidFill>
                  <a:schemeClr val="tx1"/>
                </a:solidFill>
              </a:rPr>
              <a:t>A compromised workload account cannot reach the logs or the tools watching it.</a:t>
            </a:r>
            <a:endParaRPr lang="en-US" sz="1400" dirty="0"/>
          </a:p>
        </p:txBody>
      </p:sp>
      <p:sp>
        <p:nvSpPr>
          <p:cNvPr id="51" name="card-63"/>
          <p:cNvSpPr/>
          <p:nvPr/>
        </p:nvSpPr>
        <p:spPr>
          <a:xfrm>
            <a:off x="8092440" y="5074920"/>
            <a:ext cx="3611880" cy="1188720"/>
          </a:xfrm>
          <a:prstGeom prst="roundRect">
            <a:avLst>
              <a:gd name="adj" fmla="val 7692"/>
            </a:avLst>
          </a:prstGeom>
          <a:solidFill>
            <a:schemeClr val="bg2"/>
          </a:solidFill>
          <a:ln w="12700">
            <a:solidFill>
              <a:schemeClr val="bg2"/>
            </a:solidFill>
            <a:prstDash val="solid"/>
          </a:ln>
        </p:spPr>
      </p:sp>
      <p:sp>
        <p:nvSpPr>
          <p:cNvPr id="52" name="text-64"/>
          <p:cNvSpPr txBox="1"/>
          <p:nvPr/>
        </p:nvSpPr>
        <p:spPr>
          <a:xfrm>
            <a:off x="8275320" y="5184648"/>
            <a:ext cx="3291840" cy="1005840"/>
          </a:xfrm>
          <a:prstGeom prst="rect">
            <a:avLst/>
          </a:prstGeom>
          <a:noFill/>
          <a:ln/>
        </p:spPr>
        <p:txBody>
          <a:bodyPr wrap="square" lIns="0" tIns="0" rIns="0" bIns="0" rtlCol="0" anchor="t"/>
          <a:lstStyle/>
          <a:p>
            <a:pPr indent="0" marL="0">
              <a:buNone/>
            </a:pPr>
            <a:r>
              <a:rPr lang="en-US" sz="1500" b="1" dirty="0">
                <a:solidFill>
                  <a:schemeClr val="tx1"/>
                </a:solidFill>
              </a:rPr>
              <a:t>The management account stays empty</a:t>
            </a:r>
            <a:endParaRPr lang="en-US" sz="1400" dirty="0"/>
          </a:p>
          <a:p>
            <a:pPr indent="0" marL="0">
              <a:buNone/>
            </a:pPr>
            <a:r>
              <a:rPr lang="en-US" sz="1300" dirty="0">
                <a:solidFill>
                  <a:schemeClr val="tx1"/>
                </a:solidFill>
              </a:rPr>
              <a:t>SCPs never apply to it, so nothing runs there.</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Built in six layers, applied in order</a:t>
            </a:r>
            <a:endParaRPr lang="en-US" sz="3400" dirty="0"/>
          </a:p>
        </p:txBody>
      </p:sp>
      <p:sp>
        <p:nvSpPr>
          <p:cNvPr id="3" name="box-65"/>
          <p:cNvSpPr/>
          <p:nvPr/>
        </p:nvSpPr>
        <p:spPr>
          <a:xfrm>
            <a:off x="502920" y="1371600"/>
            <a:ext cx="1691640" cy="2103120"/>
          </a:xfrm>
          <a:prstGeom prst="roundRect">
            <a:avLst>
              <a:gd name="adj" fmla="val 4324"/>
            </a:avLst>
          </a:prstGeom>
          <a:solidFill>
            <a:schemeClr val="tx1"/>
          </a:solidFill>
          <a:ln w="9525">
            <a:solidFill>
              <a:schemeClr val="tx1"/>
            </a:solidFill>
            <a:prstDash val="solid"/>
          </a:ln>
        </p:spPr>
      </p:sp>
      <p:sp>
        <p:nvSpPr>
          <p:cNvPr id="4" name="text-66"/>
          <p:cNvSpPr txBox="1"/>
          <p:nvPr/>
        </p:nvSpPr>
        <p:spPr>
          <a:xfrm>
            <a:off x="685800" y="1508760"/>
            <a:ext cx="1280160" cy="548640"/>
          </a:xfrm>
          <a:prstGeom prst="rect">
            <a:avLst/>
          </a:prstGeom>
          <a:noFill/>
          <a:ln/>
        </p:spPr>
        <p:txBody>
          <a:bodyPr wrap="square" lIns="0" tIns="0" rIns="0" bIns="0" rtlCol="0" anchor="t"/>
          <a:lstStyle/>
          <a:p>
            <a:pPr indent="0" marL="0">
              <a:buNone/>
            </a:pPr>
            <a:r>
              <a:rPr lang="en-US" sz="3000" b="1" dirty="0">
                <a:solidFill>
                  <a:schemeClr val="accent2"/>
                </a:solidFill>
                <a:latin typeface="Arial" pitchFamily="34" charset="0"/>
                <a:ea typeface="Arial" pitchFamily="34" charset="-122"/>
                <a:cs typeface="Arial" pitchFamily="34" charset="-120"/>
              </a:rPr>
              <a:t>00</a:t>
            </a:r>
            <a:endParaRPr lang="en-US" sz="3000" dirty="0"/>
          </a:p>
        </p:txBody>
      </p:sp>
      <p:sp>
        <p:nvSpPr>
          <p:cNvPr id="5" name="text-67"/>
          <p:cNvSpPr txBox="1"/>
          <p:nvPr/>
        </p:nvSpPr>
        <p:spPr>
          <a:xfrm>
            <a:off x="685800" y="2103120"/>
            <a:ext cx="1463040" cy="320040"/>
          </a:xfrm>
          <a:prstGeom prst="rect">
            <a:avLst/>
          </a:prstGeom>
          <a:noFill/>
          <a:ln/>
        </p:spPr>
        <p:txBody>
          <a:bodyPr wrap="square" lIns="0" tIns="0" rIns="0" bIns="0" rtlCol="0" anchor="t"/>
          <a:lstStyle/>
          <a:p>
            <a:pPr indent="0" marL="0">
              <a:buNone/>
            </a:pPr>
            <a:r>
              <a:rPr lang="en-US" sz="1500" b="1" dirty="0">
                <a:solidFill>
                  <a:schemeClr val="bg1"/>
                </a:solidFill>
              </a:rPr>
              <a:t>bootstrap</a:t>
            </a:r>
            <a:endParaRPr lang="en-US" sz="1500" dirty="0"/>
          </a:p>
        </p:txBody>
      </p:sp>
      <p:sp>
        <p:nvSpPr>
          <p:cNvPr id="6" name="text-68"/>
          <p:cNvSpPr txBox="1"/>
          <p:nvPr/>
        </p:nvSpPr>
        <p:spPr>
          <a:xfrm>
            <a:off x="685800" y="2468880"/>
            <a:ext cx="1371600" cy="914400"/>
          </a:xfrm>
          <a:prstGeom prst="rect">
            <a:avLst/>
          </a:prstGeom>
          <a:noFill/>
          <a:ln/>
        </p:spPr>
        <p:txBody>
          <a:bodyPr wrap="square" lIns="0" tIns="0" rIns="0" bIns="0" rtlCol="0" anchor="t"/>
          <a:lstStyle/>
          <a:p>
            <a:pPr indent="0" marL="0">
              <a:buNone/>
            </a:pPr>
            <a:r>
              <a:rPr lang="en-US" sz="1300" dirty="0">
                <a:solidFill>
                  <a:schemeClr val="bg2"/>
                </a:solidFill>
              </a:rPr>
              <a:t>Encrypted S3 bucket for Terraform state</a:t>
            </a:r>
            <a:endParaRPr lang="en-US" sz="1300" dirty="0"/>
          </a:p>
        </p:txBody>
      </p:sp>
      <p:sp>
        <p:nvSpPr>
          <p:cNvPr id="7" name="arrow-69"/>
          <p:cNvSpPr/>
          <p:nvPr/>
        </p:nvSpPr>
        <p:spPr>
          <a:xfrm>
            <a:off x="2212848" y="2423160"/>
            <a:ext cx="164592" cy="0"/>
          </a:xfrm>
          <a:prstGeom prst="line">
            <a:avLst/>
          </a:prstGeom>
          <a:noFill/>
          <a:ln w="25400">
            <a:solidFill>
              <a:schemeClr val="accent2"/>
            </a:solidFill>
            <a:prstDash val="solid"/>
            <a:tailEnd type="triangle"/>
          </a:ln>
        </p:spPr>
      </p:sp>
      <p:sp>
        <p:nvSpPr>
          <p:cNvPr id="8" name="box-70"/>
          <p:cNvSpPr/>
          <p:nvPr/>
        </p:nvSpPr>
        <p:spPr>
          <a:xfrm>
            <a:off x="2395728" y="1371600"/>
            <a:ext cx="1691640" cy="2103120"/>
          </a:xfrm>
          <a:prstGeom prst="roundRect">
            <a:avLst>
              <a:gd name="adj" fmla="val 4324"/>
            </a:avLst>
          </a:prstGeom>
          <a:solidFill>
            <a:schemeClr val="accent1"/>
          </a:solidFill>
          <a:ln w="9525">
            <a:solidFill>
              <a:schemeClr val="accent1"/>
            </a:solidFill>
            <a:prstDash val="solid"/>
          </a:ln>
        </p:spPr>
      </p:sp>
      <p:sp>
        <p:nvSpPr>
          <p:cNvPr id="9" name="text-71"/>
          <p:cNvSpPr txBox="1"/>
          <p:nvPr/>
        </p:nvSpPr>
        <p:spPr>
          <a:xfrm>
            <a:off x="2578608" y="1508760"/>
            <a:ext cx="1280160" cy="548640"/>
          </a:xfrm>
          <a:prstGeom prst="rect">
            <a:avLst/>
          </a:prstGeom>
          <a:noFill/>
          <a:ln/>
        </p:spPr>
        <p:txBody>
          <a:bodyPr wrap="square" lIns="0" tIns="0" rIns="0" bIns="0" rtlCol="0" anchor="t"/>
          <a:lstStyle/>
          <a:p>
            <a:pPr indent="0" marL="0">
              <a:buNone/>
            </a:pPr>
            <a:r>
              <a:rPr lang="en-US" sz="3000" b="1" dirty="0">
                <a:solidFill>
                  <a:schemeClr val="accent2"/>
                </a:solidFill>
                <a:latin typeface="Arial" pitchFamily="34" charset="0"/>
                <a:ea typeface="Arial" pitchFamily="34" charset="-122"/>
                <a:cs typeface="Arial" pitchFamily="34" charset="-120"/>
              </a:rPr>
              <a:t>01</a:t>
            </a:r>
            <a:endParaRPr lang="en-US" sz="3000" dirty="0"/>
          </a:p>
        </p:txBody>
      </p:sp>
      <p:sp>
        <p:nvSpPr>
          <p:cNvPr id="10" name="text-72"/>
          <p:cNvSpPr txBox="1"/>
          <p:nvPr/>
        </p:nvSpPr>
        <p:spPr>
          <a:xfrm>
            <a:off x="2578608" y="2103120"/>
            <a:ext cx="1463040" cy="320040"/>
          </a:xfrm>
          <a:prstGeom prst="rect">
            <a:avLst/>
          </a:prstGeom>
          <a:noFill/>
          <a:ln/>
        </p:spPr>
        <p:txBody>
          <a:bodyPr wrap="square" lIns="0" tIns="0" rIns="0" bIns="0" rtlCol="0" anchor="t"/>
          <a:lstStyle/>
          <a:p>
            <a:pPr indent="0" marL="0">
              <a:buNone/>
            </a:pPr>
            <a:r>
              <a:rPr lang="en-US" sz="1500" b="1" dirty="0">
                <a:solidFill>
                  <a:schemeClr val="bg1"/>
                </a:solidFill>
              </a:rPr>
              <a:t>organization</a:t>
            </a:r>
            <a:endParaRPr lang="en-US" sz="1500" dirty="0"/>
          </a:p>
        </p:txBody>
      </p:sp>
      <p:sp>
        <p:nvSpPr>
          <p:cNvPr id="11" name="text-73"/>
          <p:cNvSpPr txBox="1"/>
          <p:nvPr/>
        </p:nvSpPr>
        <p:spPr>
          <a:xfrm>
            <a:off x="2578608" y="2468880"/>
            <a:ext cx="1371600" cy="914400"/>
          </a:xfrm>
          <a:prstGeom prst="rect">
            <a:avLst/>
          </a:prstGeom>
          <a:noFill/>
          <a:ln/>
        </p:spPr>
        <p:txBody>
          <a:bodyPr wrap="square" lIns="0" tIns="0" rIns="0" bIns="0" rtlCol="0" anchor="t"/>
          <a:lstStyle/>
          <a:p>
            <a:pPr indent="0" marL="0">
              <a:buNone/>
            </a:pPr>
            <a:r>
              <a:rPr lang="en-US" sz="1300" dirty="0">
                <a:solidFill>
                  <a:schemeClr val="bg2"/>
                </a:solidFill>
              </a:rPr>
              <a:t>Org, OUs, accounts, SCPs, budget</a:t>
            </a:r>
            <a:endParaRPr lang="en-US" sz="1300" dirty="0"/>
          </a:p>
        </p:txBody>
      </p:sp>
      <p:sp>
        <p:nvSpPr>
          <p:cNvPr id="12" name="arrow-74"/>
          <p:cNvSpPr/>
          <p:nvPr/>
        </p:nvSpPr>
        <p:spPr>
          <a:xfrm>
            <a:off x="4105656" y="2423160"/>
            <a:ext cx="164592" cy="0"/>
          </a:xfrm>
          <a:prstGeom prst="line">
            <a:avLst/>
          </a:prstGeom>
          <a:noFill/>
          <a:ln w="25400">
            <a:solidFill>
              <a:schemeClr val="accent2"/>
            </a:solidFill>
            <a:prstDash val="solid"/>
            <a:tailEnd type="triangle"/>
          </a:ln>
        </p:spPr>
      </p:sp>
      <p:sp>
        <p:nvSpPr>
          <p:cNvPr id="13" name="box-75"/>
          <p:cNvSpPr/>
          <p:nvPr/>
        </p:nvSpPr>
        <p:spPr>
          <a:xfrm>
            <a:off x="4288536" y="1371600"/>
            <a:ext cx="1691640" cy="2103120"/>
          </a:xfrm>
          <a:prstGeom prst="roundRect">
            <a:avLst>
              <a:gd name="adj" fmla="val 4324"/>
            </a:avLst>
          </a:prstGeom>
          <a:solidFill>
            <a:schemeClr val="accent1"/>
          </a:solidFill>
          <a:ln w="9525">
            <a:solidFill>
              <a:schemeClr val="accent1"/>
            </a:solidFill>
            <a:prstDash val="solid"/>
          </a:ln>
        </p:spPr>
      </p:sp>
      <p:sp>
        <p:nvSpPr>
          <p:cNvPr id="14" name="text-76"/>
          <p:cNvSpPr txBox="1"/>
          <p:nvPr/>
        </p:nvSpPr>
        <p:spPr>
          <a:xfrm>
            <a:off x="4471416" y="1508760"/>
            <a:ext cx="1280160" cy="548640"/>
          </a:xfrm>
          <a:prstGeom prst="rect">
            <a:avLst/>
          </a:prstGeom>
          <a:noFill/>
          <a:ln/>
        </p:spPr>
        <p:txBody>
          <a:bodyPr wrap="square" lIns="0" tIns="0" rIns="0" bIns="0" rtlCol="0" anchor="t"/>
          <a:lstStyle/>
          <a:p>
            <a:pPr indent="0" marL="0">
              <a:buNone/>
            </a:pPr>
            <a:r>
              <a:rPr lang="en-US" sz="3000" b="1" dirty="0">
                <a:solidFill>
                  <a:schemeClr val="accent2"/>
                </a:solidFill>
                <a:latin typeface="Arial" pitchFamily="34" charset="0"/>
                <a:ea typeface="Arial" pitchFamily="34" charset="-122"/>
                <a:cs typeface="Arial" pitchFamily="34" charset="-120"/>
              </a:rPr>
              <a:t>02</a:t>
            </a:r>
            <a:endParaRPr lang="en-US" sz="3000" dirty="0"/>
          </a:p>
        </p:txBody>
      </p:sp>
      <p:sp>
        <p:nvSpPr>
          <p:cNvPr id="15" name="text-77"/>
          <p:cNvSpPr txBox="1"/>
          <p:nvPr/>
        </p:nvSpPr>
        <p:spPr>
          <a:xfrm>
            <a:off x="4471416" y="2103120"/>
            <a:ext cx="1463040" cy="320040"/>
          </a:xfrm>
          <a:prstGeom prst="rect">
            <a:avLst/>
          </a:prstGeom>
          <a:noFill/>
          <a:ln/>
        </p:spPr>
        <p:txBody>
          <a:bodyPr wrap="square" lIns="0" tIns="0" rIns="0" bIns="0" rtlCol="0" anchor="t"/>
          <a:lstStyle/>
          <a:p>
            <a:pPr indent="0" marL="0">
              <a:buNone/>
            </a:pPr>
            <a:r>
              <a:rPr lang="en-US" sz="1500" b="1" dirty="0">
                <a:solidFill>
                  <a:schemeClr val="bg1"/>
                </a:solidFill>
              </a:rPr>
              <a:t>identity</a:t>
            </a:r>
            <a:endParaRPr lang="en-US" sz="1500" dirty="0"/>
          </a:p>
        </p:txBody>
      </p:sp>
      <p:sp>
        <p:nvSpPr>
          <p:cNvPr id="16" name="text-78"/>
          <p:cNvSpPr txBox="1"/>
          <p:nvPr/>
        </p:nvSpPr>
        <p:spPr>
          <a:xfrm>
            <a:off x="4471416" y="2468880"/>
            <a:ext cx="1371600" cy="914400"/>
          </a:xfrm>
          <a:prstGeom prst="rect">
            <a:avLst/>
          </a:prstGeom>
          <a:noFill/>
          <a:ln/>
        </p:spPr>
        <p:txBody>
          <a:bodyPr wrap="square" lIns="0" tIns="0" rIns="0" bIns="0" rtlCol="0" anchor="t"/>
          <a:lstStyle/>
          <a:p>
            <a:pPr indent="0" marL="0">
              <a:buNone/>
            </a:pPr>
            <a:r>
              <a:rPr lang="en-US" sz="1300" dirty="0">
                <a:solidFill>
                  <a:schemeClr val="bg2"/>
                </a:solidFill>
              </a:rPr>
              <a:t>Identity Center groups and roles</a:t>
            </a:r>
            <a:endParaRPr lang="en-US" sz="1300" dirty="0"/>
          </a:p>
        </p:txBody>
      </p:sp>
      <p:sp>
        <p:nvSpPr>
          <p:cNvPr id="17" name="arrow-79"/>
          <p:cNvSpPr/>
          <p:nvPr/>
        </p:nvSpPr>
        <p:spPr>
          <a:xfrm>
            <a:off x="5998464" y="2423160"/>
            <a:ext cx="164592" cy="0"/>
          </a:xfrm>
          <a:prstGeom prst="line">
            <a:avLst/>
          </a:prstGeom>
          <a:noFill/>
          <a:ln w="25400">
            <a:solidFill>
              <a:schemeClr val="accent2"/>
            </a:solidFill>
            <a:prstDash val="solid"/>
            <a:tailEnd type="triangle"/>
          </a:ln>
        </p:spPr>
      </p:sp>
      <p:sp>
        <p:nvSpPr>
          <p:cNvPr id="18" name="box-80"/>
          <p:cNvSpPr/>
          <p:nvPr/>
        </p:nvSpPr>
        <p:spPr>
          <a:xfrm>
            <a:off x="6181344" y="1371600"/>
            <a:ext cx="1691640" cy="2103120"/>
          </a:xfrm>
          <a:prstGeom prst="roundRect">
            <a:avLst>
              <a:gd name="adj" fmla="val 4324"/>
            </a:avLst>
          </a:prstGeom>
          <a:solidFill>
            <a:schemeClr val="accent1"/>
          </a:solidFill>
          <a:ln w="9525">
            <a:solidFill>
              <a:schemeClr val="accent1"/>
            </a:solidFill>
            <a:prstDash val="solid"/>
          </a:ln>
        </p:spPr>
      </p:sp>
      <p:sp>
        <p:nvSpPr>
          <p:cNvPr id="19" name="text-81"/>
          <p:cNvSpPr txBox="1"/>
          <p:nvPr/>
        </p:nvSpPr>
        <p:spPr>
          <a:xfrm>
            <a:off x="6364224" y="1508760"/>
            <a:ext cx="1280160" cy="548640"/>
          </a:xfrm>
          <a:prstGeom prst="rect">
            <a:avLst/>
          </a:prstGeom>
          <a:noFill/>
          <a:ln/>
        </p:spPr>
        <p:txBody>
          <a:bodyPr wrap="square" lIns="0" tIns="0" rIns="0" bIns="0" rtlCol="0" anchor="t"/>
          <a:lstStyle/>
          <a:p>
            <a:pPr indent="0" marL="0">
              <a:buNone/>
            </a:pPr>
            <a:r>
              <a:rPr lang="en-US" sz="3000" b="1" dirty="0">
                <a:solidFill>
                  <a:schemeClr val="accent2"/>
                </a:solidFill>
                <a:latin typeface="Arial" pitchFamily="34" charset="0"/>
                <a:ea typeface="Arial" pitchFamily="34" charset="-122"/>
                <a:cs typeface="Arial" pitchFamily="34" charset="-120"/>
              </a:rPr>
              <a:t>03</a:t>
            </a:r>
            <a:endParaRPr lang="en-US" sz="3000" dirty="0"/>
          </a:p>
        </p:txBody>
      </p:sp>
      <p:sp>
        <p:nvSpPr>
          <p:cNvPr id="20" name="text-82"/>
          <p:cNvSpPr txBox="1"/>
          <p:nvPr/>
        </p:nvSpPr>
        <p:spPr>
          <a:xfrm>
            <a:off x="6364224" y="2103120"/>
            <a:ext cx="1463040" cy="320040"/>
          </a:xfrm>
          <a:prstGeom prst="rect">
            <a:avLst/>
          </a:prstGeom>
          <a:noFill/>
          <a:ln/>
        </p:spPr>
        <p:txBody>
          <a:bodyPr wrap="square" lIns="0" tIns="0" rIns="0" bIns="0" rtlCol="0" anchor="t"/>
          <a:lstStyle/>
          <a:p>
            <a:pPr indent="0" marL="0">
              <a:buNone/>
            </a:pPr>
            <a:r>
              <a:rPr lang="en-US" sz="1500" b="1" dirty="0">
                <a:solidFill>
                  <a:schemeClr val="bg1"/>
                </a:solidFill>
              </a:rPr>
              <a:t>logging</a:t>
            </a:r>
            <a:endParaRPr lang="en-US" sz="1500" dirty="0"/>
          </a:p>
        </p:txBody>
      </p:sp>
      <p:sp>
        <p:nvSpPr>
          <p:cNvPr id="21" name="text-83"/>
          <p:cNvSpPr txBox="1"/>
          <p:nvPr/>
        </p:nvSpPr>
        <p:spPr>
          <a:xfrm>
            <a:off x="6364224" y="2468880"/>
            <a:ext cx="1371600" cy="914400"/>
          </a:xfrm>
          <a:prstGeom prst="rect">
            <a:avLst/>
          </a:prstGeom>
          <a:noFill/>
          <a:ln/>
        </p:spPr>
        <p:txBody>
          <a:bodyPr wrap="square" lIns="0" tIns="0" rIns="0" bIns="0" rtlCol="0" anchor="t"/>
          <a:lstStyle/>
          <a:p>
            <a:pPr indent="0" marL="0">
              <a:buNone/>
            </a:pPr>
            <a:r>
              <a:rPr lang="en-US" sz="1300" dirty="0">
                <a:solidFill>
                  <a:schemeClr val="bg2"/>
                </a:solidFill>
              </a:rPr>
              <a:t>Org trail and the log archive bucket</a:t>
            </a:r>
            <a:endParaRPr lang="en-US" sz="1300" dirty="0"/>
          </a:p>
        </p:txBody>
      </p:sp>
      <p:sp>
        <p:nvSpPr>
          <p:cNvPr id="22" name="arrow-84"/>
          <p:cNvSpPr/>
          <p:nvPr/>
        </p:nvSpPr>
        <p:spPr>
          <a:xfrm>
            <a:off x="7891272" y="2423160"/>
            <a:ext cx="164592" cy="0"/>
          </a:xfrm>
          <a:prstGeom prst="line">
            <a:avLst/>
          </a:prstGeom>
          <a:noFill/>
          <a:ln w="25400">
            <a:solidFill>
              <a:schemeClr val="accent2"/>
            </a:solidFill>
            <a:prstDash val="solid"/>
            <a:tailEnd type="triangle"/>
          </a:ln>
        </p:spPr>
      </p:sp>
      <p:sp>
        <p:nvSpPr>
          <p:cNvPr id="23" name="box-85"/>
          <p:cNvSpPr/>
          <p:nvPr/>
        </p:nvSpPr>
        <p:spPr>
          <a:xfrm>
            <a:off x="8074152" y="1371600"/>
            <a:ext cx="1691640" cy="2103120"/>
          </a:xfrm>
          <a:prstGeom prst="roundRect">
            <a:avLst>
              <a:gd name="adj" fmla="val 4324"/>
            </a:avLst>
          </a:prstGeom>
          <a:solidFill>
            <a:schemeClr val="accent1"/>
          </a:solidFill>
          <a:ln w="9525">
            <a:solidFill>
              <a:schemeClr val="accent1"/>
            </a:solidFill>
            <a:prstDash val="solid"/>
          </a:ln>
        </p:spPr>
      </p:sp>
      <p:sp>
        <p:nvSpPr>
          <p:cNvPr id="24" name="text-86"/>
          <p:cNvSpPr txBox="1"/>
          <p:nvPr/>
        </p:nvSpPr>
        <p:spPr>
          <a:xfrm>
            <a:off x="8257032" y="1508760"/>
            <a:ext cx="1280160" cy="548640"/>
          </a:xfrm>
          <a:prstGeom prst="rect">
            <a:avLst/>
          </a:prstGeom>
          <a:noFill/>
          <a:ln/>
        </p:spPr>
        <p:txBody>
          <a:bodyPr wrap="square" lIns="0" tIns="0" rIns="0" bIns="0" rtlCol="0" anchor="t"/>
          <a:lstStyle/>
          <a:p>
            <a:pPr indent="0" marL="0">
              <a:buNone/>
            </a:pPr>
            <a:r>
              <a:rPr lang="en-US" sz="3000" b="1" dirty="0">
                <a:solidFill>
                  <a:schemeClr val="accent2"/>
                </a:solidFill>
                <a:latin typeface="Arial" pitchFamily="34" charset="0"/>
                <a:ea typeface="Arial" pitchFamily="34" charset="-122"/>
                <a:cs typeface="Arial" pitchFamily="34" charset="-120"/>
              </a:rPr>
              <a:t>04</a:t>
            </a:r>
            <a:endParaRPr lang="en-US" sz="3000" dirty="0"/>
          </a:p>
        </p:txBody>
      </p:sp>
      <p:sp>
        <p:nvSpPr>
          <p:cNvPr id="25" name="text-87"/>
          <p:cNvSpPr txBox="1"/>
          <p:nvPr/>
        </p:nvSpPr>
        <p:spPr>
          <a:xfrm>
            <a:off x="8257032" y="2103120"/>
            <a:ext cx="1463040" cy="320040"/>
          </a:xfrm>
          <a:prstGeom prst="rect">
            <a:avLst/>
          </a:prstGeom>
          <a:noFill/>
          <a:ln/>
        </p:spPr>
        <p:txBody>
          <a:bodyPr wrap="square" lIns="0" tIns="0" rIns="0" bIns="0" rtlCol="0" anchor="t"/>
          <a:lstStyle/>
          <a:p>
            <a:pPr indent="0" marL="0">
              <a:buNone/>
            </a:pPr>
            <a:r>
              <a:rPr lang="en-US" sz="1500" b="1" dirty="0">
                <a:solidFill>
                  <a:schemeClr val="bg1"/>
                </a:solidFill>
              </a:rPr>
              <a:t>security</a:t>
            </a:r>
            <a:endParaRPr lang="en-US" sz="1500" dirty="0"/>
          </a:p>
        </p:txBody>
      </p:sp>
      <p:sp>
        <p:nvSpPr>
          <p:cNvPr id="26" name="text-88"/>
          <p:cNvSpPr txBox="1"/>
          <p:nvPr/>
        </p:nvSpPr>
        <p:spPr>
          <a:xfrm>
            <a:off x="8257032" y="2468880"/>
            <a:ext cx="1371600" cy="914400"/>
          </a:xfrm>
          <a:prstGeom prst="rect">
            <a:avLst/>
          </a:prstGeom>
          <a:noFill/>
          <a:ln/>
        </p:spPr>
        <p:txBody>
          <a:bodyPr wrap="square" lIns="0" tIns="0" rIns="0" bIns="0" rtlCol="0" anchor="t"/>
          <a:lstStyle/>
          <a:p>
            <a:pPr indent="0" marL="0">
              <a:buNone/>
            </a:pPr>
            <a:r>
              <a:rPr lang="en-US" sz="1300" dirty="0">
                <a:solidFill>
                  <a:schemeClr val="bg2"/>
                </a:solidFill>
              </a:rPr>
              <a:t>GuardDuty, Security Hub, Config</a:t>
            </a:r>
            <a:endParaRPr lang="en-US" sz="1300" dirty="0"/>
          </a:p>
        </p:txBody>
      </p:sp>
      <p:sp>
        <p:nvSpPr>
          <p:cNvPr id="27" name="arrow-89"/>
          <p:cNvSpPr/>
          <p:nvPr/>
        </p:nvSpPr>
        <p:spPr>
          <a:xfrm>
            <a:off x="9784080" y="2423160"/>
            <a:ext cx="164592" cy="0"/>
          </a:xfrm>
          <a:prstGeom prst="line">
            <a:avLst/>
          </a:prstGeom>
          <a:noFill/>
          <a:ln w="25400">
            <a:solidFill>
              <a:schemeClr val="accent2"/>
            </a:solidFill>
            <a:prstDash val="solid"/>
            <a:tailEnd type="triangle"/>
          </a:ln>
        </p:spPr>
      </p:sp>
      <p:sp>
        <p:nvSpPr>
          <p:cNvPr id="28" name="box-90"/>
          <p:cNvSpPr/>
          <p:nvPr/>
        </p:nvSpPr>
        <p:spPr>
          <a:xfrm>
            <a:off x="9966960" y="1371600"/>
            <a:ext cx="1691640" cy="2103120"/>
          </a:xfrm>
          <a:prstGeom prst="roundRect">
            <a:avLst>
              <a:gd name="adj" fmla="val 4324"/>
            </a:avLst>
          </a:prstGeom>
          <a:solidFill>
            <a:schemeClr val="accent1"/>
          </a:solidFill>
          <a:ln w="9525">
            <a:solidFill>
              <a:schemeClr val="accent1"/>
            </a:solidFill>
            <a:prstDash val="solid"/>
          </a:ln>
        </p:spPr>
      </p:sp>
      <p:sp>
        <p:nvSpPr>
          <p:cNvPr id="29" name="text-91"/>
          <p:cNvSpPr txBox="1"/>
          <p:nvPr/>
        </p:nvSpPr>
        <p:spPr>
          <a:xfrm>
            <a:off x="10149840" y="1508760"/>
            <a:ext cx="1280160" cy="548640"/>
          </a:xfrm>
          <a:prstGeom prst="rect">
            <a:avLst/>
          </a:prstGeom>
          <a:noFill/>
          <a:ln/>
        </p:spPr>
        <p:txBody>
          <a:bodyPr wrap="square" lIns="0" tIns="0" rIns="0" bIns="0" rtlCol="0" anchor="t"/>
          <a:lstStyle/>
          <a:p>
            <a:pPr indent="0" marL="0">
              <a:buNone/>
            </a:pPr>
            <a:r>
              <a:rPr lang="en-US" sz="3000" b="1" dirty="0">
                <a:solidFill>
                  <a:schemeClr val="accent2"/>
                </a:solidFill>
                <a:latin typeface="Arial" pitchFamily="34" charset="0"/>
                <a:ea typeface="Arial" pitchFamily="34" charset="-122"/>
                <a:cs typeface="Arial" pitchFamily="34" charset="-120"/>
              </a:rPr>
              <a:t>05</a:t>
            </a:r>
            <a:endParaRPr lang="en-US" sz="3000" dirty="0"/>
          </a:p>
        </p:txBody>
      </p:sp>
      <p:sp>
        <p:nvSpPr>
          <p:cNvPr id="30" name="text-92"/>
          <p:cNvSpPr txBox="1"/>
          <p:nvPr/>
        </p:nvSpPr>
        <p:spPr>
          <a:xfrm>
            <a:off x="10149840" y="2103120"/>
            <a:ext cx="1463040" cy="320040"/>
          </a:xfrm>
          <a:prstGeom prst="rect">
            <a:avLst/>
          </a:prstGeom>
          <a:noFill/>
          <a:ln/>
        </p:spPr>
        <p:txBody>
          <a:bodyPr wrap="square" lIns="0" tIns="0" rIns="0" bIns="0" rtlCol="0" anchor="t"/>
          <a:lstStyle/>
          <a:p>
            <a:pPr indent="0" marL="0">
              <a:buNone/>
            </a:pPr>
            <a:r>
              <a:rPr lang="en-US" sz="1500" b="1" dirty="0">
                <a:solidFill>
                  <a:schemeClr val="bg1"/>
                </a:solidFill>
              </a:rPr>
              <a:t>network</a:t>
            </a:r>
            <a:endParaRPr lang="en-US" sz="1500" dirty="0"/>
          </a:p>
        </p:txBody>
      </p:sp>
      <p:sp>
        <p:nvSpPr>
          <p:cNvPr id="31" name="text-93"/>
          <p:cNvSpPr txBox="1"/>
          <p:nvPr/>
        </p:nvSpPr>
        <p:spPr>
          <a:xfrm>
            <a:off x="10149840" y="2468880"/>
            <a:ext cx="1371600" cy="914400"/>
          </a:xfrm>
          <a:prstGeom prst="rect">
            <a:avLst/>
          </a:prstGeom>
          <a:noFill/>
          <a:ln/>
        </p:spPr>
        <p:txBody>
          <a:bodyPr wrap="square" lIns="0" tIns="0" rIns="0" bIns="0" rtlCol="0" anchor="t"/>
          <a:lstStyle/>
          <a:p>
            <a:pPr indent="0" marL="0">
              <a:buNone/>
            </a:pPr>
            <a:r>
              <a:rPr lang="en-US" sz="1300" dirty="0">
                <a:solidFill>
                  <a:schemeClr val="bg2"/>
                </a:solidFill>
              </a:rPr>
              <a:t>Transit Gateway and spoke VPCs</a:t>
            </a:r>
            <a:endParaRPr lang="en-US" sz="1300" dirty="0"/>
          </a:p>
        </p:txBody>
      </p:sp>
      <p:sp>
        <p:nvSpPr>
          <p:cNvPr id="32" name="text-94"/>
          <p:cNvSpPr txBox="1"/>
          <p:nvPr/>
        </p:nvSpPr>
        <p:spPr>
          <a:xfrm>
            <a:off x="502920" y="3886200"/>
            <a:ext cx="5486400" cy="36576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Why split it up?</a:t>
            </a:r>
            <a:endParaRPr lang="en-US" sz="2000" dirty="0"/>
          </a:p>
        </p:txBody>
      </p:sp>
      <p:sp>
        <p:nvSpPr>
          <p:cNvPr id="33" name="marker-95"/>
          <p:cNvSpPr/>
          <p:nvPr/>
        </p:nvSpPr>
        <p:spPr>
          <a:xfrm>
            <a:off x="502920" y="4389120"/>
            <a:ext cx="329184" cy="329184"/>
          </a:xfrm>
          <a:prstGeom prst="ellipse">
            <a:avLst/>
          </a:prstGeom>
          <a:solidFill>
            <a:schemeClr val="accent2"/>
          </a:solidFill>
          <a:ln w="12700">
            <a:solidFill>
              <a:schemeClr val="accent2"/>
            </a:solidFill>
            <a:prstDash val="solid"/>
          </a:ln>
        </p:spPr>
      </p:sp>
      <p:sp>
        <p:nvSpPr>
          <p:cNvPr id="34" name="marker-n-96"/>
          <p:cNvSpPr txBox="1"/>
          <p:nvPr/>
        </p:nvSpPr>
        <p:spPr>
          <a:xfrm>
            <a:off x="502920" y="43891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35" name="callout-97"/>
          <p:cNvSpPr txBox="1"/>
          <p:nvPr/>
        </p:nvSpPr>
        <p:spPr>
          <a:xfrm>
            <a:off x="960120" y="4370832"/>
            <a:ext cx="493776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Accounts must exist before you can log into them</a:t>
            </a:r>
            <a:endParaRPr lang="en-US" sz="1500" dirty="0"/>
          </a:p>
          <a:p>
            <a:pPr indent="0" marL="0">
              <a:spcAft>
                <a:spcPts val="200"/>
              </a:spcAft>
              <a:buNone/>
            </a:pPr>
            <a:r>
              <a:rPr lang="en-US" sz="1400" dirty="0">
                <a:solidFill>
                  <a:schemeClr val="tx1"/>
                </a:solidFill>
              </a:rPr>
              <a:t>Layers 03 to 05 sign in to member accounts, which do not exist until 01 creates them.</a:t>
            </a:r>
            <a:endParaRPr lang="en-US" sz="1500" dirty="0"/>
          </a:p>
        </p:txBody>
      </p:sp>
      <p:sp>
        <p:nvSpPr>
          <p:cNvPr id="36" name="marker-98"/>
          <p:cNvSpPr/>
          <p:nvPr/>
        </p:nvSpPr>
        <p:spPr>
          <a:xfrm>
            <a:off x="502920" y="5318760"/>
            <a:ext cx="329184" cy="329184"/>
          </a:xfrm>
          <a:prstGeom prst="ellipse">
            <a:avLst/>
          </a:prstGeom>
          <a:solidFill>
            <a:schemeClr val="accent2"/>
          </a:solidFill>
          <a:ln w="12700">
            <a:solidFill>
              <a:schemeClr val="accent2"/>
            </a:solidFill>
            <a:prstDash val="solid"/>
          </a:ln>
        </p:spPr>
      </p:sp>
      <p:sp>
        <p:nvSpPr>
          <p:cNvPr id="37" name="marker-n-99"/>
          <p:cNvSpPr txBox="1"/>
          <p:nvPr/>
        </p:nvSpPr>
        <p:spPr>
          <a:xfrm>
            <a:off x="502920" y="531876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38" name="callout-100"/>
          <p:cNvSpPr txBox="1"/>
          <p:nvPr/>
        </p:nvSpPr>
        <p:spPr>
          <a:xfrm>
            <a:off x="960120" y="5300472"/>
            <a:ext cx="493776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Smaller blast radius</a:t>
            </a:r>
            <a:endParaRPr lang="en-US" sz="1500" dirty="0"/>
          </a:p>
          <a:p>
            <a:pPr indent="0" marL="0">
              <a:spcAft>
                <a:spcPts val="200"/>
              </a:spcAft>
              <a:buNone/>
            </a:pPr>
            <a:r>
              <a:rPr lang="en-US" sz="1400" dirty="0">
                <a:solidFill>
                  <a:schemeClr val="tx1"/>
                </a:solidFill>
              </a:rPr>
              <a:t>Changing a flow log setting cannot accidentally touch the organization.</a:t>
            </a:r>
            <a:endParaRPr lang="en-US" sz="1500" dirty="0"/>
          </a:p>
        </p:txBody>
      </p:sp>
      <p:sp>
        <p:nvSpPr>
          <p:cNvPr id="39" name="card-101"/>
          <p:cNvSpPr/>
          <p:nvPr/>
        </p:nvSpPr>
        <p:spPr>
          <a:xfrm>
            <a:off x="6263640" y="3931920"/>
            <a:ext cx="5440680" cy="2331720"/>
          </a:xfrm>
          <a:prstGeom prst="roundRect">
            <a:avLst>
              <a:gd name="adj" fmla="val 3922"/>
            </a:avLst>
          </a:prstGeom>
          <a:solidFill>
            <a:schemeClr val="bg2"/>
          </a:solidFill>
          <a:ln w="12700">
            <a:solidFill>
              <a:schemeClr val="bg2"/>
            </a:solidFill>
            <a:prstDash val="solid"/>
          </a:ln>
        </p:spPr>
      </p:sp>
      <p:sp>
        <p:nvSpPr>
          <p:cNvPr id="40" name="text-102"/>
          <p:cNvSpPr txBox="1"/>
          <p:nvPr/>
        </p:nvSpPr>
        <p:spPr>
          <a:xfrm>
            <a:off x="6492240" y="4069080"/>
            <a:ext cx="5029200" cy="365760"/>
          </a:xfrm>
          <a:prstGeom prst="rect">
            <a:avLst/>
          </a:prstGeom>
          <a:noFill/>
          <a:ln/>
        </p:spPr>
        <p:txBody>
          <a:bodyPr wrap="square" lIns="0" tIns="0" rIns="0" bIns="0" rtlCol="0" anchor="t"/>
          <a:lstStyle/>
          <a:p>
            <a:pPr indent="0" marL="0">
              <a:buNone/>
            </a:pPr>
            <a:r>
              <a:rPr lang="en-US" sz="1500" b="1" dirty="0">
                <a:solidFill>
                  <a:schemeClr val="tx1"/>
                </a:solidFill>
              </a:rPr>
              <a:t>How layers talk to each other</a:t>
            </a:r>
            <a:endParaRPr lang="en-US" sz="1500" dirty="0"/>
          </a:p>
        </p:txBody>
      </p:sp>
      <p:sp>
        <p:nvSpPr>
          <p:cNvPr id="41" name="code-bg-103"/>
          <p:cNvSpPr/>
          <p:nvPr/>
        </p:nvSpPr>
        <p:spPr>
          <a:xfrm>
            <a:off x="6492240" y="4526280"/>
            <a:ext cx="5029200" cy="1218184"/>
          </a:xfrm>
          <a:prstGeom prst="roundRect">
            <a:avLst>
              <a:gd name="adj" fmla="val 6005"/>
            </a:avLst>
          </a:prstGeom>
          <a:solidFill>
            <a:schemeClr val="tx1"/>
          </a:solidFill>
          <a:ln w="12700">
            <a:solidFill>
              <a:schemeClr val="tx1"/>
            </a:solidFill>
            <a:prstDash val="solid"/>
          </a:ln>
        </p:spPr>
      </p:sp>
      <p:sp>
        <p:nvSpPr>
          <p:cNvPr id="42" name="code-104"/>
          <p:cNvSpPr txBox="1"/>
          <p:nvPr/>
        </p:nvSpPr>
        <p:spPr>
          <a:xfrm>
            <a:off x="6675120" y="4690872"/>
            <a:ext cx="4709160" cy="907288"/>
          </a:xfrm>
          <a:prstGeom prst="rect">
            <a:avLst/>
          </a:prstGeom>
          <a:noFill/>
          <a:ln/>
        </p:spPr>
        <p:txBody>
          <a:bodyPr wrap="square" lIns="0" tIns="0" rIns="0" bIns="0" rtlCol="0" anchor="t"/>
          <a:lstStyle/>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data</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"terraform_remote_state"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"org"</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backend</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"s3"</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config</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key</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"01-organization/..."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i="1" dirty="0">
                <a:solidFill>
                  <a:schemeClr val="tx2"/>
                </a:solidFill>
                <a:latin typeface="Courier New" pitchFamily="34" charset="0"/>
                <a:ea typeface="Courier New" pitchFamily="34" charset="-122"/>
                <a:cs typeface="Courier New" pitchFamily="34" charset="-120"/>
              </a:rPr>
              <a:t># read as: ...org.outputs.account_ids</a:t>
            </a:r>
            <a:endParaRPr lang="en-US" sz="11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105"/>
          <p:cNvSpPr txBox="1"/>
          <p:nvPr/>
        </p:nvSpPr>
        <p:spPr>
          <a:xfrm>
            <a:off x="731520" y="1463040"/>
            <a:ext cx="2743200" cy="1005840"/>
          </a:xfrm>
          <a:prstGeom prst="rect">
            <a:avLst/>
          </a:prstGeom>
          <a:noFill/>
          <a:ln/>
        </p:spPr>
        <p:txBody>
          <a:bodyPr wrap="square" lIns="0" tIns="0" rIns="0" bIns="0" rtlCol="0" anchor="t"/>
          <a:lstStyle/>
          <a:p>
            <a:pPr indent="0" marL="0">
              <a:buNone/>
            </a:pPr>
            <a:r>
              <a:rPr lang="en-US" sz="6000" b="1" dirty="0">
                <a:solidFill>
                  <a:schemeClr val="accent2"/>
                </a:solidFill>
                <a:latin typeface="Arial" pitchFamily="34" charset="0"/>
                <a:ea typeface="Arial" pitchFamily="34" charset="-122"/>
                <a:cs typeface="Arial" pitchFamily="34" charset="-120"/>
              </a:rPr>
              <a:t>01</a:t>
            </a:r>
            <a:endParaRPr lang="en-US" sz="6000" dirty="0"/>
          </a:p>
        </p:txBody>
      </p:sp>
      <p:sp>
        <p:nvSpPr>
          <p:cNvPr id="3" name="Text 0"/>
          <p:cNvSpPr/>
          <p:nvPr>
            <p:ph idx="100" type="title" hasCustomPrompt="1"/>
          </p:nvPr>
        </p:nvSpPr>
        <p:spPr>
          <a:xfrm>
            <a:off x="731520" y="2651760"/>
            <a:ext cx="8046720" cy="1097280"/>
          </a:xfrm>
          <a:prstGeom prst="rect">
            <a:avLst/>
          </a:prstGeom>
          <a:noFill/>
          <a:ln/>
        </p:spPr>
        <p:txBody>
          <a:bodyPr wrap="square" lIns="0" tIns="0" rIns="0" bIns="0" rtlCol="0" anchor="t"/>
          <a:lstStyle/>
          <a:p>
            <a:pPr algn="l" indent="0" marL="0">
              <a:buNone/>
            </a:pPr>
            <a:r>
              <a:rPr lang="en-US" sz="4400" b="1" dirty="0">
                <a:solidFill>
                  <a:schemeClr val="bg1"/>
                </a:solidFill>
              </a:rPr>
              <a:t>HCL for programmers</a:t>
            </a:r>
            <a:endParaRPr lang="en-US" sz="4400" dirty="0"/>
          </a:p>
        </p:txBody>
      </p:sp>
      <p:sp>
        <p:nvSpPr>
          <p:cNvPr id="4" name="Text 0"/>
          <p:cNvSpPr/>
          <p:nvPr>
            <p:ph idx="101" type="body" hasCustomPrompt="1"/>
          </p:nvPr>
        </p:nvSpPr>
        <p:spPr>
          <a:xfrm>
            <a:off x="731520" y="3840480"/>
            <a:ext cx="7863840" cy="1371600"/>
          </a:xfrm>
          <a:prstGeom prst="rect">
            <a:avLst/>
          </a:prstGeom>
          <a:noFill/>
          <a:ln/>
        </p:spPr>
        <p:txBody>
          <a:bodyPr wrap="square" lIns="0" tIns="0" rIns="0" bIns="0" rtlCol="0" anchor="t"/>
          <a:lstStyle/>
          <a:p>
            <a:pPr algn="l" indent="0" marL="0">
              <a:buNone/>
            </a:pPr>
            <a:r>
              <a:rPr lang="en-US" sz="2000" dirty="0">
                <a:solidFill>
                  <a:schemeClr val="bg2"/>
                </a:solidFill>
              </a:rPr>
              <a:t>The handful of ideas you need to read every file in this repo</a:t>
            </a:r>
            <a:endParaRPr lang="en-US" sz="2000" dirty="0"/>
          </a:p>
        </p:txBody>
      </p:sp>
      <p:sp>
        <p:nvSpPr>
          <p:cNvPr id="5" name="icon-circle-106"/>
          <p:cNvSpPr/>
          <p:nvPr/>
        </p:nvSpPr>
        <p:spPr>
          <a:xfrm>
            <a:off x="9052560" y="2011680"/>
            <a:ext cx="2377440" cy="2377440"/>
          </a:xfrm>
          <a:prstGeom prst="ellipse">
            <a:avLst/>
          </a:prstGeom>
          <a:solidFill>
            <a:schemeClr val="tx1"/>
          </a:solidFill>
          <a:ln w="12700">
            <a:solidFill>
              <a:schemeClr val="tx1"/>
            </a:solidFill>
            <a:prstDash val="solid"/>
          </a:ln>
        </p:spPr>
      </p:sp>
      <p:pic>
        <p:nvPicPr>
          <p:cNvPr id="6" name="icon-107" descr="preencoded.png">    </p:cNvPr>
          <p:cNvPicPr>
            <a:picLocks noChangeAspect="1"/>
          </p:cNvPicPr>
          <p:nvPr/>
        </p:nvPicPr>
        <p:blipFill>
          <a:blip r:embed="rId1"/>
          <a:stretch>
            <a:fillRect/>
          </a:stretch>
        </p:blipFill>
        <p:spPr>
          <a:xfrm>
            <a:off x="9646920" y="2606040"/>
            <a:ext cx="1188720" cy="11887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Terraform describes the end state, not the steps</a:t>
            </a:r>
            <a:endParaRPr lang="en-US" sz="3400" dirty="0"/>
          </a:p>
        </p:txBody>
      </p:sp>
      <p:sp>
        <p:nvSpPr>
          <p:cNvPr id="3" name="code-label-108"/>
          <p:cNvSpPr txBox="1"/>
          <p:nvPr/>
        </p:nvSpPr>
        <p:spPr>
          <a:xfrm>
            <a:off x="868680" y="1234440"/>
            <a:ext cx="5120640" cy="274320"/>
          </a:xfrm>
          <a:prstGeom prst="rect">
            <a:avLst/>
          </a:prstGeom>
          <a:noFill/>
          <a:ln/>
        </p:spPr>
        <p:txBody>
          <a:bodyPr wrap="square" lIns="0" tIns="0" rIns="0" bIns="0" rtlCol="0" anchor="ctr"/>
          <a:lstStyle/>
          <a:p>
            <a:pPr indent="0" marL="0">
              <a:buNone/>
            </a:pPr>
            <a:r>
              <a:rPr lang="en-US" sz="1100" b="1" dirty="0">
                <a:solidFill>
                  <a:schemeClr val="tx2"/>
                </a:solidFill>
              </a:rPr>
              <a:t>Imperative (Python + boto3): you write the steps</a:t>
            </a:r>
            <a:endParaRPr lang="en-US" sz="1100" dirty="0"/>
          </a:p>
        </p:txBody>
      </p:sp>
      <p:sp>
        <p:nvSpPr>
          <p:cNvPr id="4" name="code-bg-109"/>
          <p:cNvSpPr/>
          <p:nvPr/>
        </p:nvSpPr>
        <p:spPr>
          <a:xfrm>
            <a:off x="868680" y="1527048"/>
            <a:ext cx="5120640" cy="1472184"/>
          </a:xfrm>
          <a:prstGeom prst="roundRect">
            <a:avLst>
              <a:gd name="adj" fmla="val 4969"/>
            </a:avLst>
          </a:prstGeom>
          <a:solidFill>
            <a:schemeClr val="tx1"/>
          </a:solidFill>
          <a:ln w="12700">
            <a:solidFill>
              <a:schemeClr val="tx1"/>
            </a:solidFill>
            <a:prstDash val="solid"/>
          </a:ln>
        </p:spPr>
      </p:sp>
      <p:sp>
        <p:nvSpPr>
          <p:cNvPr id="5" name="code-110"/>
          <p:cNvSpPr txBox="1"/>
          <p:nvPr/>
        </p:nvSpPr>
        <p:spPr>
          <a:xfrm>
            <a:off x="1051560" y="1691640"/>
            <a:ext cx="4800600" cy="1161288"/>
          </a:xfrm>
          <a:prstGeom prst="rect">
            <a:avLst/>
          </a:prstGeom>
          <a:noFill/>
          <a:ln/>
        </p:spPr>
        <p:txBody>
          <a:bodyPr wrap="square" lIns="0" tIns="0" rIns="0" bIns="0" rtlCol="0" anchor="t"/>
          <a:lstStyle/>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if not bucket_exists("lz-tfstate"):</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s3.create_bucket(Bucket="lz-tfstate")</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if not versioning_on("lz-tfstate"):</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s3.put_bucket_versioning(...)</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rerun safely? handle drift? delete?</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all of that is your problem</a:t>
            </a:r>
            <a:endParaRPr lang="en-US" sz="1200" dirty="0"/>
          </a:p>
        </p:txBody>
      </p:sp>
      <p:sp>
        <p:nvSpPr>
          <p:cNvPr id="6" name="code-label-111"/>
          <p:cNvSpPr txBox="1"/>
          <p:nvPr/>
        </p:nvSpPr>
        <p:spPr>
          <a:xfrm>
            <a:off x="6583680" y="1234440"/>
            <a:ext cx="5120640" cy="274320"/>
          </a:xfrm>
          <a:prstGeom prst="rect">
            <a:avLst/>
          </a:prstGeom>
          <a:noFill/>
          <a:ln/>
        </p:spPr>
        <p:txBody>
          <a:bodyPr wrap="square" lIns="0" tIns="0" rIns="0" bIns="0" rtlCol="0" anchor="ctr"/>
          <a:lstStyle/>
          <a:p>
            <a:pPr indent="0" marL="0">
              <a:buNone/>
            </a:pPr>
            <a:r>
              <a:rPr lang="en-US" sz="1100" b="1" dirty="0">
                <a:solidFill>
                  <a:schemeClr val="tx2"/>
                </a:solidFill>
              </a:rPr>
              <a:t>Declarative (HCL): you describe the result</a:t>
            </a:r>
            <a:endParaRPr lang="en-US" sz="1100" dirty="0"/>
          </a:p>
        </p:txBody>
      </p:sp>
      <p:sp>
        <p:nvSpPr>
          <p:cNvPr id="7" name="code-bg-112"/>
          <p:cNvSpPr/>
          <p:nvPr/>
        </p:nvSpPr>
        <p:spPr>
          <a:xfrm>
            <a:off x="6583680" y="1527048"/>
            <a:ext cx="5120640" cy="1472184"/>
          </a:xfrm>
          <a:prstGeom prst="roundRect">
            <a:avLst>
              <a:gd name="adj" fmla="val 4969"/>
            </a:avLst>
          </a:prstGeom>
          <a:solidFill>
            <a:schemeClr val="tx1"/>
          </a:solidFill>
          <a:ln w="12700">
            <a:solidFill>
              <a:schemeClr val="tx1"/>
            </a:solidFill>
            <a:prstDash val="solid"/>
          </a:ln>
        </p:spPr>
      </p:sp>
      <p:sp>
        <p:nvSpPr>
          <p:cNvPr id="8" name="code-113"/>
          <p:cNvSpPr txBox="1"/>
          <p:nvPr/>
        </p:nvSpPr>
        <p:spPr>
          <a:xfrm>
            <a:off x="6766560" y="1691640"/>
            <a:ext cx="4800600" cy="1161288"/>
          </a:xfrm>
          <a:prstGeom prst="rect">
            <a:avLst/>
          </a:prstGeom>
          <a:noFill/>
          <a:ln/>
        </p:spPr>
        <p:txBody>
          <a:bodyPr wrap="square" lIns="0" tIns="0" rIns="0" bIns="0" rtlCol="0" anchor="t"/>
          <a:lstStyle/>
          <a:p>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resource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"aws_s3_bucket"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"state"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bucket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"lz-tfstate"</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i="1" dirty="0">
                <a:solidFill>
                  <a:schemeClr val="tx2"/>
                </a:solidFill>
                <a:latin typeface="Courier New" pitchFamily="34" charset="0"/>
                <a:ea typeface="Courier New" pitchFamily="34" charset="-122"/>
                <a:cs typeface="Courier New" pitchFamily="34" charset="-120"/>
              </a:rPr>
              <a:t># Terraform works out create, update,</a:t>
            </a:r>
            <a:endParaRPr lang="en-US" sz="1200" dirty="0"/>
          </a:p>
          <a:p>
            <a:pPr indent="0" marL="0">
              <a:lnSpc>
                <a:spcPts val="1500"/>
              </a:lnSpc>
              <a:buNone/>
            </a:pPr>
            <a:r>
              <a:rPr lang="en-US" sz="1200" i="1" dirty="0">
                <a:solidFill>
                  <a:schemeClr val="tx2"/>
                </a:solidFill>
                <a:latin typeface="Courier New" pitchFamily="34" charset="0"/>
                <a:ea typeface="Courier New" pitchFamily="34" charset="-122"/>
                <a:cs typeface="Courier New" pitchFamily="34" charset="-120"/>
              </a:rPr>
              <a:t># or delete by itself</a:t>
            </a:r>
            <a:endParaRPr lang="en-US" sz="1200" dirty="0"/>
          </a:p>
        </p:txBody>
      </p:sp>
      <p:sp>
        <p:nvSpPr>
          <p:cNvPr id="9" name="box-114"/>
          <p:cNvSpPr/>
          <p:nvPr/>
        </p:nvSpPr>
        <p:spPr>
          <a:xfrm>
            <a:off x="868680" y="4160520"/>
            <a:ext cx="2377440" cy="1005840"/>
          </a:xfrm>
          <a:prstGeom prst="roundRect">
            <a:avLst>
              <a:gd name="adj" fmla="val 7273"/>
            </a:avLst>
          </a:prstGeom>
          <a:solidFill>
            <a:schemeClr val="accent1"/>
          </a:solidFill>
          <a:ln w="9525">
            <a:solidFill>
              <a:schemeClr val="accent1"/>
            </a:solidFill>
            <a:prstDash val="solid"/>
          </a:ln>
        </p:spPr>
      </p:sp>
      <p:sp>
        <p:nvSpPr>
          <p:cNvPr id="10" name="box-t-115"/>
          <p:cNvSpPr txBox="1"/>
          <p:nvPr/>
        </p:nvSpPr>
        <p:spPr>
          <a:xfrm>
            <a:off x="914400" y="4160520"/>
            <a:ext cx="2286000" cy="1005840"/>
          </a:xfrm>
          <a:prstGeom prst="rect">
            <a:avLst/>
          </a:prstGeom>
          <a:noFill/>
          <a:ln/>
        </p:spPr>
        <p:txBody>
          <a:bodyPr wrap="square" lIns="508" tIns="508" rIns="508" bIns="508" rtlCol="0" anchor="ctr"/>
          <a:lstStyle/>
          <a:p>
            <a:pPr algn="ctr" indent="0" marL="0">
              <a:buNone/>
            </a:pPr>
            <a:r>
              <a:rPr lang="en-US" sz="1600" b="1" dirty="0">
                <a:solidFill>
                  <a:schemeClr val="bg1"/>
                </a:solidFill>
              </a:rPr>
              <a:t>Your .tf files</a:t>
            </a:r>
            <a:endParaRPr lang="en-US" sz="1600" dirty="0"/>
          </a:p>
          <a:p>
            <a:pPr algn="ctr" indent="0" marL="0">
              <a:buNone/>
            </a:pPr>
            <a:r>
              <a:rPr lang="en-US" sz="1200" dirty="0">
                <a:solidFill>
                  <a:schemeClr val="bg1"/>
                </a:solidFill>
              </a:rPr>
              <a:t>What you want</a:t>
            </a:r>
            <a:endParaRPr lang="en-US" sz="1600" dirty="0"/>
          </a:p>
        </p:txBody>
      </p:sp>
      <p:sp>
        <p:nvSpPr>
          <p:cNvPr id="11" name="arrow-116"/>
          <p:cNvSpPr/>
          <p:nvPr/>
        </p:nvSpPr>
        <p:spPr>
          <a:xfrm>
            <a:off x="3264408" y="4663440"/>
            <a:ext cx="374904" cy="0"/>
          </a:xfrm>
          <a:prstGeom prst="line">
            <a:avLst/>
          </a:prstGeom>
          <a:noFill/>
          <a:ln w="25400">
            <a:solidFill>
              <a:schemeClr val="accent2"/>
            </a:solidFill>
            <a:prstDash val="solid"/>
            <a:tailEnd type="triangle"/>
          </a:ln>
        </p:spPr>
      </p:sp>
      <p:sp>
        <p:nvSpPr>
          <p:cNvPr id="12" name="box-117"/>
          <p:cNvSpPr/>
          <p:nvPr/>
        </p:nvSpPr>
        <p:spPr>
          <a:xfrm>
            <a:off x="3657600" y="4160520"/>
            <a:ext cx="2377440" cy="1005840"/>
          </a:xfrm>
          <a:prstGeom prst="roundRect">
            <a:avLst>
              <a:gd name="adj" fmla="val 7273"/>
            </a:avLst>
          </a:prstGeom>
          <a:solidFill>
            <a:schemeClr val="tx1"/>
          </a:solidFill>
          <a:ln w="9525">
            <a:solidFill>
              <a:schemeClr val="tx1"/>
            </a:solidFill>
            <a:prstDash val="solid"/>
          </a:ln>
        </p:spPr>
      </p:sp>
      <p:sp>
        <p:nvSpPr>
          <p:cNvPr id="13" name="box-t-118"/>
          <p:cNvSpPr txBox="1"/>
          <p:nvPr/>
        </p:nvSpPr>
        <p:spPr>
          <a:xfrm>
            <a:off x="3703320" y="4160520"/>
            <a:ext cx="2286000" cy="1005840"/>
          </a:xfrm>
          <a:prstGeom prst="rect">
            <a:avLst/>
          </a:prstGeom>
          <a:noFill/>
          <a:ln/>
        </p:spPr>
        <p:txBody>
          <a:bodyPr wrap="square" lIns="508" tIns="508" rIns="508" bIns="508" rtlCol="0" anchor="ctr"/>
          <a:lstStyle/>
          <a:p>
            <a:pPr algn="ctr" indent="0" marL="0">
              <a:buNone/>
            </a:pPr>
            <a:r>
              <a:rPr lang="en-US" sz="1600" b="1" dirty="0">
                <a:solidFill>
                  <a:schemeClr val="bg1"/>
                </a:solidFill>
              </a:rPr>
              <a:t>terraform plan</a:t>
            </a:r>
            <a:endParaRPr lang="en-US" sz="1600" dirty="0"/>
          </a:p>
          <a:p>
            <a:pPr algn="ctr" indent="0" marL="0">
              <a:buNone/>
            </a:pPr>
            <a:r>
              <a:rPr lang="en-US" sz="1200" dirty="0">
                <a:solidFill>
                  <a:schemeClr val="bg1"/>
                </a:solidFill>
              </a:rPr>
              <a:t>Diff: code vs state vs AWS</a:t>
            </a:r>
            <a:endParaRPr lang="en-US" sz="1600" dirty="0"/>
          </a:p>
        </p:txBody>
      </p:sp>
      <p:sp>
        <p:nvSpPr>
          <p:cNvPr id="14" name="arrow-119"/>
          <p:cNvSpPr/>
          <p:nvPr/>
        </p:nvSpPr>
        <p:spPr>
          <a:xfrm>
            <a:off x="6053328" y="4663440"/>
            <a:ext cx="374904" cy="0"/>
          </a:xfrm>
          <a:prstGeom prst="line">
            <a:avLst/>
          </a:prstGeom>
          <a:noFill/>
          <a:ln w="25400">
            <a:solidFill>
              <a:schemeClr val="accent2"/>
            </a:solidFill>
            <a:prstDash val="solid"/>
            <a:tailEnd type="triangle"/>
          </a:ln>
        </p:spPr>
      </p:sp>
      <p:sp>
        <p:nvSpPr>
          <p:cNvPr id="15" name="box-120"/>
          <p:cNvSpPr/>
          <p:nvPr/>
        </p:nvSpPr>
        <p:spPr>
          <a:xfrm>
            <a:off x="6446520" y="4160520"/>
            <a:ext cx="2377440" cy="1005840"/>
          </a:xfrm>
          <a:prstGeom prst="roundRect">
            <a:avLst>
              <a:gd name="adj" fmla="val 7273"/>
            </a:avLst>
          </a:prstGeom>
          <a:solidFill>
            <a:schemeClr val="tx1"/>
          </a:solidFill>
          <a:ln w="9525">
            <a:solidFill>
              <a:schemeClr val="tx1"/>
            </a:solidFill>
            <a:prstDash val="solid"/>
          </a:ln>
        </p:spPr>
      </p:sp>
      <p:sp>
        <p:nvSpPr>
          <p:cNvPr id="16" name="box-t-121"/>
          <p:cNvSpPr txBox="1"/>
          <p:nvPr/>
        </p:nvSpPr>
        <p:spPr>
          <a:xfrm>
            <a:off x="6492240" y="4160520"/>
            <a:ext cx="2286000" cy="1005840"/>
          </a:xfrm>
          <a:prstGeom prst="rect">
            <a:avLst/>
          </a:prstGeom>
          <a:noFill/>
          <a:ln/>
        </p:spPr>
        <p:txBody>
          <a:bodyPr wrap="square" lIns="508" tIns="508" rIns="508" bIns="508" rtlCol="0" anchor="ctr"/>
          <a:lstStyle/>
          <a:p>
            <a:pPr algn="ctr" indent="0" marL="0">
              <a:buNone/>
            </a:pPr>
            <a:r>
              <a:rPr lang="en-US" sz="1600" b="1" dirty="0">
                <a:solidFill>
                  <a:schemeClr val="bg1"/>
                </a:solidFill>
              </a:rPr>
              <a:t>terraform apply</a:t>
            </a:r>
            <a:endParaRPr lang="en-US" sz="1600" dirty="0"/>
          </a:p>
          <a:p>
            <a:pPr algn="ctr" indent="0" marL="0">
              <a:buNone/>
            </a:pPr>
            <a:r>
              <a:rPr lang="en-US" sz="1200" dirty="0">
                <a:solidFill>
                  <a:schemeClr val="bg1"/>
                </a:solidFill>
              </a:rPr>
              <a:t>Makes the API calls</a:t>
            </a:r>
            <a:endParaRPr lang="en-US" sz="1600" dirty="0"/>
          </a:p>
        </p:txBody>
      </p:sp>
      <p:sp>
        <p:nvSpPr>
          <p:cNvPr id="17" name="arrow-122"/>
          <p:cNvSpPr/>
          <p:nvPr/>
        </p:nvSpPr>
        <p:spPr>
          <a:xfrm>
            <a:off x="8842248" y="4663440"/>
            <a:ext cx="374904" cy="0"/>
          </a:xfrm>
          <a:prstGeom prst="line">
            <a:avLst/>
          </a:prstGeom>
          <a:noFill/>
          <a:ln w="25400">
            <a:solidFill>
              <a:schemeClr val="accent2"/>
            </a:solidFill>
            <a:prstDash val="solid"/>
            <a:tailEnd type="triangle"/>
          </a:ln>
        </p:spPr>
      </p:sp>
      <p:sp>
        <p:nvSpPr>
          <p:cNvPr id="18" name="box-123"/>
          <p:cNvSpPr/>
          <p:nvPr/>
        </p:nvSpPr>
        <p:spPr>
          <a:xfrm>
            <a:off x="9235440" y="4160520"/>
            <a:ext cx="2377440" cy="1005840"/>
          </a:xfrm>
          <a:prstGeom prst="roundRect">
            <a:avLst>
              <a:gd name="adj" fmla="val 7273"/>
            </a:avLst>
          </a:prstGeom>
          <a:solidFill>
            <a:schemeClr val="accent3"/>
          </a:solidFill>
          <a:ln w="9525">
            <a:solidFill>
              <a:schemeClr val="accent3"/>
            </a:solidFill>
            <a:prstDash val="solid"/>
          </a:ln>
        </p:spPr>
      </p:sp>
      <p:sp>
        <p:nvSpPr>
          <p:cNvPr id="19" name="box-t-124"/>
          <p:cNvSpPr txBox="1"/>
          <p:nvPr/>
        </p:nvSpPr>
        <p:spPr>
          <a:xfrm>
            <a:off x="9281160" y="4160520"/>
            <a:ext cx="2286000" cy="1005840"/>
          </a:xfrm>
          <a:prstGeom prst="rect">
            <a:avLst/>
          </a:prstGeom>
          <a:noFill/>
          <a:ln/>
        </p:spPr>
        <p:txBody>
          <a:bodyPr wrap="square" lIns="508" tIns="508" rIns="508" bIns="508" rtlCol="0" anchor="ctr"/>
          <a:lstStyle/>
          <a:p>
            <a:pPr algn="ctr" indent="0" marL="0">
              <a:buNone/>
            </a:pPr>
            <a:r>
              <a:rPr lang="en-US" sz="1600" b="1" dirty="0">
                <a:solidFill>
                  <a:schemeClr val="bg1"/>
                </a:solidFill>
              </a:rPr>
              <a:t>State file</a:t>
            </a:r>
            <a:endParaRPr lang="en-US" sz="1600" dirty="0"/>
          </a:p>
          <a:p>
            <a:pPr algn="ctr" indent="0" marL="0">
              <a:buNone/>
            </a:pPr>
            <a:r>
              <a:rPr lang="en-US" sz="1200" dirty="0">
                <a:solidFill>
                  <a:schemeClr val="bg1"/>
                </a:solidFill>
              </a:rPr>
              <a:t>What Terraform built</a:t>
            </a:r>
            <a:endParaRPr lang="en-US" sz="1600" dirty="0"/>
          </a:p>
        </p:txBody>
      </p:sp>
      <p:sp>
        <p:nvSpPr>
          <p:cNvPr id="20" name="arrow-125"/>
          <p:cNvSpPr/>
          <p:nvPr/>
        </p:nvSpPr>
        <p:spPr>
          <a:xfrm>
            <a:off x="9235440" y="5166360"/>
            <a:ext cx="0" cy="411480"/>
          </a:xfrm>
          <a:prstGeom prst="line">
            <a:avLst/>
          </a:prstGeom>
          <a:noFill/>
          <a:ln w="25400">
            <a:solidFill>
              <a:schemeClr val="accent2"/>
            </a:solidFill>
            <a:prstDash val="solid"/>
          </a:ln>
        </p:spPr>
      </p:sp>
      <p:sp>
        <p:nvSpPr>
          <p:cNvPr id="21" name="arrow-126"/>
          <p:cNvSpPr/>
          <p:nvPr/>
        </p:nvSpPr>
        <p:spPr>
          <a:xfrm flipH="1">
            <a:off x="4709160" y="5577840"/>
            <a:ext cx="4526280" cy="0"/>
          </a:xfrm>
          <a:prstGeom prst="line">
            <a:avLst/>
          </a:prstGeom>
          <a:noFill/>
          <a:ln w="25400">
            <a:solidFill>
              <a:schemeClr val="accent2"/>
            </a:solidFill>
            <a:prstDash val="solid"/>
          </a:ln>
        </p:spPr>
      </p:sp>
      <p:sp>
        <p:nvSpPr>
          <p:cNvPr id="22" name="arrow-127"/>
          <p:cNvSpPr/>
          <p:nvPr/>
        </p:nvSpPr>
        <p:spPr>
          <a:xfrm flipV="1">
            <a:off x="4709160" y="5184648"/>
            <a:ext cx="0" cy="393192"/>
          </a:xfrm>
          <a:prstGeom prst="line">
            <a:avLst/>
          </a:prstGeom>
          <a:noFill/>
          <a:ln w="25400">
            <a:solidFill>
              <a:schemeClr val="accent2"/>
            </a:solidFill>
            <a:prstDash val="solid"/>
            <a:tailEnd type="triangle"/>
          </a:ln>
        </p:spPr>
      </p:sp>
      <p:sp>
        <p:nvSpPr>
          <p:cNvPr id="23" name="text-128"/>
          <p:cNvSpPr txBox="1"/>
          <p:nvPr/>
        </p:nvSpPr>
        <p:spPr>
          <a:xfrm>
            <a:off x="5120640" y="5623560"/>
            <a:ext cx="3657600" cy="274320"/>
          </a:xfrm>
          <a:prstGeom prst="rect">
            <a:avLst/>
          </a:prstGeom>
          <a:noFill/>
          <a:ln/>
        </p:spPr>
        <p:txBody>
          <a:bodyPr wrap="square" lIns="0" tIns="0" rIns="0" bIns="0" rtlCol="0" anchor="t"/>
          <a:lstStyle/>
          <a:p>
            <a:pPr indent="0" marL="0">
              <a:buNone/>
            </a:pPr>
            <a:r>
              <a:rPr lang="en-US" sz="1200" dirty="0">
                <a:solidFill>
                  <a:schemeClr val="tx2"/>
                </a:solidFill>
              </a:rPr>
              <a:t>next plan compares against state</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Anatomy of a block</a:t>
            </a:r>
            <a:endParaRPr lang="en-US" sz="3400" dirty="0"/>
          </a:p>
        </p:txBody>
      </p:sp>
      <p:sp>
        <p:nvSpPr>
          <p:cNvPr id="3" name="code-bg-129"/>
          <p:cNvSpPr/>
          <p:nvPr/>
        </p:nvSpPr>
        <p:spPr>
          <a:xfrm>
            <a:off x="1188720" y="2240280"/>
            <a:ext cx="6949440" cy="1129284"/>
          </a:xfrm>
          <a:prstGeom prst="roundRect">
            <a:avLst>
              <a:gd name="adj" fmla="val 6478"/>
            </a:avLst>
          </a:prstGeom>
          <a:solidFill>
            <a:schemeClr val="tx1"/>
          </a:solidFill>
          <a:ln w="12700">
            <a:solidFill>
              <a:schemeClr val="tx1"/>
            </a:solidFill>
            <a:prstDash val="solid"/>
          </a:ln>
        </p:spPr>
      </p:sp>
      <p:sp>
        <p:nvSpPr>
          <p:cNvPr id="4" name="code-130"/>
          <p:cNvSpPr txBox="1"/>
          <p:nvPr/>
        </p:nvSpPr>
        <p:spPr>
          <a:xfrm>
            <a:off x="1371600" y="2404872"/>
            <a:ext cx="6629400" cy="818388"/>
          </a:xfrm>
          <a:prstGeom prst="rect">
            <a:avLst/>
          </a:prstGeom>
          <a:noFill/>
          <a:ln/>
        </p:spPr>
        <p:txBody>
          <a:bodyPr wrap="square" lIns="0" tIns="0" rIns="0" bIns="0" rtlCol="0" anchor="t"/>
          <a:lstStyle/>
          <a:p>
            <a:pPr indent="0" marL="0">
              <a:lnSpc>
                <a:spcPts val="2100"/>
              </a:lnSpc>
              <a:buNone/>
            </a:pPr>
            <a:r>
              <a:rPr lang="en-US" sz="1800" b="1" dirty="0">
                <a:solidFill>
                  <a:schemeClr val="accent2"/>
                </a:solidFill>
                <a:latin typeface="Courier New" pitchFamily="34" charset="0"/>
                <a:ea typeface="Courier New" pitchFamily="34" charset="-122"/>
                <a:cs typeface="Courier New" pitchFamily="34" charset="-120"/>
              </a:rPr>
              <a:t>resource</a:t>
            </a:r>
            <a:pPr indent="0" marL="0">
              <a:lnSpc>
                <a:spcPts val="2100"/>
              </a:lnSpc>
              <a:buNone/>
            </a:pPr>
            <a:r>
              <a:rPr lang="en-US" sz="1800" dirty="0">
                <a:solidFill>
                  <a:schemeClr val="bg2"/>
                </a:solidFill>
                <a:latin typeface="Courier New" pitchFamily="34" charset="0"/>
                <a:ea typeface="Courier New" pitchFamily="34" charset="-122"/>
                <a:cs typeface="Courier New" pitchFamily="34" charset="-120"/>
              </a:rPr>
              <a:t> </a:t>
            </a:r>
            <a:pPr indent="0" marL="0">
              <a:lnSpc>
                <a:spcPts val="2100"/>
              </a:lnSpc>
              <a:buNone/>
            </a:pPr>
            <a:r>
              <a:rPr lang="en-US" sz="1800" dirty="0">
                <a:solidFill>
                  <a:schemeClr val="accent6"/>
                </a:solidFill>
                <a:latin typeface="Courier New" pitchFamily="34" charset="0"/>
                <a:ea typeface="Courier New" pitchFamily="34" charset="-122"/>
                <a:cs typeface="Courier New" pitchFamily="34" charset="-120"/>
              </a:rPr>
              <a:t>"aws_s3_bucket"</a:t>
            </a:r>
            <a:pPr indent="0" marL="0">
              <a:lnSpc>
                <a:spcPts val="2100"/>
              </a:lnSpc>
              <a:buNone/>
            </a:pPr>
            <a:r>
              <a:rPr lang="en-US" sz="1800" dirty="0">
                <a:solidFill>
                  <a:schemeClr val="bg2"/>
                </a:solidFill>
                <a:latin typeface="Courier New" pitchFamily="34" charset="0"/>
                <a:ea typeface="Courier New" pitchFamily="34" charset="-122"/>
                <a:cs typeface="Courier New" pitchFamily="34" charset="-120"/>
              </a:rPr>
              <a:t> </a:t>
            </a:r>
            <a:pPr indent="0" marL="0">
              <a:lnSpc>
                <a:spcPts val="2100"/>
              </a:lnSpc>
              <a:buNone/>
            </a:pPr>
            <a:r>
              <a:rPr lang="en-US" sz="1800" dirty="0">
                <a:solidFill>
                  <a:schemeClr val="accent6"/>
                </a:solidFill>
                <a:latin typeface="Courier New" pitchFamily="34" charset="0"/>
                <a:ea typeface="Courier New" pitchFamily="34" charset="-122"/>
                <a:cs typeface="Courier New" pitchFamily="34" charset="-120"/>
              </a:rPr>
              <a:t>"state"</a:t>
            </a:r>
            <a:pPr indent="0" marL="0">
              <a:lnSpc>
                <a:spcPts val="2100"/>
              </a:lnSpc>
              <a:buNone/>
            </a:pPr>
            <a:r>
              <a:rPr lang="en-US" sz="1800" dirty="0">
                <a:solidFill>
                  <a:schemeClr val="bg2"/>
                </a:solidFill>
                <a:latin typeface="Courier New" pitchFamily="34" charset="0"/>
                <a:ea typeface="Courier New" pitchFamily="34" charset="-122"/>
                <a:cs typeface="Courier New" pitchFamily="34" charset="-120"/>
              </a:rPr>
              <a:t> </a:t>
            </a:r>
            <a:pPr indent="0" marL="0">
              <a:lnSpc>
                <a:spcPts val="2100"/>
              </a:lnSpc>
              <a:buNone/>
            </a:pPr>
            <a:r>
              <a:rPr lang="en-US" sz="1800" dirty="0">
                <a:solidFill>
                  <a:schemeClr val="bg2"/>
                </a:solidFill>
                <a:latin typeface="Courier New" pitchFamily="34" charset="0"/>
                <a:ea typeface="Courier New" pitchFamily="34" charset="-122"/>
                <a:cs typeface="Courier New" pitchFamily="34" charset="-120"/>
              </a:rPr>
              <a:t>{</a:t>
            </a:r>
            <a:endParaRPr lang="en-US" sz="1800" dirty="0"/>
          </a:p>
          <a:p>
            <a:pPr indent="0" marL="0">
              <a:lnSpc>
                <a:spcPts val="2100"/>
              </a:lnSpc>
              <a:buNone/>
            </a:pPr>
            <a:r>
              <a:rPr lang="en-US" sz="1800" dirty="0">
                <a:solidFill>
                  <a:schemeClr val="bg2"/>
                </a:solidFill>
                <a:latin typeface="Courier New" pitchFamily="34" charset="0"/>
                <a:ea typeface="Courier New" pitchFamily="34" charset="-122"/>
                <a:cs typeface="Courier New" pitchFamily="34" charset="-120"/>
              </a:rPr>
              <a:t>  </a:t>
            </a:r>
            <a:pPr indent="0" marL="0">
              <a:lnSpc>
                <a:spcPts val="2100"/>
              </a:lnSpc>
              <a:buNone/>
            </a:pPr>
            <a:r>
              <a:rPr lang="en-US" sz="1800" dirty="0">
                <a:solidFill>
                  <a:schemeClr val="bg2"/>
                </a:solidFill>
                <a:latin typeface="Courier New" pitchFamily="34" charset="0"/>
                <a:ea typeface="Courier New" pitchFamily="34" charset="-122"/>
                <a:cs typeface="Courier New" pitchFamily="34" charset="-120"/>
              </a:rPr>
              <a:t>bucket</a:t>
            </a:r>
            <a:pPr indent="0" marL="0">
              <a:lnSpc>
                <a:spcPts val="2100"/>
              </a:lnSpc>
              <a:buNone/>
            </a:pPr>
            <a:r>
              <a:rPr lang="en-US" sz="1800" dirty="0">
                <a:solidFill>
                  <a:schemeClr val="bg2"/>
                </a:solidFill>
                <a:latin typeface="Courier New" pitchFamily="34" charset="0"/>
                <a:ea typeface="Courier New" pitchFamily="34" charset="-122"/>
                <a:cs typeface="Courier New" pitchFamily="34" charset="-120"/>
              </a:rPr>
              <a:t> </a:t>
            </a:r>
            <a:pPr indent="0" marL="0">
              <a:lnSpc>
                <a:spcPts val="2100"/>
              </a:lnSpc>
              <a:buNone/>
            </a:pPr>
            <a:r>
              <a:rPr lang="en-US" sz="1800" dirty="0">
                <a:solidFill>
                  <a:schemeClr val="bg2"/>
                </a:solidFill>
                <a:latin typeface="Courier New" pitchFamily="34" charset="0"/>
                <a:ea typeface="Courier New" pitchFamily="34" charset="-122"/>
                <a:cs typeface="Courier New" pitchFamily="34" charset="-120"/>
              </a:rPr>
              <a:t>=</a:t>
            </a:r>
            <a:pPr indent="0" marL="0">
              <a:lnSpc>
                <a:spcPts val="2100"/>
              </a:lnSpc>
              <a:buNone/>
            </a:pPr>
            <a:r>
              <a:rPr lang="en-US" sz="1800" dirty="0">
                <a:solidFill>
                  <a:schemeClr val="bg2"/>
                </a:solidFill>
                <a:latin typeface="Courier New" pitchFamily="34" charset="0"/>
                <a:ea typeface="Courier New" pitchFamily="34" charset="-122"/>
                <a:cs typeface="Courier New" pitchFamily="34" charset="-120"/>
              </a:rPr>
              <a:t> </a:t>
            </a:r>
            <a:pPr indent="0" marL="0">
              <a:lnSpc>
                <a:spcPts val="2100"/>
              </a:lnSpc>
              <a:buNone/>
            </a:pPr>
            <a:r>
              <a:rPr lang="en-US" sz="1800" dirty="0">
                <a:solidFill>
                  <a:schemeClr val="accent5"/>
                </a:solidFill>
                <a:latin typeface="Courier New" pitchFamily="34" charset="0"/>
                <a:ea typeface="Courier New" pitchFamily="34" charset="-122"/>
                <a:cs typeface="Courier New" pitchFamily="34" charset="-120"/>
              </a:rPr>
              <a:t>local</a:t>
            </a:r>
            <a:pPr indent="0" marL="0">
              <a:lnSpc>
                <a:spcPts val="2100"/>
              </a:lnSpc>
              <a:buNone/>
            </a:pPr>
            <a:r>
              <a:rPr lang="en-US" sz="1800" dirty="0">
                <a:solidFill>
                  <a:schemeClr val="bg2"/>
                </a:solidFill>
                <a:latin typeface="Courier New" pitchFamily="34" charset="0"/>
                <a:ea typeface="Courier New" pitchFamily="34" charset="-122"/>
                <a:cs typeface="Courier New" pitchFamily="34" charset="-120"/>
              </a:rPr>
              <a:t>.</a:t>
            </a:r>
            <a:pPr indent="0" marL="0">
              <a:lnSpc>
                <a:spcPts val="2100"/>
              </a:lnSpc>
              <a:buNone/>
            </a:pPr>
            <a:r>
              <a:rPr lang="en-US" sz="1800" dirty="0">
                <a:solidFill>
                  <a:schemeClr val="bg2"/>
                </a:solidFill>
                <a:latin typeface="Courier New" pitchFamily="34" charset="0"/>
                <a:ea typeface="Courier New" pitchFamily="34" charset="-122"/>
                <a:cs typeface="Courier New" pitchFamily="34" charset="-120"/>
              </a:rPr>
              <a:t>bucket_name</a:t>
            </a:r>
            <a:endParaRPr lang="en-US" sz="1800" dirty="0"/>
          </a:p>
          <a:p>
            <a:pPr indent="0" marL="0">
              <a:lnSpc>
                <a:spcPts val="2100"/>
              </a:lnSpc>
              <a:buNone/>
            </a:pPr>
            <a:r>
              <a:rPr lang="en-US" sz="1800" dirty="0">
                <a:solidFill>
                  <a:schemeClr val="bg2"/>
                </a:solidFill>
                <a:latin typeface="Courier New" pitchFamily="34" charset="0"/>
                <a:ea typeface="Courier New" pitchFamily="34" charset="-122"/>
                <a:cs typeface="Courier New" pitchFamily="34" charset="-120"/>
              </a:rPr>
              <a:t>}</a:t>
            </a:r>
            <a:endParaRPr lang="en-US" sz="1800" dirty="0"/>
          </a:p>
        </p:txBody>
      </p:sp>
      <p:sp>
        <p:nvSpPr>
          <p:cNvPr id="5" name="box-131"/>
          <p:cNvSpPr/>
          <p:nvPr/>
        </p:nvSpPr>
        <p:spPr>
          <a:xfrm>
            <a:off x="502920" y="1188720"/>
            <a:ext cx="2103120" cy="731520"/>
          </a:xfrm>
          <a:prstGeom prst="roundRect">
            <a:avLst>
              <a:gd name="adj" fmla="val 10000"/>
            </a:avLst>
          </a:prstGeom>
          <a:solidFill>
            <a:schemeClr val="accent1"/>
          </a:solidFill>
          <a:ln w="9525">
            <a:solidFill>
              <a:schemeClr val="accent1"/>
            </a:solidFill>
            <a:prstDash val="solid"/>
          </a:ln>
        </p:spPr>
      </p:sp>
      <p:sp>
        <p:nvSpPr>
          <p:cNvPr id="6" name="box-t-132"/>
          <p:cNvSpPr txBox="1"/>
          <p:nvPr/>
        </p:nvSpPr>
        <p:spPr>
          <a:xfrm>
            <a:off x="548640" y="1188720"/>
            <a:ext cx="2011680" cy="731520"/>
          </a:xfrm>
          <a:prstGeom prst="rect">
            <a:avLst/>
          </a:prstGeom>
          <a:noFill/>
          <a:ln/>
        </p:spPr>
        <p:txBody>
          <a:bodyPr wrap="square" lIns="508" tIns="508" rIns="508" bIns="508" rtlCol="0" anchor="ctr"/>
          <a:lstStyle/>
          <a:p>
            <a:pPr algn="ctr" indent="0" marL="0">
              <a:buNone/>
            </a:pPr>
            <a:r>
              <a:rPr lang="en-US" sz="1400" b="1" dirty="0">
                <a:solidFill>
                  <a:schemeClr val="bg1"/>
                </a:solidFill>
              </a:rPr>
              <a:t>Block type</a:t>
            </a:r>
            <a:endParaRPr lang="en-US" sz="1400" dirty="0"/>
          </a:p>
          <a:p>
            <a:pPr algn="ctr" indent="0" marL="0">
              <a:buNone/>
            </a:pPr>
            <a:r>
              <a:rPr lang="en-US" sz="1100" dirty="0">
                <a:solidFill>
                  <a:schemeClr val="bg1"/>
                </a:solidFill>
              </a:rPr>
              <a:t>what kind of thing</a:t>
            </a:r>
            <a:endParaRPr lang="en-US" sz="1400" dirty="0"/>
          </a:p>
        </p:txBody>
      </p:sp>
      <p:sp>
        <p:nvSpPr>
          <p:cNvPr id="7" name="arrow-133"/>
          <p:cNvSpPr/>
          <p:nvPr/>
        </p:nvSpPr>
        <p:spPr>
          <a:xfrm>
            <a:off x="1554480" y="1920240"/>
            <a:ext cx="365760" cy="471678"/>
          </a:xfrm>
          <a:prstGeom prst="line">
            <a:avLst/>
          </a:prstGeom>
          <a:noFill/>
          <a:ln w="25400">
            <a:solidFill>
              <a:schemeClr val="accent2"/>
            </a:solidFill>
            <a:prstDash val="solid"/>
            <a:tailEnd type="triangle"/>
          </a:ln>
        </p:spPr>
      </p:sp>
      <p:sp>
        <p:nvSpPr>
          <p:cNvPr id="8" name="box-134"/>
          <p:cNvSpPr/>
          <p:nvPr/>
        </p:nvSpPr>
        <p:spPr>
          <a:xfrm>
            <a:off x="2880360" y="1188720"/>
            <a:ext cx="2103120" cy="731520"/>
          </a:xfrm>
          <a:prstGeom prst="roundRect">
            <a:avLst>
              <a:gd name="adj" fmla="val 10000"/>
            </a:avLst>
          </a:prstGeom>
          <a:solidFill>
            <a:schemeClr val="accent1"/>
          </a:solidFill>
          <a:ln w="9525">
            <a:solidFill>
              <a:schemeClr val="accent1"/>
            </a:solidFill>
            <a:prstDash val="solid"/>
          </a:ln>
        </p:spPr>
      </p:sp>
      <p:sp>
        <p:nvSpPr>
          <p:cNvPr id="9" name="box-t-135"/>
          <p:cNvSpPr txBox="1"/>
          <p:nvPr/>
        </p:nvSpPr>
        <p:spPr>
          <a:xfrm>
            <a:off x="2926080" y="1188720"/>
            <a:ext cx="2011680" cy="731520"/>
          </a:xfrm>
          <a:prstGeom prst="rect">
            <a:avLst/>
          </a:prstGeom>
          <a:noFill/>
          <a:ln/>
        </p:spPr>
        <p:txBody>
          <a:bodyPr wrap="square" lIns="508" tIns="508" rIns="508" bIns="508" rtlCol="0" anchor="ctr"/>
          <a:lstStyle/>
          <a:p>
            <a:pPr algn="ctr" indent="0" marL="0">
              <a:buNone/>
            </a:pPr>
            <a:r>
              <a:rPr lang="en-US" sz="1400" b="1" dirty="0">
                <a:solidFill>
                  <a:schemeClr val="bg1"/>
                </a:solidFill>
              </a:rPr>
              <a:t>Resource type</a:t>
            </a:r>
            <a:endParaRPr lang="en-US" sz="1400" dirty="0"/>
          </a:p>
          <a:p>
            <a:pPr algn="ctr" indent="0" marL="0">
              <a:buNone/>
            </a:pPr>
            <a:r>
              <a:rPr lang="en-US" sz="1100" dirty="0">
                <a:solidFill>
                  <a:schemeClr val="bg1"/>
                </a:solidFill>
              </a:rPr>
              <a:t>provider_service: aws + s3_bucket</a:t>
            </a:r>
            <a:endParaRPr lang="en-US" sz="1400" dirty="0"/>
          </a:p>
        </p:txBody>
      </p:sp>
      <p:sp>
        <p:nvSpPr>
          <p:cNvPr id="10" name="arrow-136"/>
          <p:cNvSpPr/>
          <p:nvPr/>
        </p:nvSpPr>
        <p:spPr>
          <a:xfrm flipH="1">
            <a:off x="3634740" y="1920240"/>
            <a:ext cx="297180" cy="471678"/>
          </a:xfrm>
          <a:prstGeom prst="line">
            <a:avLst/>
          </a:prstGeom>
          <a:noFill/>
          <a:ln w="25400">
            <a:solidFill>
              <a:schemeClr val="accent2"/>
            </a:solidFill>
            <a:prstDash val="solid"/>
            <a:tailEnd type="triangle"/>
          </a:ln>
        </p:spPr>
      </p:sp>
      <p:sp>
        <p:nvSpPr>
          <p:cNvPr id="11" name="box-137"/>
          <p:cNvSpPr/>
          <p:nvPr/>
        </p:nvSpPr>
        <p:spPr>
          <a:xfrm>
            <a:off x="5257800" y="1188720"/>
            <a:ext cx="2103120" cy="731520"/>
          </a:xfrm>
          <a:prstGeom prst="roundRect">
            <a:avLst>
              <a:gd name="adj" fmla="val 10000"/>
            </a:avLst>
          </a:prstGeom>
          <a:solidFill>
            <a:schemeClr val="accent1"/>
          </a:solidFill>
          <a:ln w="9525">
            <a:solidFill>
              <a:schemeClr val="accent1"/>
            </a:solidFill>
            <a:prstDash val="solid"/>
          </a:ln>
        </p:spPr>
      </p:sp>
      <p:sp>
        <p:nvSpPr>
          <p:cNvPr id="12" name="box-t-138"/>
          <p:cNvSpPr txBox="1"/>
          <p:nvPr/>
        </p:nvSpPr>
        <p:spPr>
          <a:xfrm>
            <a:off x="5303520" y="1188720"/>
            <a:ext cx="2011680" cy="731520"/>
          </a:xfrm>
          <a:prstGeom prst="rect">
            <a:avLst/>
          </a:prstGeom>
          <a:noFill/>
          <a:ln/>
        </p:spPr>
        <p:txBody>
          <a:bodyPr wrap="square" lIns="508" tIns="508" rIns="508" bIns="508" rtlCol="0" anchor="ctr"/>
          <a:lstStyle/>
          <a:p>
            <a:pPr algn="ctr" indent="0" marL="0">
              <a:buNone/>
            </a:pPr>
            <a:r>
              <a:rPr lang="en-US" sz="1400" b="1" dirty="0">
                <a:solidFill>
                  <a:schemeClr val="bg1"/>
                </a:solidFill>
              </a:rPr>
              <a:t>Local name</a:t>
            </a:r>
            <a:endParaRPr lang="en-US" sz="1400" dirty="0"/>
          </a:p>
          <a:p>
            <a:pPr algn="ctr" indent="0" marL="0">
              <a:buNone/>
            </a:pPr>
            <a:r>
              <a:rPr lang="en-US" sz="1100" dirty="0">
                <a:solidFill>
                  <a:schemeClr val="bg1"/>
                </a:solidFill>
              </a:rPr>
              <a:t>your variable name for it</a:t>
            </a:r>
            <a:endParaRPr lang="en-US" sz="1400" dirty="0"/>
          </a:p>
        </p:txBody>
      </p:sp>
      <p:sp>
        <p:nvSpPr>
          <p:cNvPr id="13" name="arrow-139"/>
          <p:cNvSpPr/>
          <p:nvPr/>
        </p:nvSpPr>
        <p:spPr>
          <a:xfrm flipH="1">
            <a:off x="5280660" y="1920240"/>
            <a:ext cx="1028700" cy="471678"/>
          </a:xfrm>
          <a:prstGeom prst="line">
            <a:avLst/>
          </a:prstGeom>
          <a:noFill/>
          <a:ln w="25400">
            <a:solidFill>
              <a:schemeClr val="accent2"/>
            </a:solidFill>
            <a:prstDash val="solid"/>
            <a:tailEnd type="triangle"/>
          </a:ln>
        </p:spPr>
      </p:sp>
      <p:sp>
        <p:nvSpPr>
          <p:cNvPr id="14" name="box-140"/>
          <p:cNvSpPr/>
          <p:nvPr/>
        </p:nvSpPr>
        <p:spPr>
          <a:xfrm>
            <a:off x="822960" y="4114800"/>
            <a:ext cx="2377440" cy="731520"/>
          </a:xfrm>
          <a:prstGeom prst="roundRect">
            <a:avLst>
              <a:gd name="adj" fmla="val 10000"/>
            </a:avLst>
          </a:prstGeom>
          <a:solidFill>
            <a:schemeClr val="tx1"/>
          </a:solidFill>
          <a:ln w="9525">
            <a:solidFill>
              <a:schemeClr val="tx1"/>
            </a:solidFill>
            <a:prstDash val="solid"/>
          </a:ln>
        </p:spPr>
      </p:sp>
      <p:sp>
        <p:nvSpPr>
          <p:cNvPr id="15" name="box-t-141"/>
          <p:cNvSpPr txBox="1"/>
          <p:nvPr/>
        </p:nvSpPr>
        <p:spPr>
          <a:xfrm>
            <a:off x="868680" y="4114800"/>
            <a:ext cx="2286000" cy="731520"/>
          </a:xfrm>
          <a:prstGeom prst="rect">
            <a:avLst/>
          </a:prstGeom>
          <a:noFill/>
          <a:ln/>
        </p:spPr>
        <p:txBody>
          <a:bodyPr wrap="square" lIns="508" tIns="508" rIns="508" bIns="508" rtlCol="0" anchor="ctr"/>
          <a:lstStyle/>
          <a:p>
            <a:pPr algn="ctr" indent="0" marL="0">
              <a:buNone/>
            </a:pPr>
            <a:r>
              <a:rPr lang="en-US" sz="1400" b="1" dirty="0">
                <a:solidFill>
                  <a:schemeClr val="bg1"/>
                </a:solidFill>
              </a:rPr>
              <a:t>Argument name</a:t>
            </a:r>
            <a:endParaRPr lang="en-US" sz="1400" dirty="0"/>
          </a:p>
          <a:p>
            <a:pPr algn="ctr" indent="0" marL="0">
              <a:buNone/>
            </a:pPr>
            <a:r>
              <a:rPr lang="en-US" sz="1100" dirty="0">
                <a:solidFill>
                  <a:schemeClr val="bg1"/>
                </a:solidFill>
              </a:rPr>
              <a:t>a setting on the resource</a:t>
            </a:r>
            <a:endParaRPr lang="en-US" sz="1400" dirty="0"/>
          </a:p>
        </p:txBody>
      </p:sp>
      <p:sp>
        <p:nvSpPr>
          <p:cNvPr id="16" name="arrow-142"/>
          <p:cNvSpPr/>
          <p:nvPr/>
        </p:nvSpPr>
        <p:spPr>
          <a:xfrm flipV="1">
            <a:off x="2011680" y="2951226"/>
            <a:ext cx="45720" cy="1163574"/>
          </a:xfrm>
          <a:prstGeom prst="line">
            <a:avLst/>
          </a:prstGeom>
          <a:noFill/>
          <a:ln w="25400">
            <a:solidFill>
              <a:schemeClr val="accent2"/>
            </a:solidFill>
            <a:prstDash val="solid"/>
            <a:tailEnd type="triangle"/>
          </a:ln>
        </p:spPr>
      </p:sp>
      <p:sp>
        <p:nvSpPr>
          <p:cNvPr id="17" name="box-143"/>
          <p:cNvSpPr/>
          <p:nvPr/>
        </p:nvSpPr>
        <p:spPr>
          <a:xfrm>
            <a:off x="3657600" y="4114800"/>
            <a:ext cx="2377440" cy="731520"/>
          </a:xfrm>
          <a:prstGeom prst="roundRect">
            <a:avLst>
              <a:gd name="adj" fmla="val 10000"/>
            </a:avLst>
          </a:prstGeom>
          <a:solidFill>
            <a:schemeClr val="tx1"/>
          </a:solidFill>
          <a:ln w="9525">
            <a:solidFill>
              <a:schemeClr val="tx1"/>
            </a:solidFill>
            <a:prstDash val="solid"/>
          </a:ln>
        </p:spPr>
      </p:sp>
      <p:sp>
        <p:nvSpPr>
          <p:cNvPr id="18" name="box-t-144"/>
          <p:cNvSpPr txBox="1"/>
          <p:nvPr/>
        </p:nvSpPr>
        <p:spPr>
          <a:xfrm>
            <a:off x="3703320" y="4114800"/>
            <a:ext cx="2286000" cy="731520"/>
          </a:xfrm>
          <a:prstGeom prst="rect">
            <a:avLst/>
          </a:prstGeom>
          <a:noFill/>
          <a:ln/>
        </p:spPr>
        <p:txBody>
          <a:bodyPr wrap="square" lIns="508" tIns="508" rIns="508" bIns="508" rtlCol="0" anchor="ctr"/>
          <a:lstStyle/>
          <a:p>
            <a:pPr algn="ctr" indent="0" marL="0">
              <a:buNone/>
            </a:pPr>
            <a:r>
              <a:rPr lang="en-US" sz="1400" b="1" dirty="0">
                <a:solidFill>
                  <a:schemeClr val="bg1"/>
                </a:solidFill>
              </a:rPr>
              <a:t>Expression</a:t>
            </a:r>
            <a:endParaRPr lang="en-US" sz="1400" dirty="0"/>
          </a:p>
          <a:p>
            <a:pPr algn="ctr" indent="0" marL="0">
              <a:buNone/>
            </a:pPr>
            <a:r>
              <a:rPr lang="en-US" sz="1100" dirty="0">
                <a:solidFill>
                  <a:schemeClr val="bg1"/>
                </a:solidFill>
              </a:rPr>
              <a:t>a value, here a reference</a:t>
            </a:r>
            <a:endParaRPr lang="en-US" sz="1400" dirty="0"/>
          </a:p>
        </p:txBody>
      </p:sp>
      <p:sp>
        <p:nvSpPr>
          <p:cNvPr id="19" name="arrow-145"/>
          <p:cNvSpPr/>
          <p:nvPr/>
        </p:nvSpPr>
        <p:spPr>
          <a:xfrm flipH="1" flipV="1">
            <a:off x="4046220" y="2951226"/>
            <a:ext cx="800100" cy="1163574"/>
          </a:xfrm>
          <a:prstGeom prst="line">
            <a:avLst/>
          </a:prstGeom>
          <a:noFill/>
          <a:ln w="25400">
            <a:solidFill>
              <a:schemeClr val="accent2"/>
            </a:solidFill>
            <a:prstDash val="solid"/>
            <a:tailEnd type="triangle"/>
          </a:ln>
        </p:spPr>
      </p:sp>
      <p:sp>
        <p:nvSpPr>
          <p:cNvPr id="20" name="card-146"/>
          <p:cNvSpPr/>
          <p:nvPr/>
        </p:nvSpPr>
        <p:spPr>
          <a:xfrm>
            <a:off x="8595360" y="1188720"/>
            <a:ext cx="3108960" cy="3657600"/>
          </a:xfrm>
          <a:prstGeom prst="roundRect">
            <a:avLst>
              <a:gd name="adj" fmla="val 2941"/>
            </a:avLst>
          </a:prstGeom>
          <a:solidFill>
            <a:schemeClr val="bg2"/>
          </a:solidFill>
          <a:ln w="12700">
            <a:solidFill>
              <a:schemeClr val="bg2"/>
            </a:solidFill>
            <a:prstDash val="solid"/>
          </a:ln>
        </p:spPr>
      </p:sp>
      <p:sp>
        <p:nvSpPr>
          <p:cNvPr id="21" name="text-147"/>
          <p:cNvSpPr txBox="1"/>
          <p:nvPr/>
        </p:nvSpPr>
        <p:spPr>
          <a:xfrm>
            <a:off x="8823960" y="1371600"/>
            <a:ext cx="2743200" cy="3383280"/>
          </a:xfrm>
          <a:prstGeom prst="rect">
            <a:avLst/>
          </a:prstGeom>
          <a:noFill/>
          <a:ln/>
        </p:spPr>
        <p:txBody>
          <a:bodyPr wrap="square" lIns="0" tIns="0" rIns="0" bIns="0" rtlCol="0" anchor="t"/>
          <a:lstStyle/>
          <a:p>
            <a:pPr indent="0" marL="0">
              <a:buNone/>
            </a:pPr>
            <a:r>
              <a:rPr lang="en-US" sz="1600" b="1" dirty="0">
                <a:solidFill>
                  <a:schemeClr val="tx1"/>
                </a:solidFill>
              </a:rPr>
              <a:t>Its address</a:t>
            </a:r>
            <a:endParaRPr lang="en-US" sz="1400" dirty="0"/>
          </a:p>
          <a:p>
            <a:pPr indent="0" marL="0">
              <a:buNone/>
            </a:pPr>
            <a:r>
              <a:rPr lang="en-US" sz="1300" dirty="0">
                <a:solidFill>
                  <a:schemeClr val="accent1"/>
                </a:solidFill>
                <a:latin typeface="Courier New" pitchFamily="34" charset="0"/>
                <a:ea typeface="Courier New" pitchFamily="34" charset="-122"/>
                <a:cs typeface="Courier New" pitchFamily="34" charset="-120"/>
              </a:rPr>
              <a:t>aws_s3_bucket.state</a:t>
            </a:r>
            <a:endParaRPr lang="en-US" sz="1400" dirty="0"/>
          </a:p>
          <a:p>
            <a:pPr indent="0" marL="0">
              <a:buNone/>
            </a:pPr>
            <a:r>
              <a:rPr lang="en-US" sz="800" dirty="0">
                <a:solidFill>
                  <a:schemeClr val="tx1"/>
                </a:solidFill>
              </a:rPr>
              <a:t> </a:t>
            </a:r>
            <a:endParaRPr lang="en-US" sz="1400" dirty="0"/>
          </a:p>
          <a:p>
            <a:pPr indent="0" marL="0">
              <a:buNone/>
            </a:pPr>
            <a:r>
              <a:rPr lang="en-US" sz="1600" b="1" dirty="0">
                <a:solidFill>
                  <a:schemeClr val="tx1"/>
                </a:solidFill>
              </a:rPr>
              <a:t>Other blocks read its attributes</a:t>
            </a:r>
            <a:endParaRPr lang="en-US" sz="1400" dirty="0"/>
          </a:p>
          <a:p>
            <a:pPr indent="0" marL="0">
              <a:buNone/>
            </a:pPr>
            <a:r>
              <a:rPr lang="en-US" sz="1300" dirty="0">
                <a:solidFill>
                  <a:schemeClr val="accent1"/>
                </a:solidFill>
                <a:latin typeface="Courier New" pitchFamily="34" charset="0"/>
                <a:ea typeface="Courier New" pitchFamily="34" charset="-122"/>
                <a:cs typeface="Courier New" pitchFamily="34" charset="-120"/>
              </a:rPr>
              <a:t>aws_s3_bucket.state.id</a:t>
            </a:r>
            <a:endParaRPr lang="en-US" sz="1400" dirty="0"/>
          </a:p>
          <a:p>
            <a:pPr indent="0" marL="0">
              <a:buNone/>
            </a:pPr>
            <a:r>
              <a:rPr lang="en-US" sz="1300" dirty="0">
                <a:solidFill>
                  <a:schemeClr val="accent1"/>
                </a:solidFill>
                <a:latin typeface="Courier New" pitchFamily="34" charset="0"/>
                <a:ea typeface="Courier New" pitchFamily="34" charset="-122"/>
                <a:cs typeface="Courier New" pitchFamily="34" charset="-120"/>
              </a:rPr>
              <a:t>aws_s3_bucket.state.arn</a:t>
            </a:r>
            <a:endParaRPr lang="en-US" sz="1400" dirty="0"/>
          </a:p>
          <a:p>
            <a:pPr indent="0" marL="0">
              <a:buNone/>
            </a:pPr>
            <a:r>
              <a:rPr lang="en-US" sz="800" dirty="0">
                <a:solidFill>
                  <a:schemeClr val="tx1"/>
                </a:solidFill>
              </a:rPr>
              <a:t> </a:t>
            </a:r>
            <a:endParaRPr lang="en-US" sz="1400" dirty="0"/>
          </a:p>
          <a:p>
            <a:pPr indent="0" marL="0">
              <a:buNone/>
            </a:pPr>
            <a:r>
              <a:rPr lang="en-US" sz="1400" dirty="0">
                <a:solidFill>
                  <a:schemeClr val="tx1"/>
                </a:solidFill>
              </a:rPr>
              <a:t>Like an object: the local name is the variable, and .arn is a field AWS fills in after creation.</a:t>
            </a:r>
            <a:endParaRPr lang="en-US" sz="1400" dirty="0"/>
          </a:p>
        </p:txBody>
      </p:sp>
      <p:sp>
        <p:nvSpPr>
          <p:cNvPr id="22" name="text-148"/>
          <p:cNvSpPr txBox="1"/>
          <p:nvPr/>
        </p:nvSpPr>
        <p:spPr>
          <a:xfrm>
            <a:off x="822960" y="5257800"/>
            <a:ext cx="10881360" cy="731520"/>
          </a:xfrm>
          <a:prstGeom prst="rect">
            <a:avLst/>
          </a:prstGeom>
          <a:noFill/>
          <a:ln/>
        </p:spPr>
        <p:txBody>
          <a:bodyPr wrap="square" lIns="0" tIns="0" rIns="0" bIns="0" rtlCol="0" anchor="t"/>
          <a:lstStyle/>
          <a:p>
            <a:pPr indent="0" marL="0">
              <a:buNone/>
            </a:pPr>
            <a:r>
              <a:rPr lang="en-US" sz="1600" dirty="0">
                <a:solidFill>
                  <a:schemeClr val="tx1"/>
                </a:solidFill>
              </a:rPr>
              <a:t>Every file in the repo is just these blocks. There are no functions to call in order and no main(). Terraform reads every .tf file in a folder as one program.</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HCL concepts mapped to code you already know</a:t>
            </a:r>
            <a:endParaRPr lang="en-US" sz="3400" dirty="0"/>
          </a:p>
        </p:txBody>
      </p:sp>
      <p:graphicFrame>
        <p:nvGraphicFramePr>
          <p:cNvPr id="9" name="table-149"/>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103120"/>
                <a:gridCol w="3108960"/>
                <a:gridCol w="5943600"/>
              </a:tblGrid>
              <a:tr h="566928">
                <a:tc>
                  <a:txBody>
                    <a:bodyPr/>
                    <a:lstStyle/>
                    <a:p>
                      <a:pPr indent="0" marL="0">
                        <a:buNone/>
                      </a:pPr>
                      <a:r>
                        <a:rPr lang="en-US" sz="1500" b="1" dirty="0">
                          <a:solidFill>
                            <a:schemeClr val="bg1"/>
                          </a:solidFill>
                        </a:rPr>
                        <a:t>HCL block</a:t>
                      </a:r>
                      <a:endParaRPr lang="en-US" sz="1500" dirty="0"/>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Think of it as</a:t>
                      </a:r>
                      <a:endParaRPr lang="en-US" sz="1500" dirty="0"/>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What it does here</a:t>
                      </a:r>
                      <a:endParaRPr lang="en-US" sz="1500" dirty="0"/>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accent1"/>
                    </a:solidFill>
                  </a:tcPr>
                </a:tc>
              </a:tr>
              <a:tr h="566928">
                <a:tc>
                  <a:txBody>
                    <a:bodyP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variable</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rPr>
                        <a:t>Function parameter</a:t>
                      </a:r>
                      <a:endParaRPr lang="en-US" sz="1500" dirty="0"/>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Input with a type and default. Read it as var.region</a:t>
                      </a:r>
                      <a:endParaRPr lang="en-US" sz="1400" dirty="0"/>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r>
              <a:tr h="566928">
                <a:tc>
                  <a:txBody>
                    <a:bodyP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locals</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rPr>
                        <a:t>Local constants</a:t>
                      </a:r>
                      <a:endParaRPr lang="en-US" sz="1500" dirty="0"/>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Computed values to avoid repetition. Read as local.name</a:t>
                      </a:r>
                      <a:endParaRPr lang="en-US" sz="1400" dirty="0"/>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2"/>
                    </a:solidFill>
                  </a:tcPr>
                </a:tc>
              </a:tr>
              <a:tr h="566928">
                <a:tc>
                  <a:txBody>
                    <a:bodyP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resource</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rPr>
                        <a:t>Object Terraform owns</a:t>
                      </a:r>
                      <a:endParaRPr lang="en-US" sz="1500" dirty="0"/>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Created, updated, and destroyed for you</a:t>
                      </a:r>
                      <a:endParaRPr lang="en-US" sz="1400" dirty="0"/>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r>
              <a:tr h="566928">
                <a:tc>
                  <a:txBody>
                    <a:bodyP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data</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rPr>
                        <a:t>Read-only query</a:t>
                      </a:r>
                      <a:endParaRPr lang="en-US" sz="1500" dirty="0"/>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Looks something up in AWS without creating it</a:t>
                      </a:r>
                      <a:endParaRPr lang="en-US" sz="1400" dirty="0"/>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2"/>
                    </a:solidFill>
                  </a:tcPr>
                </a:tc>
              </a:tr>
              <a:tr h="566928">
                <a:tc>
                  <a:txBody>
                    <a:bodyP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output</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rPr>
                        <a:t>Return value</a:t>
                      </a:r>
                      <a:endParaRPr lang="en-US" sz="1500" dirty="0"/>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Printed after apply, readable by other layers</a:t>
                      </a:r>
                      <a:endParaRPr lang="en-US" sz="1400" dirty="0"/>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r>
              <a:tr h="566928">
                <a:tc>
                  <a:txBody>
                    <a:bodyP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module</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rPr>
                        <a:t>Function call</a:t>
                      </a:r>
                      <a:endParaRPr lang="en-US" sz="1500" dirty="0"/>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reusable folder of .tf files with inputs and outputs</a:t>
                      </a:r>
                      <a:endParaRPr lang="en-US" sz="1400" dirty="0"/>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2"/>
                    </a:solidFill>
                  </a:tcPr>
                </a:tc>
              </a:tr>
              <a:tr h="566928">
                <a:tc>
                  <a:txBody>
                    <a:bodyP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provider</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rPr>
                        <a:t>Configured SDK client</a:t>
                      </a:r>
                      <a:endParaRPr lang="en-US" sz="1500" dirty="0"/>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Which cloud, which region, which credentials</a:t>
                      </a:r>
                      <a:endParaRPr lang="en-US" sz="1400" dirty="0"/>
                    </a:p>
                  </a:txBody>
                  <a:tcPr marL="73152" marR="73152" marT="73152" marB="73152"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References build the dependency graph</a:t>
            </a:r>
            <a:endParaRPr lang="en-US" sz="3400" dirty="0"/>
          </a:p>
        </p:txBody>
      </p:sp>
      <p:sp>
        <p:nvSpPr>
          <p:cNvPr id="3" name="code-bg-150"/>
          <p:cNvSpPr/>
          <p:nvPr/>
        </p:nvSpPr>
        <p:spPr>
          <a:xfrm>
            <a:off x="868680" y="1280160"/>
            <a:ext cx="5852160" cy="2615184"/>
          </a:xfrm>
          <a:prstGeom prst="roundRect">
            <a:avLst>
              <a:gd name="adj" fmla="val 2797"/>
            </a:avLst>
          </a:prstGeom>
          <a:solidFill>
            <a:schemeClr val="tx1"/>
          </a:solidFill>
          <a:ln w="12700">
            <a:solidFill>
              <a:schemeClr val="tx1"/>
            </a:solidFill>
            <a:prstDash val="solid"/>
          </a:ln>
        </p:spPr>
      </p:sp>
      <p:sp>
        <p:nvSpPr>
          <p:cNvPr id="4" name="code-151"/>
          <p:cNvSpPr txBox="1"/>
          <p:nvPr/>
        </p:nvSpPr>
        <p:spPr>
          <a:xfrm>
            <a:off x="1051560" y="1444752"/>
            <a:ext cx="5532120" cy="2304288"/>
          </a:xfrm>
          <a:prstGeom prst="rect">
            <a:avLst/>
          </a:prstGeom>
          <a:noFill/>
          <a:ln/>
        </p:spPr>
        <p:txBody>
          <a:bodyPr wrap="square" lIns="0" tIns="0" rIns="0" bIns="0" rtlCol="0" anchor="t"/>
          <a:lstStyle/>
          <a:p>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resource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"aws_kms_alias"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"state"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target_key_id</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aws_kms_key</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state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key_id</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resource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"aws_s3_bucket_versioning"</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"state"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bucket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aws_s3_bucket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state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id</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resource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"aws_s3_bucket_policy"</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"state"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bucket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aws_s3_bucket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state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id</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depends_on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aws_s3_bucket_public_access_block</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state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p:txBody>
      </p:sp>
      <p:sp>
        <p:nvSpPr>
          <p:cNvPr id="5" name="marker-152"/>
          <p:cNvSpPr/>
          <p:nvPr/>
        </p:nvSpPr>
        <p:spPr>
          <a:xfrm>
            <a:off x="484632" y="1584198"/>
            <a:ext cx="292608" cy="292608"/>
          </a:xfrm>
          <a:prstGeom prst="ellipse">
            <a:avLst/>
          </a:prstGeom>
          <a:solidFill>
            <a:schemeClr val="accent2"/>
          </a:solidFill>
          <a:ln w="12700">
            <a:solidFill>
              <a:schemeClr val="accent2"/>
            </a:solidFill>
            <a:prstDash val="solid"/>
          </a:ln>
        </p:spPr>
      </p:sp>
      <p:sp>
        <p:nvSpPr>
          <p:cNvPr id="6" name="marker-n-153"/>
          <p:cNvSpPr txBox="1"/>
          <p:nvPr/>
        </p:nvSpPr>
        <p:spPr>
          <a:xfrm>
            <a:off x="484632" y="1584198"/>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7" name="marker-154"/>
          <p:cNvSpPr/>
          <p:nvPr/>
        </p:nvSpPr>
        <p:spPr>
          <a:xfrm>
            <a:off x="484632" y="3298698"/>
            <a:ext cx="292608" cy="292608"/>
          </a:xfrm>
          <a:prstGeom prst="ellipse">
            <a:avLst/>
          </a:prstGeom>
          <a:solidFill>
            <a:schemeClr val="accent2"/>
          </a:solidFill>
          <a:ln w="12700">
            <a:solidFill>
              <a:schemeClr val="accent2"/>
            </a:solidFill>
            <a:prstDash val="solid"/>
          </a:ln>
        </p:spPr>
      </p:sp>
      <p:sp>
        <p:nvSpPr>
          <p:cNvPr id="8" name="marker-n-155"/>
          <p:cNvSpPr txBox="1"/>
          <p:nvPr/>
        </p:nvSpPr>
        <p:spPr>
          <a:xfrm>
            <a:off x="484632" y="3298698"/>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9" name="box-156"/>
          <p:cNvSpPr/>
          <p:nvPr/>
        </p:nvSpPr>
        <p:spPr>
          <a:xfrm>
            <a:off x="7040880" y="1325880"/>
            <a:ext cx="1737360" cy="502920"/>
          </a:xfrm>
          <a:prstGeom prst="roundRect">
            <a:avLst>
              <a:gd name="adj" fmla="val 14545"/>
            </a:avLst>
          </a:prstGeom>
          <a:solidFill>
            <a:schemeClr val="accent3"/>
          </a:solidFill>
          <a:ln w="9525">
            <a:solidFill>
              <a:schemeClr val="accent3"/>
            </a:solidFill>
            <a:prstDash val="solid"/>
          </a:ln>
        </p:spPr>
      </p:sp>
      <p:sp>
        <p:nvSpPr>
          <p:cNvPr id="10" name="box-t-157"/>
          <p:cNvSpPr txBox="1"/>
          <p:nvPr/>
        </p:nvSpPr>
        <p:spPr>
          <a:xfrm>
            <a:off x="7086600" y="1325880"/>
            <a:ext cx="1645920" cy="502920"/>
          </a:xfrm>
          <a:prstGeom prst="rect">
            <a:avLst/>
          </a:prstGeom>
          <a:noFill/>
          <a:ln/>
        </p:spPr>
        <p:txBody>
          <a:bodyPr wrap="square" lIns="508" tIns="508" rIns="508" bIns="508" rtlCol="0" anchor="ctr"/>
          <a:lstStyle/>
          <a:p>
            <a:pPr algn="ctr" indent="0" marL="0">
              <a:buNone/>
            </a:pPr>
            <a:r>
              <a:rPr lang="en-US" sz="1200" b="1" dirty="0">
                <a:solidFill>
                  <a:schemeClr val="bg1"/>
                </a:solidFill>
              </a:rPr>
              <a:t>kms_key</a:t>
            </a:r>
            <a:endParaRPr lang="en-US" sz="1200" dirty="0"/>
          </a:p>
        </p:txBody>
      </p:sp>
      <p:sp>
        <p:nvSpPr>
          <p:cNvPr id="11" name="box-158"/>
          <p:cNvSpPr/>
          <p:nvPr/>
        </p:nvSpPr>
        <p:spPr>
          <a:xfrm>
            <a:off x="9692640" y="1325880"/>
            <a:ext cx="1737360" cy="502920"/>
          </a:xfrm>
          <a:prstGeom prst="roundRect">
            <a:avLst>
              <a:gd name="adj" fmla="val 14545"/>
            </a:avLst>
          </a:prstGeom>
          <a:solidFill>
            <a:schemeClr val="accent3"/>
          </a:solidFill>
          <a:ln w="9525">
            <a:solidFill>
              <a:schemeClr val="accent3"/>
            </a:solidFill>
            <a:prstDash val="solid"/>
          </a:ln>
        </p:spPr>
      </p:sp>
      <p:sp>
        <p:nvSpPr>
          <p:cNvPr id="12" name="box-t-159"/>
          <p:cNvSpPr txBox="1"/>
          <p:nvPr/>
        </p:nvSpPr>
        <p:spPr>
          <a:xfrm>
            <a:off x="9738360" y="1325880"/>
            <a:ext cx="1645920" cy="502920"/>
          </a:xfrm>
          <a:prstGeom prst="rect">
            <a:avLst/>
          </a:prstGeom>
          <a:noFill/>
          <a:ln/>
        </p:spPr>
        <p:txBody>
          <a:bodyPr wrap="square" lIns="508" tIns="508" rIns="508" bIns="508" rtlCol="0" anchor="ctr"/>
          <a:lstStyle/>
          <a:p>
            <a:pPr algn="ctr" indent="0" marL="0">
              <a:buNone/>
            </a:pPr>
            <a:r>
              <a:rPr lang="en-US" sz="1200" b="1" dirty="0">
                <a:solidFill>
                  <a:schemeClr val="bg1"/>
                </a:solidFill>
              </a:rPr>
              <a:t>s3_bucket</a:t>
            </a:r>
            <a:endParaRPr lang="en-US" sz="1200" dirty="0"/>
          </a:p>
        </p:txBody>
      </p:sp>
      <p:sp>
        <p:nvSpPr>
          <p:cNvPr id="13" name="box-160"/>
          <p:cNvSpPr/>
          <p:nvPr/>
        </p:nvSpPr>
        <p:spPr>
          <a:xfrm>
            <a:off x="6766560" y="2514600"/>
            <a:ext cx="1280160" cy="502920"/>
          </a:xfrm>
          <a:prstGeom prst="roundRect">
            <a:avLst>
              <a:gd name="adj" fmla="val 14545"/>
            </a:avLst>
          </a:prstGeom>
          <a:solidFill>
            <a:schemeClr val="accent1"/>
          </a:solidFill>
          <a:ln w="9525">
            <a:solidFill>
              <a:schemeClr val="accent1"/>
            </a:solidFill>
            <a:prstDash val="solid"/>
          </a:ln>
        </p:spPr>
      </p:sp>
      <p:sp>
        <p:nvSpPr>
          <p:cNvPr id="14" name="box-t-161"/>
          <p:cNvSpPr txBox="1"/>
          <p:nvPr/>
        </p:nvSpPr>
        <p:spPr>
          <a:xfrm>
            <a:off x="6812280" y="2514600"/>
            <a:ext cx="1188720" cy="502920"/>
          </a:xfrm>
          <a:prstGeom prst="rect">
            <a:avLst/>
          </a:prstGeom>
          <a:noFill/>
          <a:ln/>
        </p:spPr>
        <p:txBody>
          <a:bodyPr wrap="square" lIns="508" tIns="508" rIns="508" bIns="508" rtlCol="0" anchor="ctr"/>
          <a:lstStyle/>
          <a:p>
            <a:pPr algn="ctr" indent="0" marL="0">
              <a:buNone/>
            </a:pPr>
            <a:r>
              <a:rPr lang="en-US" sz="1200" b="1" dirty="0">
                <a:solidFill>
                  <a:schemeClr val="bg1"/>
                </a:solidFill>
              </a:rPr>
              <a:t>kms_alias</a:t>
            </a:r>
            <a:endParaRPr lang="en-US" sz="1200" dirty="0"/>
          </a:p>
        </p:txBody>
      </p:sp>
      <p:sp>
        <p:nvSpPr>
          <p:cNvPr id="15" name="box-162"/>
          <p:cNvSpPr/>
          <p:nvPr/>
        </p:nvSpPr>
        <p:spPr>
          <a:xfrm>
            <a:off x="8229600" y="2514600"/>
            <a:ext cx="1371600" cy="502920"/>
          </a:xfrm>
          <a:prstGeom prst="roundRect">
            <a:avLst>
              <a:gd name="adj" fmla="val 14545"/>
            </a:avLst>
          </a:prstGeom>
          <a:solidFill>
            <a:schemeClr val="accent1"/>
          </a:solidFill>
          <a:ln w="9525">
            <a:solidFill>
              <a:schemeClr val="accent1"/>
            </a:solidFill>
            <a:prstDash val="solid"/>
          </a:ln>
        </p:spPr>
      </p:sp>
      <p:sp>
        <p:nvSpPr>
          <p:cNvPr id="16" name="box-t-163"/>
          <p:cNvSpPr txBox="1"/>
          <p:nvPr/>
        </p:nvSpPr>
        <p:spPr>
          <a:xfrm>
            <a:off x="8275320" y="2514600"/>
            <a:ext cx="1280160" cy="502920"/>
          </a:xfrm>
          <a:prstGeom prst="rect">
            <a:avLst/>
          </a:prstGeom>
          <a:noFill/>
          <a:ln/>
        </p:spPr>
        <p:txBody>
          <a:bodyPr wrap="square" lIns="508" tIns="508" rIns="508" bIns="508" rtlCol="0" anchor="ctr"/>
          <a:lstStyle/>
          <a:p>
            <a:pPr algn="ctr" indent="0" marL="0">
              <a:buNone/>
            </a:pPr>
            <a:r>
              <a:rPr lang="en-US" sz="1200" b="1" dirty="0">
                <a:solidFill>
                  <a:schemeClr val="bg1"/>
                </a:solidFill>
              </a:rPr>
              <a:t>encryption</a:t>
            </a:r>
            <a:endParaRPr lang="en-US" sz="1200" dirty="0"/>
          </a:p>
        </p:txBody>
      </p:sp>
      <p:sp>
        <p:nvSpPr>
          <p:cNvPr id="17" name="box-164"/>
          <p:cNvSpPr/>
          <p:nvPr/>
        </p:nvSpPr>
        <p:spPr>
          <a:xfrm>
            <a:off x="10561320" y="2514600"/>
            <a:ext cx="1143000" cy="502920"/>
          </a:xfrm>
          <a:prstGeom prst="roundRect">
            <a:avLst>
              <a:gd name="adj" fmla="val 14545"/>
            </a:avLst>
          </a:prstGeom>
          <a:solidFill>
            <a:schemeClr val="accent1"/>
          </a:solidFill>
          <a:ln w="9525">
            <a:solidFill>
              <a:schemeClr val="accent1"/>
            </a:solidFill>
            <a:prstDash val="solid"/>
          </a:ln>
        </p:spPr>
      </p:sp>
      <p:sp>
        <p:nvSpPr>
          <p:cNvPr id="18" name="box-t-165"/>
          <p:cNvSpPr txBox="1"/>
          <p:nvPr/>
        </p:nvSpPr>
        <p:spPr>
          <a:xfrm>
            <a:off x="10607040" y="2514600"/>
            <a:ext cx="1051560" cy="502920"/>
          </a:xfrm>
          <a:prstGeom prst="rect">
            <a:avLst/>
          </a:prstGeom>
          <a:noFill/>
          <a:ln/>
        </p:spPr>
        <p:txBody>
          <a:bodyPr wrap="square" lIns="508" tIns="508" rIns="508" bIns="508" rtlCol="0" anchor="ctr"/>
          <a:lstStyle/>
          <a:p>
            <a:pPr algn="ctr" indent="0" marL="0">
              <a:buNone/>
            </a:pPr>
            <a:r>
              <a:rPr lang="en-US" sz="1200" b="1" dirty="0">
                <a:solidFill>
                  <a:schemeClr val="bg1"/>
                </a:solidFill>
              </a:rPr>
              <a:t>public_access</a:t>
            </a:r>
            <a:endParaRPr lang="en-US" sz="1200" dirty="0"/>
          </a:p>
        </p:txBody>
      </p:sp>
      <p:sp>
        <p:nvSpPr>
          <p:cNvPr id="19" name="box-166"/>
          <p:cNvSpPr/>
          <p:nvPr/>
        </p:nvSpPr>
        <p:spPr>
          <a:xfrm>
            <a:off x="9326880" y="3657600"/>
            <a:ext cx="1463040" cy="502920"/>
          </a:xfrm>
          <a:prstGeom prst="roundRect">
            <a:avLst>
              <a:gd name="adj" fmla="val 14545"/>
            </a:avLst>
          </a:prstGeom>
          <a:solidFill>
            <a:schemeClr val="accent1"/>
          </a:solidFill>
          <a:ln w="9525">
            <a:solidFill>
              <a:schemeClr val="accent1"/>
            </a:solidFill>
            <a:prstDash val="solid"/>
          </a:ln>
        </p:spPr>
      </p:sp>
      <p:sp>
        <p:nvSpPr>
          <p:cNvPr id="20" name="box-t-167"/>
          <p:cNvSpPr txBox="1"/>
          <p:nvPr/>
        </p:nvSpPr>
        <p:spPr>
          <a:xfrm>
            <a:off x="9372600" y="3657600"/>
            <a:ext cx="1371600" cy="502920"/>
          </a:xfrm>
          <a:prstGeom prst="rect">
            <a:avLst/>
          </a:prstGeom>
          <a:noFill/>
          <a:ln/>
        </p:spPr>
        <p:txBody>
          <a:bodyPr wrap="square" lIns="508" tIns="508" rIns="508" bIns="508" rtlCol="0" anchor="ctr"/>
          <a:lstStyle/>
          <a:p>
            <a:pPr algn="ctr" indent="0" marL="0">
              <a:buNone/>
            </a:pPr>
            <a:r>
              <a:rPr lang="en-US" sz="1200" b="1" dirty="0">
                <a:solidFill>
                  <a:schemeClr val="bg1"/>
                </a:solidFill>
              </a:rPr>
              <a:t>bucket_policy</a:t>
            </a:r>
            <a:endParaRPr lang="en-US" sz="1200" dirty="0"/>
          </a:p>
        </p:txBody>
      </p:sp>
      <p:sp>
        <p:nvSpPr>
          <p:cNvPr id="21" name="arrow-168"/>
          <p:cNvSpPr/>
          <p:nvPr/>
        </p:nvSpPr>
        <p:spPr>
          <a:xfrm flipH="1">
            <a:off x="7406640" y="1828800"/>
            <a:ext cx="274320" cy="685800"/>
          </a:xfrm>
          <a:prstGeom prst="line">
            <a:avLst/>
          </a:prstGeom>
          <a:noFill/>
          <a:ln w="22225">
            <a:solidFill>
              <a:schemeClr val="tx2"/>
            </a:solidFill>
            <a:prstDash val="solid"/>
            <a:tailEnd type="triangle"/>
          </a:ln>
        </p:spPr>
      </p:sp>
      <p:sp>
        <p:nvSpPr>
          <p:cNvPr id="22" name="arrow-169"/>
          <p:cNvSpPr/>
          <p:nvPr/>
        </p:nvSpPr>
        <p:spPr>
          <a:xfrm>
            <a:off x="8183880" y="1828800"/>
            <a:ext cx="594360" cy="685800"/>
          </a:xfrm>
          <a:prstGeom prst="line">
            <a:avLst/>
          </a:prstGeom>
          <a:noFill/>
          <a:ln w="22225">
            <a:solidFill>
              <a:schemeClr val="tx2"/>
            </a:solidFill>
            <a:prstDash val="solid"/>
            <a:tailEnd type="triangle"/>
          </a:ln>
        </p:spPr>
      </p:sp>
      <p:sp>
        <p:nvSpPr>
          <p:cNvPr id="23" name="arrow-170"/>
          <p:cNvSpPr/>
          <p:nvPr/>
        </p:nvSpPr>
        <p:spPr>
          <a:xfrm flipH="1">
            <a:off x="9281160" y="1828800"/>
            <a:ext cx="777240" cy="685800"/>
          </a:xfrm>
          <a:prstGeom prst="line">
            <a:avLst/>
          </a:prstGeom>
          <a:noFill/>
          <a:ln w="22225">
            <a:solidFill>
              <a:schemeClr val="tx2"/>
            </a:solidFill>
            <a:prstDash val="solid"/>
            <a:tailEnd type="triangle"/>
          </a:ln>
        </p:spPr>
      </p:sp>
      <p:sp>
        <p:nvSpPr>
          <p:cNvPr id="24" name="arrow-171"/>
          <p:cNvSpPr/>
          <p:nvPr/>
        </p:nvSpPr>
        <p:spPr>
          <a:xfrm>
            <a:off x="10972800" y="1828800"/>
            <a:ext cx="164592" cy="685800"/>
          </a:xfrm>
          <a:prstGeom prst="line">
            <a:avLst/>
          </a:prstGeom>
          <a:noFill/>
          <a:ln w="22225">
            <a:solidFill>
              <a:schemeClr val="tx2"/>
            </a:solidFill>
            <a:prstDash val="solid"/>
            <a:tailEnd type="triangle"/>
          </a:ln>
        </p:spPr>
      </p:sp>
      <p:sp>
        <p:nvSpPr>
          <p:cNvPr id="25" name="arrow-172"/>
          <p:cNvSpPr/>
          <p:nvPr/>
        </p:nvSpPr>
        <p:spPr>
          <a:xfrm flipH="1">
            <a:off x="10149840" y="1828800"/>
            <a:ext cx="411480" cy="1828800"/>
          </a:xfrm>
          <a:prstGeom prst="line">
            <a:avLst/>
          </a:prstGeom>
          <a:noFill/>
          <a:ln w="22225">
            <a:solidFill>
              <a:schemeClr val="tx2"/>
            </a:solidFill>
            <a:prstDash val="solid"/>
            <a:tailEnd type="triangle"/>
          </a:ln>
        </p:spPr>
      </p:sp>
      <p:sp>
        <p:nvSpPr>
          <p:cNvPr id="26" name="arrow-173"/>
          <p:cNvSpPr/>
          <p:nvPr/>
        </p:nvSpPr>
        <p:spPr>
          <a:xfrm flipH="1">
            <a:off x="10652760" y="3017520"/>
            <a:ext cx="484632" cy="640080"/>
          </a:xfrm>
          <a:prstGeom prst="line">
            <a:avLst/>
          </a:prstGeom>
          <a:noFill/>
          <a:ln w="22225">
            <a:solidFill>
              <a:schemeClr val="accent2"/>
            </a:solidFill>
            <a:prstDash val="dash"/>
            <a:tailEnd type="triangle"/>
          </a:ln>
        </p:spPr>
      </p:sp>
      <p:sp>
        <p:nvSpPr>
          <p:cNvPr id="27" name="text-174"/>
          <p:cNvSpPr txBox="1"/>
          <p:nvPr/>
        </p:nvSpPr>
        <p:spPr>
          <a:xfrm>
            <a:off x="6766560" y="4343400"/>
            <a:ext cx="4937760" cy="274320"/>
          </a:xfrm>
          <a:prstGeom prst="rect">
            <a:avLst/>
          </a:prstGeom>
          <a:noFill/>
          <a:ln/>
        </p:spPr>
        <p:txBody>
          <a:bodyPr wrap="square" lIns="0" tIns="0" rIns="0" bIns="0" rtlCol="0" anchor="t"/>
          <a:lstStyle/>
          <a:p>
            <a:pPr indent="0" marL="0">
              <a:buNone/>
            </a:pPr>
            <a:r>
              <a:rPr lang="en-US" sz="1200" dirty="0">
                <a:solidFill>
                  <a:schemeClr val="tx2"/>
                </a:solidFill>
              </a:rPr>
              <a:t>dashed = depends_on. versioning is another child of s3_bucket.</a:t>
            </a:r>
            <a:endParaRPr lang="en-US" sz="1200" dirty="0"/>
          </a:p>
        </p:txBody>
      </p:sp>
      <p:sp>
        <p:nvSpPr>
          <p:cNvPr id="28" name="marker-175"/>
          <p:cNvSpPr/>
          <p:nvPr/>
        </p:nvSpPr>
        <p:spPr>
          <a:xfrm>
            <a:off x="6949440" y="4754880"/>
            <a:ext cx="329184" cy="329184"/>
          </a:xfrm>
          <a:prstGeom prst="ellipse">
            <a:avLst/>
          </a:prstGeom>
          <a:solidFill>
            <a:schemeClr val="accent2"/>
          </a:solidFill>
          <a:ln w="12700">
            <a:solidFill>
              <a:schemeClr val="accent2"/>
            </a:solidFill>
            <a:prstDash val="solid"/>
          </a:ln>
        </p:spPr>
      </p:sp>
      <p:sp>
        <p:nvSpPr>
          <p:cNvPr id="29" name="marker-n-176"/>
          <p:cNvSpPr txBox="1"/>
          <p:nvPr/>
        </p:nvSpPr>
        <p:spPr>
          <a:xfrm>
            <a:off x="6949440" y="4754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30" name="callout-177"/>
          <p:cNvSpPr txBox="1"/>
          <p:nvPr/>
        </p:nvSpPr>
        <p:spPr>
          <a:xfrm>
            <a:off x="7406640" y="4736592"/>
            <a:ext cx="429768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 reference is an edge</a:t>
            </a:r>
            <a:endParaRPr lang="en-US" sz="1500" dirty="0"/>
          </a:p>
          <a:p>
            <a:pPr indent="0" marL="0">
              <a:spcAft>
                <a:spcPts val="200"/>
              </a:spcAft>
              <a:buNone/>
            </a:pPr>
            <a:r>
              <a:rPr lang="en-US" sz="1400" dirty="0">
                <a:solidFill>
                  <a:schemeClr val="tx1"/>
                </a:solidFill>
              </a:rPr>
              <a:t>Using one block's attribute makes Terraform create that block first. File order never matters.</a:t>
            </a:r>
            <a:endParaRPr lang="en-US" sz="1500" dirty="0"/>
          </a:p>
        </p:txBody>
      </p:sp>
      <p:sp>
        <p:nvSpPr>
          <p:cNvPr id="31" name="marker-178"/>
          <p:cNvSpPr/>
          <p:nvPr/>
        </p:nvSpPr>
        <p:spPr>
          <a:xfrm>
            <a:off x="6949440" y="5611368"/>
            <a:ext cx="329184" cy="329184"/>
          </a:xfrm>
          <a:prstGeom prst="ellipse">
            <a:avLst/>
          </a:prstGeom>
          <a:solidFill>
            <a:schemeClr val="accent2"/>
          </a:solidFill>
          <a:ln w="12700">
            <a:solidFill>
              <a:schemeClr val="accent2"/>
            </a:solidFill>
            <a:prstDash val="solid"/>
          </a:ln>
        </p:spPr>
      </p:sp>
      <p:sp>
        <p:nvSpPr>
          <p:cNvPr id="32" name="marker-n-179"/>
          <p:cNvSpPr txBox="1"/>
          <p:nvPr/>
        </p:nvSpPr>
        <p:spPr>
          <a:xfrm>
            <a:off x="6949440" y="5611368"/>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33" name="callout-180"/>
          <p:cNvSpPr txBox="1"/>
          <p:nvPr/>
        </p:nvSpPr>
        <p:spPr>
          <a:xfrm>
            <a:off x="7406640" y="5593080"/>
            <a:ext cx="429768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depends_on for hidden ordering</a:t>
            </a:r>
            <a:endParaRPr lang="en-US" sz="1500" dirty="0"/>
          </a:p>
          <a:p>
            <a:pPr indent="0" marL="0">
              <a:spcAft>
                <a:spcPts val="200"/>
              </a:spcAft>
              <a:buNone/>
            </a:pPr>
            <a:r>
              <a:rPr lang="en-US" sz="1400" dirty="0">
                <a:solidFill>
                  <a:schemeClr val="tx1"/>
                </a:solidFill>
              </a:rPr>
              <a:t>When the link is real but not visible in the code, you state it.</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Six expressions you will see everywhere</a:t>
            </a:r>
            <a:endParaRPr lang="en-US" sz="3400" dirty="0"/>
          </a:p>
        </p:txBody>
      </p:sp>
      <p:sp>
        <p:nvSpPr>
          <p:cNvPr id="3" name="card-181"/>
          <p:cNvSpPr/>
          <p:nvPr/>
        </p:nvSpPr>
        <p:spPr>
          <a:xfrm>
            <a:off x="502920" y="1234440"/>
            <a:ext cx="3611880" cy="2377440"/>
          </a:xfrm>
          <a:prstGeom prst="roundRect">
            <a:avLst>
              <a:gd name="adj" fmla="val 3846"/>
            </a:avLst>
          </a:prstGeom>
          <a:solidFill>
            <a:schemeClr val="bg2"/>
          </a:solidFill>
          <a:ln w="12700">
            <a:solidFill>
              <a:schemeClr val="bg2"/>
            </a:solidFill>
            <a:prstDash val="solid"/>
          </a:ln>
        </p:spPr>
      </p:sp>
      <p:sp>
        <p:nvSpPr>
          <p:cNvPr id="4" name="text-182"/>
          <p:cNvSpPr txBox="1"/>
          <p:nvPr/>
        </p:nvSpPr>
        <p:spPr>
          <a:xfrm>
            <a:off x="731520" y="1399032"/>
            <a:ext cx="3200400" cy="320040"/>
          </a:xfrm>
          <a:prstGeom prst="rect">
            <a:avLst/>
          </a:prstGeom>
          <a:noFill/>
          <a:ln/>
        </p:spPr>
        <p:txBody>
          <a:bodyPr wrap="square" lIns="0" tIns="0" rIns="0" bIns="0" rtlCol="0" anchor="t"/>
          <a:lstStyle/>
          <a:p>
            <a:pPr indent="0" marL="0">
              <a:buNone/>
            </a:pPr>
            <a:r>
              <a:rPr lang="en-US" sz="1600" b="1" dirty="0">
                <a:solidFill>
                  <a:schemeClr val="accent1"/>
                </a:solidFill>
              </a:rPr>
              <a:t>String interpolation</a:t>
            </a:r>
            <a:endParaRPr lang="en-US" sz="1600" dirty="0"/>
          </a:p>
        </p:txBody>
      </p:sp>
      <p:sp>
        <p:nvSpPr>
          <p:cNvPr id="5" name="text-183"/>
          <p:cNvSpPr txBox="1"/>
          <p:nvPr/>
        </p:nvSpPr>
        <p:spPr>
          <a:xfrm>
            <a:off x="731520" y="1737360"/>
            <a:ext cx="3200400" cy="320040"/>
          </a:xfrm>
          <a:prstGeom prst="rect">
            <a:avLst/>
          </a:prstGeom>
          <a:noFill/>
          <a:ln/>
        </p:spPr>
        <p:txBody>
          <a:bodyPr wrap="square" lIns="0" tIns="0" rIns="0" bIns="0" rtlCol="0" anchor="t"/>
          <a:lstStyle/>
          <a:p>
            <a:pPr indent="0" marL="0">
              <a:buNone/>
            </a:pPr>
            <a:r>
              <a:rPr lang="en-US" sz="1400" dirty="0">
                <a:solidFill>
                  <a:schemeClr val="tx1"/>
                </a:solidFill>
              </a:rPr>
              <a:t>Insert a value into a string</a:t>
            </a:r>
            <a:endParaRPr lang="en-US" sz="1400" dirty="0"/>
          </a:p>
        </p:txBody>
      </p:sp>
      <p:sp>
        <p:nvSpPr>
          <p:cNvPr id="6" name="code-bg-184"/>
          <p:cNvSpPr/>
          <p:nvPr/>
        </p:nvSpPr>
        <p:spPr>
          <a:xfrm>
            <a:off x="731520" y="2194560"/>
            <a:ext cx="3154680" cy="506984"/>
          </a:xfrm>
          <a:prstGeom prst="roundRect">
            <a:avLst>
              <a:gd name="adj" fmla="val 14429"/>
            </a:avLst>
          </a:prstGeom>
          <a:solidFill>
            <a:schemeClr val="tx1"/>
          </a:solidFill>
          <a:ln w="12700">
            <a:solidFill>
              <a:schemeClr val="tx1"/>
            </a:solidFill>
            <a:prstDash val="solid"/>
          </a:ln>
        </p:spPr>
      </p:sp>
      <p:sp>
        <p:nvSpPr>
          <p:cNvPr id="7" name="code-185"/>
          <p:cNvSpPr txBox="1"/>
          <p:nvPr/>
        </p:nvSpPr>
        <p:spPr>
          <a:xfrm>
            <a:off x="914400" y="2359152"/>
            <a:ext cx="2834640" cy="196088"/>
          </a:xfrm>
          <a:prstGeom prst="rect">
            <a:avLst/>
          </a:prstGeom>
          <a:noFill/>
          <a:ln/>
        </p:spPr>
        <p:txBody>
          <a:bodyPr wrap="square" lIns="0" tIns="0" rIns="0" bIns="0" rtlCol="0" anchor="t"/>
          <a:lstStyle/>
          <a:p>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"${var.name_prefix}-tfstate"</a:t>
            </a:r>
            <a:endParaRPr lang="en-US" sz="1100" dirty="0"/>
          </a:p>
        </p:txBody>
      </p:sp>
      <p:sp>
        <p:nvSpPr>
          <p:cNvPr id="8" name="card-186"/>
          <p:cNvSpPr/>
          <p:nvPr/>
        </p:nvSpPr>
        <p:spPr>
          <a:xfrm>
            <a:off x="4297680" y="1234440"/>
            <a:ext cx="3611880" cy="2377440"/>
          </a:xfrm>
          <a:prstGeom prst="roundRect">
            <a:avLst>
              <a:gd name="adj" fmla="val 3846"/>
            </a:avLst>
          </a:prstGeom>
          <a:solidFill>
            <a:schemeClr val="bg2"/>
          </a:solidFill>
          <a:ln w="12700">
            <a:solidFill>
              <a:schemeClr val="bg2"/>
            </a:solidFill>
            <a:prstDash val="solid"/>
          </a:ln>
        </p:spPr>
      </p:sp>
      <p:sp>
        <p:nvSpPr>
          <p:cNvPr id="9" name="text-187"/>
          <p:cNvSpPr txBox="1"/>
          <p:nvPr/>
        </p:nvSpPr>
        <p:spPr>
          <a:xfrm>
            <a:off x="4526280" y="1399032"/>
            <a:ext cx="3200400" cy="320040"/>
          </a:xfrm>
          <a:prstGeom prst="rect">
            <a:avLst/>
          </a:prstGeom>
          <a:noFill/>
          <a:ln/>
        </p:spPr>
        <p:txBody>
          <a:bodyPr wrap="square" lIns="0" tIns="0" rIns="0" bIns="0" rtlCol="0" anchor="t"/>
          <a:lstStyle/>
          <a:p>
            <a:pPr indent="0" marL="0">
              <a:buNone/>
            </a:pPr>
            <a:r>
              <a:rPr lang="en-US" sz="1600" b="1" dirty="0">
                <a:solidFill>
                  <a:schemeClr val="accent1"/>
                </a:solidFill>
              </a:rPr>
              <a:t>jsonencode()</a:t>
            </a:r>
            <a:endParaRPr lang="en-US" sz="1600" dirty="0"/>
          </a:p>
        </p:txBody>
      </p:sp>
      <p:sp>
        <p:nvSpPr>
          <p:cNvPr id="10" name="text-188"/>
          <p:cNvSpPr txBox="1"/>
          <p:nvPr/>
        </p:nvSpPr>
        <p:spPr>
          <a:xfrm>
            <a:off x="4526280" y="1737360"/>
            <a:ext cx="3200400" cy="320040"/>
          </a:xfrm>
          <a:prstGeom prst="rect">
            <a:avLst/>
          </a:prstGeom>
          <a:noFill/>
          <a:ln/>
        </p:spPr>
        <p:txBody>
          <a:bodyPr wrap="square" lIns="0" tIns="0" rIns="0" bIns="0" rtlCol="0" anchor="t"/>
          <a:lstStyle/>
          <a:p>
            <a:pPr indent="0" marL="0">
              <a:buNone/>
            </a:pPr>
            <a:r>
              <a:rPr lang="en-US" sz="1400" dirty="0">
                <a:solidFill>
                  <a:schemeClr val="tx1"/>
                </a:solidFill>
              </a:rPr>
              <a:t>Write IAM JSON as HCL maps</a:t>
            </a:r>
            <a:endParaRPr lang="en-US" sz="1400" dirty="0"/>
          </a:p>
        </p:txBody>
      </p:sp>
      <p:sp>
        <p:nvSpPr>
          <p:cNvPr id="11" name="code-bg-189"/>
          <p:cNvSpPr/>
          <p:nvPr/>
        </p:nvSpPr>
        <p:spPr>
          <a:xfrm>
            <a:off x="4526280" y="2194560"/>
            <a:ext cx="3154680" cy="862584"/>
          </a:xfrm>
          <a:prstGeom prst="roundRect">
            <a:avLst>
              <a:gd name="adj" fmla="val 8481"/>
            </a:avLst>
          </a:prstGeom>
          <a:solidFill>
            <a:schemeClr val="tx1"/>
          </a:solidFill>
          <a:ln w="12700">
            <a:solidFill>
              <a:schemeClr val="tx1"/>
            </a:solidFill>
            <a:prstDash val="solid"/>
          </a:ln>
        </p:spPr>
      </p:sp>
      <p:sp>
        <p:nvSpPr>
          <p:cNvPr id="12" name="code-190"/>
          <p:cNvSpPr txBox="1"/>
          <p:nvPr/>
        </p:nvSpPr>
        <p:spPr>
          <a:xfrm>
            <a:off x="4709160" y="2359152"/>
            <a:ext cx="2834640" cy="551688"/>
          </a:xfrm>
          <a:prstGeom prst="rect">
            <a:avLst/>
          </a:prstGeom>
          <a:noFill/>
          <a:ln/>
        </p:spPr>
        <p:txBody>
          <a:bodyPr wrap="square" lIns="0" tIns="0" rIns="0" bIns="0" rtlCol="0" anchor="t"/>
          <a:lstStyle/>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policy</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jsonencode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Version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"2012-10-17"</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13" name="card-191"/>
          <p:cNvSpPr/>
          <p:nvPr/>
        </p:nvSpPr>
        <p:spPr>
          <a:xfrm>
            <a:off x="8092440" y="1234440"/>
            <a:ext cx="3611880" cy="2377440"/>
          </a:xfrm>
          <a:prstGeom prst="roundRect">
            <a:avLst>
              <a:gd name="adj" fmla="val 3846"/>
            </a:avLst>
          </a:prstGeom>
          <a:solidFill>
            <a:schemeClr val="bg2"/>
          </a:solidFill>
          <a:ln w="12700">
            <a:solidFill>
              <a:schemeClr val="bg2"/>
            </a:solidFill>
            <a:prstDash val="solid"/>
          </a:ln>
        </p:spPr>
      </p:sp>
      <p:sp>
        <p:nvSpPr>
          <p:cNvPr id="14" name="text-192"/>
          <p:cNvSpPr txBox="1"/>
          <p:nvPr/>
        </p:nvSpPr>
        <p:spPr>
          <a:xfrm>
            <a:off x="8321040" y="1399032"/>
            <a:ext cx="3200400" cy="320040"/>
          </a:xfrm>
          <a:prstGeom prst="rect">
            <a:avLst/>
          </a:prstGeom>
          <a:noFill/>
          <a:ln/>
        </p:spPr>
        <p:txBody>
          <a:bodyPr wrap="square" lIns="0" tIns="0" rIns="0" bIns="0" rtlCol="0" anchor="t"/>
          <a:lstStyle/>
          <a:p>
            <a:pPr indent="0" marL="0">
              <a:buNone/>
            </a:pPr>
            <a:r>
              <a:rPr lang="en-US" sz="1600" b="1" dirty="0">
                <a:solidFill>
                  <a:schemeClr val="accent1"/>
                </a:solidFill>
              </a:rPr>
              <a:t>for_each</a:t>
            </a:r>
            <a:endParaRPr lang="en-US" sz="1600" dirty="0"/>
          </a:p>
        </p:txBody>
      </p:sp>
      <p:sp>
        <p:nvSpPr>
          <p:cNvPr id="15" name="text-193"/>
          <p:cNvSpPr txBox="1"/>
          <p:nvPr/>
        </p:nvSpPr>
        <p:spPr>
          <a:xfrm>
            <a:off x="8321040" y="1737360"/>
            <a:ext cx="3200400" cy="320040"/>
          </a:xfrm>
          <a:prstGeom prst="rect">
            <a:avLst/>
          </a:prstGeom>
          <a:noFill/>
          <a:ln/>
        </p:spPr>
        <p:txBody>
          <a:bodyPr wrap="square" lIns="0" tIns="0" rIns="0" bIns="0" rtlCol="0" anchor="t"/>
          <a:lstStyle/>
          <a:p>
            <a:pPr indent="0" marL="0">
              <a:buNone/>
            </a:pPr>
            <a:r>
              <a:rPr lang="en-US" sz="1400" dirty="0">
                <a:solidFill>
                  <a:schemeClr val="tx1"/>
                </a:solidFill>
              </a:rPr>
              <a:t>One resource per map entry</a:t>
            </a:r>
            <a:endParaRPr lang="en-US" sz="1400" dirty="0"/>
          </a:p>
        </p:txBody>
      </p:sp>
      <p:sp>
        <p:nvSpPr>
          <p:cNvPr id="16" name="code-bg-194"/>
          <p:cNvSpPr/>
          <p:nvPr/>
        </p:nvSpPr>
        <p:spPr>
          <a:xfrm>
            <a:off x="8321040" y="2194560"/>
            <a:ext cx="3154680" cy="684784"/>
          </a:xfrm>
          <a:prstGeom prst="roundRect">
            <a:avLst>
              <a:gd name="adj" fmla="val 10682"/>
            </a:avLst>
          </a:prstGeom>
          <a:solidFill>
            <a:schemeClr val="tx1"/>
          </a:solidFill>
          <a:ln w="12700">
            <a:solidFill>
              <a:schemeClr val="tx1"/>
            </a:solidFill>
            <a:prstDash val="solid"/>
          </a:ln>
        </p:spPr>
      </p:sp>
      <p:sp>
        <p:nvSpPr>
          <p:cNvPr id="17" name="code-195"/>
          <p:cNvSpPr txBox="1"/>
          <p:nvPr/>
        </p:nvSpPr>
        <p:spPr>
          <a:xfrm>
            <a:off x="8503920" y="2359152"/>
            <a:ext cx="2834640" cy="373888"/>
          </a:xfrm>
          <a:prstGeom prst="rect">
            <a:avLst/>
          </a:prstGeom>
          <a:noFill/>
          <a:ln/>
        </p:spPr>
        <p:txBody>
          <a:bodyPr wrap="square" lIns="0" tIns="0" rIns="0" bIns="0" rtlCol="0" anchor="t"/>
          <a:lstStyle/>
          <a:p>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for_each</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local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accounts</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name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each</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value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name</a:t>
            </a:r>
            <a:endParaRPr lang="en-US" sz="1100" dirty="0"/>
          </a:p>
        </p:txBody>
      </p:sp>
      <p:sp>
        <p:nvSpPr>
          <p:cNvPr id="18" name="card-196"/>
          <p:cNvSpPr/>
          <p:nvPr/>
        </p:nvSpPr>
        <p:spPr>
          <a:xfrm>
            <a:off x="502920" y="3794760"/>
            <a:ext cx="3611880" cy="2377440"/>
          </a:xfrm>
          <a:prstGeom prst="roundRect">
            <a:avLst>
              <a:gd name="adj" fmla="val 3846"/>
            </a:avLst>
          </a:prstGeom>
          <a:solidFill>
            <a:schemeClr val="bg2"/>
          </a:solidFill>
          <a:ln w="12700">
            <a:solidFill>
              <a:schemeClr val="bg2"/>
            </a:solidFill>
            <a:prstDash val="solid"/>
          </a:ln>
        </p:spPr>
      </p:sp>
      <p:sp>
        <p:nvSpPr>
          <p:cNvPr id="19" name="text-197"/>
          <p:cNvSpPr txBox="1"/>
          <p:nvPr/>
        </p:nvSpPr>
        <p:spPr>
          <a:xfrm>
            <a:off x="731520" y="3959352"/>
            <a:ext cx="3200400" cy="320040"/>
          </a:xfrm>
          <a:prstGeom prst="rect">
            <a:avLst/>
          </a:prstGeom>
          <a:noFill/>
          <a:ln/>
        </p:spPr>
        <p:txBody>
          <a:bodyPr wrap="square" lIns="0" tIns="0" rIns="0" bIns="0" rtlCol="0" anchor="t"/>
          <a:lstStyle/>
          <a:p>
            <a:pPr indent="0" marL="0">
              <a:buNone/>
            </a:pPr>
            <a:r>
              <a:rPr lang="en-US" sz="1600" b="1" dirty="0">
                <a:solidFill>
                  <a:schemeClr val="accent1"/>
                </a:solidFill>
              </a:rPr>
              <a:t>for expression</a:t>
            </a:r>
            <a:endParaRPr lang="en-US" sz="1600" dirty="0"/>
          </a:p>
        </p:txBody>
      </p:sp>
      <p:sp>
        <p:nvSpPr>
          <p:cNvPr id="20" name="text-198"/>
          <p:cNvSpPr txBox="1"/>
          <p:nvPr/>
        </p:nvSpPr>
        <p:spPr>
          <a:xfrm>
            <a:off x="731520" y="4297680"/>
            <a:ext cx="3200400" cy="320040"/>
          </a:xfrm>
          <a:prstGeom prst="rect">
            <a:avLst/>
          </a:prstGeom>
          <a:noFill/>
          <a:ln/>
        </p:spPr>
        <p:txBody>
          <a:bodyPr wrap="square" lIns="0" tIns="0" rIns="0" bIns="0" rtlCol="0" anchor="t"/>
          <a:lstStyle/>
          <a:p>
            <a:pPr indent="0" marL="0">
              <a:buNone/>
            </a:pPr>
            <a:r>
              <a:rPr lang="en-US" sz="1400" dirty="0">
                <a:solidFill>
                  <a:schemeClr val="tx1"/>
                </a:solidFill>
              </a:rPr>
              <a:t>Like a list comprehension</a:t>
            </a:r>
            <a:endParaRPr lang="en-US" sz="1400" dirty="0"/>
          </a:p>
        </p:txBody>
      </p:sp>
      <p:sp>
        <p:nvSpPr>
          <p:cNvPr id="21" name="code-bg-199"/>
          <p:cNvSpPr/>
          <p:nvPr/>
        </p:nvSpPr>
        <p:spPr>
          <a:xfrm>
            <a:off x="731520" y="4754880"/>
            <a:ext cx="3154680" cy="684784"/>
          </a:xfrm>
          <a:prstGeom prst="roundRect">
            <a:avLst>
              <a:gd name="adj" fmla="val 10682"/>
            </a:avLst>
          </a:prstGeom>
          <a:solidFill>
            <a:schemeClr val="tx1"/>
          </a:solidFill>
          <a:ln w="12700">
            <a:solidFill>
              <a:schemeClr val="tx1"/>
            </a:solidFill>
            <a:prstDash val="solid"/>
          </a:ln>
        </p:spPr>
      </p:sp>
      <p:sp>
        <p:nvSpPr>
          <p:cNvPr id="22" name="code-200"/>
          <p:cNvSpPr txBox="1"/>
          <p:nvPr/>
        </p:nvSpPr>
        <p:spPr>
          <a:xfrm>
            <a:off x="914400" y="4919472"/>
            <a:ext cx="2834640" cy="373888"/>
          </a:xfrm>
          <a:prstGeom prst="rect">
            <a:avLst/>
          </a:prstGeom>
          <a:noFill/>
          <a:ln/>
        </p:spPr>
        <p:txBody>
          <a:bodyPr wrap="square" lIns="0" tIns="0" rIns="0" bIns="0" rtlCol="0" anchor="t"/>
          <a:lstStyle/>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for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in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local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accts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id</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23" name="card-201"/>
          <p:cNvSpPr/>
          <p:nvPr/>
        </p:nvSpPr>
        <p:spPr>
          <a:xfrm>
            <a:off x="4297680" y="3794760"/>
            <a:ext cx="3611880" cy="2377440"/>
          </a:xfrm>
          <a:prstGeom prst="roundRect">
            <a:avLst>
              <a:gd name="adj" fmla="val 3846"/>
            </a:avLst>
          </a:prstGeom>
          <a:solidFill>
            <a:schemeClr val="bg2"/>
          </a:solidFill>
          <a:ln w="12700">
            <a:solidFill>
              <a:schemeClr val="bg2"/>
            </a:solidFill>
            <a:prstDash val="solid"/>
          </a:ln>
        </p:spPr>
      </p:sp>
      <p:sp>
        <p:nvSpPr>
          <p:cNvPr id="24" name="text-202"/>
          <p:cNvSpPr txBox="1"/>
          <p:nvPr/>
        </p:nvSpPr>
        <p:spPr>
          <a:xfrm>
            <a:off x="4526280" y="3959352"/>
            <a:ext cx="3200400" cy="320040"/>
          </a:xfrm>
          <a:prstGeom prst="rect">
            <a:avLst/>
          </a:prstGeom>
          <a:noFill/>
          <a:ln/>
        </p:spPr>
        <p:txBody>
          <a:bodyPr wrap="square" lIns="0" tIns="0" rIns="0" bIns="0" rtlCol="0" anchor="t"/>
          <a:lstStyle/>
          <a:p>
            <a:pPr indent="0" marL="0">
              <a:buNone/>
            </a:pPr>
            <a:r>
              <a:rPr lang="en-US" sz="1600" b="1" dirty="0">
                <a:solidFill>
                  <a:schemeClr val="accent1"/>
                </a:solidFill>
              </a:rPr>
              <a:t>Conditional + count</a:t>
            </a:r>
            <a:endParaRPr lang="en-US" sz="1600" dirty="0"/>
          </a:p>
        </p:txBody>
      </p:sp>
      <p:sp>
        <p:nvSpPr>
          <p:cNvPr id="25" name="text-203"/>
          <p:cNvSpPr txBox="1"/>
          <p:nvPr/>
        </p:nvSpPr>
        <p:spPr>
          <a:xfrm>
            <a:off x="4526280" y="4297680"/>
            <a:ext cx="3200400" cy="320040"/>
          </a:xfrm>
          <a:prstGeom prst="rect">
            <a:avLst/>
          </a:prstGeom>
          <a:noFill/>
          <a:ln/>
        </p:spPr>
        <p:txBody>
          <a:bodyPr wrap="square" lIns="0" tIns="0" rIns="0" bIns="0" rtlCol="0" anchor="t"/>
          <a:lstStyle/>
          <a:p>
            <a:pPr indent="0" marL="0">
              <a:buNone/>
            </a:pPr>
            <a:r>
              <a:rPr lang="en-US" sz="1400" dirty="0">
                <a:solidFill>
                  <a:schemeClr val="tx1"/>
                </a:solidFill>
              </a:rPr>
              <a:t>Optional resource: 0 or 1</a:t>
            </a:r>
            <a:endParaRPr lang="en-US" sz="1400" dirty="0"/>
          </a:p>
        </p:txBody>
      </p:sp>
      <p:sp>
        <p:nvSpPr>
          <p:cNvPr id="26" name="code-bg-204"/>
          <p:cNvSpPr/>
          <p:nvPr/>
        </p:nvSpPr>
        <p:spPr>
          <a:xfrm>
            <a:off x="4526280" y="4754880"/>
            <a:ext cx="3154680" cy="506984"/>
          </a:xfrm>
          <a:prstGeom prst="roundRect">
            <a:avLst>
              <a:gd name="adj" fmla="val 14429"/>
            </a:avLst>
          </a:prstGeom>
          <a:solidFill>
            <a:schemeClr val="tx1"/>
          </a:solidFill>
          <a:ln w="12700">
            <a:solidFill>
              <a:schemeClr val="tx1"/>
            </a:solidFill>
            <a:prstDash val="solid"/>
          </a:ln>
        </p:spPr>
      </p:sp>
      <p:sp>
        <p:nvSpPr>
          <p:cNvPr id="27" name="code-205"/>
          <p:cNvSpPr txBox="1"/>
          <p:nvPr/>
        </p:nvSpPr>
        <p:spPr>
          <a:xfrm>
            <a:off x="4709160" y="4919472"/>
            <a:ext cx="2834640" cy="196088"/>
          </a:xfrm>
          <a:prstGeom prst="rect">
            <a:avLst/>
          </a:prstGeom>
          <a:noFill/>
          <a:ln/>
        </p:spPr>
        <p:txBody>
          <a:bodyPr wrap="square" lIns="0" tIns="0" rIns="0" bIns="0" rtlCol="0" anchor="t"/>
          <a:lstStyle/>
          <a:p>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count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var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enable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1</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0</a:t>
            </a:r>
            <a:endParaRPr lang="en-US" sz="1100" dirty="0"/>
          </a:p>
        </p:txBody>
      </p:sp>
      <p:sp>
        <p:nvSpPr>
          <p:cNvPr id="28" name="card-206"/>
          <p:cNvSpPr/>
          <p:nvPr/>
        </p:nvSpPr>
        <p:spPr>
          <a:xfrm>
            <a:off x="8092440" y="3794760"/>
            <a:ext cx="3611880" cy="2377440"/>
          </a:xfrm>
          <a:prstGeom prst="roundRect">
            <a:avLst>
              <a:gd name="adj" fmla="val 3846"/>
            </a:avLst>
          </a:prstGeom>
          <a:solidFill>
            <a:schemeClr val="bg2"/>
          </a:solidFill>
          <a:ln w="12700">
            <a:solidFill>
              <a:schemeClr val="bg2"/>
            </a:solidFill>
            <a:prstDash val="solid"/>
          </a:ln>
        </p:spPr>
      </p:sp>
      <p:sp>
        <p:nvSpPr>
          <p:cNvPr id="29" name="text-207"/>
          <p:cNvSpPr txBox="1"/>
          <p:nvPr/>
        </p:nvSpPr>
        <p:spPr>
          <a:xfrm>
            <a:off x="8321040" y="3959352"/>
            <a:ext cx="3200400" cy="320040"/>
          </a:xfrm>
          <a:prstGeom prst="rect">
            <a:avLst/>
          </a:prstGeom>
          <a:noFill/>
          <a:ln/>
        </p:spPr>
        <p:txBody>
          <a:bodyPr wrap="square" lIns="0" tIns="0" rIns="0" bIns="0" rtlCol="0" anchor="t"/>
          <a:lstStyle/>
          <a:p>
            <a:pPr indent="0" marL="0">
              <a:buNone/>
            </a:pPr>
            <a:r>
              <a:rPr lang="en-US" sz="1600" b="1" dirty="0">
                <a:solidFill>
                  <a:schemeClr val="accent1"/>
                </a:solidFill>
              </a:rPr>
              <a:t>merge([...]...)</a:t>
            </a:r>
            <a:endParaRPr lang="en-US" sz="1600" dirty="0"/>
          </a:p>
        </p:txBody>
      </p:sp>
      <p:sp>
        <p:nvSpPr>
          <p:cNvPr id="30" name="text-208"/>
          <p:cNvSpPr txBox="1"/>
          <p:nvPr/>
        </p:nvSpPr>
        <p:spPr>
          <a:xfrm>
            <a:off x="8321040" y="4297680"/>
            <a:ext cx="3200400" cy="320040"/>
          </a:xfrm>
          <a:prstGeom prst="rect">
            <a:avLst/>
          </a:prstGeom>
          <a:noFill/>
          <a:ln/>
        </p:spPr>
        <p:txBody>
          <a:bodyPr wrap="square" lIns="0" tIns="0" rIns="0" bIns="0" rtlCol="0" anchor="t"/>
          <a:lstStyle/>
          <a:p>
            <a:pPr indent="0" marL="0">
              <a:buNone/>
            </a:pPr>
            <a:r>
              <a:rPr lang="en-US" sz="1400" dirty="0">
                <a:solidFill>
                  <a:schemeClr val="tx1"/>
                </a:solidFill>
              </a:rPr>
              <a:t>Spread a list of maps into one</a:t>
            </a:r>
            <a:endParaRPr lang="en-US" sz="1400" dirty="0"/>
          </a:p>
        </p:txBody>
      </p:sp>
      <p:sp>
        <p:nvSpPr>
          <p:cNvPr id="31" name="code-bg-209"/>
          <p:cNvSpPr/>
          <p:nvPr/>
        </p:nvSpPr>
        <p:spPr>
          <a:xfrm>
            <a:off x="8321040" y="4754880"/>
            <a:ext cx="3154680" cy="684784"/>
          </a:xfrm>
          <a:prstGeom prst="roundRect">
            <a:avLst>
              <a:gd name="adj" fmla="val 10682"/>
            </a:avLst>
          </a:prstGeom>
          <a:solidFill>
            <a:schemeClr val="tx1"/>
          </a:solidFill>
          <a:ln w="12700">
            <a:solidFill>
              <a:schemeClr val="tx1"/>
            </a:solidFill>
            <a:prstDash val="solid"/>
          </a:ln>
        </p:spPr>
      </p:sp>
      <p:sp>
        <p:nvSpPr>
          <p:cNvPr id="32" name="code-210"/>
          <p:cNvSpPr txBox="1"/>
          <p:nvPr/>
        </p:nvSpPr>
        <p:spPr>
          <a:xfrm>
            <a:off x="8503920" y="4919472"/>
            <a:ext cx="2834640" cy="373888"/>
          </a:xfrm>
          <a:prstGeom prst="rect">
            <a:avLst/>
          </a:prstGeom>
          <a:noFill/>
          <a:ln/>
        </p:spPr>
        <p:txBody>
          <a:bodyPr wrap="square" lIns="0" tIns="0" rIns="0" bIns="0" rtlCol="0" anchor="t"/>
          <a:lstStyle/>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merge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for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x</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in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xs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x</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k</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x</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The everyday workflow</a:t>
            </a:r>
            <a:endParaRPr lang="en-US" sz="3400" dirty="0"/>
          </a:p>
        </p:txBody>
      </p:sp>
      <p:sp>
        <p:nvSpPr>
          <p:cNvPr id="3" name="box-211"/>
          <p:cNvSpPr/>
          <p:nvPr/>
        </p:nvSpPr>
        <p:spPr>
          <a:xfrm>
            <a:off x="914400" y="1371600"/>
            <a:ext cx="914400" cy="914400"/>
          </a:xfrm>
          <a:prstGeom prst="ellipse">
            <a:avLst/>
          </a:prstGeom>
          <a:solidFill>
            <a:schemeClr val="accent1"/>
          </a:solidFill>
          <a:ln w="9525">
            <a:solidFill>
              <a:schemeClr val="accent1"/>
            </a:solidFill>
            <a:prstDash val="solid"/>
          </a:ln>
        </p:spPr>
      </p:sp>
      <p:sp>
        <p:nvSpPr>
          <p:cNvPr id="4" name="box-t-212"/>
          <p:cNvSpPr txBox="1"/>
          <p:nvPr/>
        </p:nvSpPr>
        <p:spPr>
          <a:xfrm>
            <a:off x="960120" y="1371600"/>
            <a:ext cx="822960" cy="914400"/>
          </a:xfrm>
          <a:prstGeom prst="rect">
            <a:avLst/>
          </a:prstGeom>
          <a:noFill/>
          <a:ln/>
        </p:spPr>
        <p:txBody>
          <a:bodyPr wrap="square" lIns="508" tIns="508" rIns="508" bIns="508" rtlCol="0" anchor="ctr"/>
          <a:lstStyle/>
          <a:p>
            <a:pPr algn="ctr" indent="0" marL="0">
              <a:buNone/>
            </a:pPr>
            <a:r>
              <a:rPr lang="en-US" sz="2200" b="1" dirty="0">
                <a:solidFill>
                  <a:schemeClr val="bg1"/>
                </a:solidFill>
              </a:rPr>
              <a:t>1</a:t>
            </a:r>
            <a:endParaRPr lang="en-US" sz="2200" dirty="0"/>
          </a:p>
        </p:txBody>
      </p:sp>
      <p:sp>
        <p:nvSpPr>
          <p:cNvPr id="5" name="arrow-213"/>
          <p:cNvSpPr/>
          <p:nvPr/>
        </p:nvSpPr>
        <p:spPr>
          <a:xfrm>
            <a:off x="1847088" y="1828800"/>
            <a:ext cx="941832" cy="0"/>
          </a:xfrm>
          <a:prstGeom prst="line">
            <a:avLst/>
          </a:prstGeom>
          <a:noFill/>
          <a:ln w="25400">
            <a:solidFill>
              <a:schemeClr val="accent5"/>
            </a:solidFill>
            <a:prstDash val="solid"/>
            <a:tailEnd type="triangle"/>
          </a:ln>
        </p:spPr>
      </p:sp>
      <p:sp>
        <p:nvSpPr>
          <p:cNvPr id="6" name="text-214"/>
          <p:cNvSpPr txBox="1"/>
          <p:nvPr/>
        </p:nvSpPr>
        <p:spPr>
          <a:xfrm>
            <a:off x="502920" y="2468880"/>
            <a:ext cx="1783080" cy="548640"/>
          </a:xfrm>
          <a:prstGeom prst="rect">
            <a:avLst/>
          </a:prstGeom>
          <a:noFill/>
          <a:ln/>
        </p:spPr>
        <p:txBody>
          <a:bodyPr wrap="square" lIns="0" tIns="0" rIns="0" bIns="0" rtlCol="0" anchor="t"/>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terraform</a:t>
            </a:r>
            <a:endParaRPr lang="en-US" sz="1400" dirty="0"/>
          </a:p>
          <a:p>
            <a:pPr algn="ctr" indent="0" marL="0">
              <a:buNone/>
            </a:pPr>
            <a:r>
              <a:rPr lang="en-US" sz="1400" b="1" dirty="0">
                <a:solidFill>
                  <a:schemeClr val="tx1"/>
                </a:solidFill>
                <a:latin typeface="Courier New" pitchFamily="34" charset="0"/>
                <a:ea typeface="Courier New" pitchFamily="34" charset="-122"/>
                <a:cs typeface="Courier New" pitchFamily="34" charset="-120"/>
              </a:rPr>
              <a:t>init</a:t>
            </a:r>
            <a:endParaRPr lang="en-US" sz="1400" dirty="0"/>
          </a:p>
        </p:txBody>
      </p:sp>
      <p:sp>
        <p:nvSpPr>
          <p:cNvPr id="7" name="text-215"/>
          <p:cNvSpPr txBox="1"/>
          <p:nvPr/>
        </p:nvSpPr>
        <p:spPr>
          <a:xfrm>
            <a:off x="548640" y="3108960"/>
            <a:ext cx="1691640" cy="1371600"/>
          </a:xfrm>
          <a:prstGeom prst="rect">
            <a:avLst/>
          </a:prstGeom>
          <a:noFill/>
          <a:ln/>
        </p:spPr>
        <p:txBody>
          <a:bodyPr wrap="square" lIns="0" tIns="0" rIns="0" bIns="0" rtlCol="0" anchor="t"/>
          <a:lstStyle/>
          <a:p>
            <a:pPr algn="l" indent="0" marL="0">
              <a:buNone/>
            </a:pPr>
            <a:r>
              <a:rPr lang="en-US" sz="1300" dirty="0">
                <a:solidFill>
                  <a:schemeClr val="tx1"/>
                </a:solidFill>
              </a:rPr>
              <a:t>Downloads providers and connects the state backend. Run once per folder.</a:t>
            </a:r>
            <a:endParaRPr lang="en-US" sz="1300" dirty="0"/>
          </a:p>
        </p:txBody>
      </p:sp>
      <p:sp>
        <p:nvSpPr>
          <p:cNvPr id="8" name="box-216"/>
          <p:cNvSpPr/>
          <p:nvPr/>
        </p:nvSpPr>
        <p:spPr>
          <a:xfrm>
            <a:off x="2807208" y="1371600"/>
            <a:ext cx="914400" cy="914400"/>
          </a:xfrm>
          <a:prstGeom prst="ellipse">
            <a:avLst/>
          </a:prstGeom>
          <a:solidFill>
            <a:schemeClr val="accent1"/>
          </a:solidFill>
          <a:ln w="9525">
            <a:solidFill>
              <a:schemeClr val="accent1"/>
            </a:solidFill>
            <a:prstDash val="solid"/>
          </a:ln>
        </p:spPr>
      </p:sp>
      <p:sp>
        <p:nvSpPr>
          <p:cNvPr id="9" name="box-t-217"/>
          <p:cNvSpPr txBox="1"/>
          <p:nvPr/>
        </p:nvSpPr>
        <p:spPr>
          <a:xfrm>
            <a:off x="2852928" y="1371600"/>
            <a:ext cx="822960" cy="914400"/>
          </a:xfrm>
          <a:prstGeom prst="rect">
            <a:avLst/>
          </a:prstGeom>
          <a:noFill/>
          <a:ln/>
        </p:spPr>
        <p:txBody>
          <a:bodyPr wrap="square" lIns="508" tIns="508" rIns="508" bIns="508" rtlCol="0" anchor="ctr"/>
          <a:lstStyle/>
          <a:p>
            <a:pPr algn="ctr" indent="0" marL="0">
              <a:buNone/>
            </a:pPr>
            <a:r>
              <a:rPr lang="en-US" sz="2200" b="1" dirty="0">
                <a:solidFill>
                  <a:schemeClr val="bg1"/>
                </a:solidFill>
              </a:rPr>
              <a:t>2</a:t>
            </a:r>
            <a:endParaRPr lang="en-US" sz="2200" dirty="0"/>
          </a:p>
        </p:txBody>
      </p:sp>
      <p:sp>
        <p:nvSpPr>
          <p:cNvPr id="10" name="arrow-218"/>
          <p:cNvSpPr/>
          <p:nvPr/>
        </p:nvSpPr>
        <p:spPr>
          <a:xfrm>
            <a:off x="3739896" y="1828800"/>
            <a:ext cx="941832" cy="0"/>
          </a:xfrm>
          <a:prstGeom prst="line">
            <a:avLst/>
          </a:prstGeom>
          <a:noFill/>
          <a:ln w="25400">
            <a:solidFill>
              <a:schemeClr val="accent5"/>
            </a:solidFill>
            <a:prstDash val="solid"/>
            <a:tailEnd type="triangle"/>
          </a:ln>
        </p:spPr>
      </p:sp>
      <p:sp>
        <p:nvSpPr>
          <p:cNvPr id="11" name="text-219"/>
          <p:cNvSpPr txBox="1"/>
          <p:nvPr/>
        </p:nvSpPr>
        <p:spPr>
          <a:xfrm>
            <a:off x="2395728" y="2468880"/>
            <a:ext cx="1783080" cy="548640"/>
          </a:xfrm>
          <a:prstGeom prst="rect">
            <a:avLst/>
          </a:prstGeom>
          <a:noFill/>
          <a:ln/>
        </p:spPr>
        <p:txBody>
          <a:bodyPr wrap="square" lIns="0" tIns="0" rIns="0" bIns="0" rtlCol="0" anchor="t"/>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terraform</a:t>
            </a:r>
            <a:endParaRPr lang="en-US" sz="1400" dirty="0"/>
          </a:p>
          <a:p>
            <a:pPr algn="ctr" indent="0" marL="0">
              <a:buNone/>
            </a:pPr>
            <a:r>
              <a:rPr lang="en-US" sz="1400" b="1" dirty="0">
                <a:solidFill>
                  <a:schemeClr val="tx1"/>
                </a:solidFill>
                <a:latin typeface="Courier New" pitchFamily="34" charset="0"/>
                <a:ea typeface="Courier New" pitchFamily="34" charset="-122"/>
                <a:cs typeface="Courier New" pitchFamily="34" charset="-120"/>
              </a:rPr>
              <a:t>fmt</a:t>
            </a:r>
            <a:endParaRPr lang="en-US" sz="1400" dirty="0"/>
          </a:p>
        </p:txBody>
      </p:sp>
      <p:sp>
        <p:nvSpPr>
          <p:cNvPr id="12" name="text-220"/>
          <p:cNvSpPr txBox="1"/>
          <p:nvPr/>
        </p:nvSpPr>
        <p:spPr>
          <a:xfrm>
            <a:off x="2441448" y="3108960"/>
            <a:ext cx="1691640" cy="1371600"/>
          </a:xfrm>
          <a:prstGeom prst="rect">
            <a:avLst/>
          </a:prstGeom>
          <a:noFill/>
          <a:ln/>
        </p:spPr>
        <p:txBody>
          <a:bodyPr wrap="square" lIns="0" tIns="0" rIns="0" bIns="0" rtlCol="0" anchor="t"/>
          <a:lstStyle/>
          <a:p>
            <a:pPr algn="l" indent="0" marL="0">
              <a:buNone/>
            </a:pPr>
            <a:r>
              <a:rPr lang="en-US" sz="1300" dirty="0">
                <a:solidFill>
                  <a:schemeClr val="tx1"/>
                </a:solidFill>
              </a:rPr>
              <a:t>Rewrites files in the standard style. Fixes alignment for you.</a:t>
            </a:r>
            <a:endParaRPr lang="en-US" sz="1300" dirty="0"/>
          </a:p>
        </p:txBody>
      </p:sp>
      <p:sp>
        <p:nvSpPr>
          <p:cNvPr id="13" name="box-221"/>
          <p:cNvSpPr/>
          <p:nvPr/>
        </p:nvSpPr>
        <p:spPr>
          <a:xfrm>
            <a:off x="4700016" y="1371600"/>
            <a:ext cx="914400" cy="914400"/>
          </a:xfrm>
          <a:prstGeom prst="ellipse">
            <a:avLst/>
          </a:prstGeom>
          <a:solidFill>
            <a:schemeClr val="accent1"/>
          </a:solidFill>
          <a:ln w="9525">
            <a:solidFill>
              <a:schemeClr val="accent1"/>
            </a:solidFill>
            <a:prstDash val="solid"/>
          </a:ln>
        </p:spPr>
      </p:sp>
      <p:sp>
        <p:nvSpPr>
          <p:cNvPr id="14" name="box-t-222"/>
          <p:cNvSpPr txBox="1"/>
          <p:nvPr/>
        </p:nvSpPr>
        <p:spPr>
          <a:xfrm>
            <a:off x="4745736" y="1371600"/>
            <a:ext cx="822960" cy="914400"/>
          </a:xfrm>
          <a:prstGeom prst="rect">
            <a:avLst/>
          </a:prstGeom>
          <a:noFill/>
          <a:ln/>
        </p:spPr>
        <p:txBody>
          <a:bodyPr wrap="square" lIns="508" tIns="508" rIns="508" bIns="508" rtlCol="0" anchor="ctr"/>
          <a:lstStyle/>
          <a:p>
            <a:pPr algn="ctr" indent="0" marL="0">
              <a:buNone/>
            </a:pPr>
            <a:r>
              <a:rPr lang="en-US" sz="2200" b="1" dirty="0">
                <a:solidFill>
                  <a:schemeClr val="bg1"/>
                </a:solidFill>
              </a:rPr>
              <a:t>3</a:t>
            </a:r>
            <a:endParaRPr lang="en-US" sz="2200" dirty="0"/>
          </a:p>
        </p:txBody>
      </p:sp>
      <p:sp>
        <p:nvSpPr>
          <p:cNvPr id="15" name="arrow-223"/>
          <p:cNvSpPr/>
          <p:nvPr/>
        </p:nvSpPr>
        <p:spPr>
          <a:xfrm>
            <a:off x="5632704" y="1828800"/>
            <a:ext cx="941832" cy="0"/>
          </a:xfrm>
          <a:prstGeom prst="line">
            <a:avLst/>
          </a:prstGeom>
          <a:noFill/>
          <a:ln w="25400">
            <a:solidFill>
              <a:schemeClr val="accent5"/>
            </a:solidFill>
            <a:prstDash val="solid"/>
            <a:tailEnd type="triangle"/>
          </a:ln>
        </p:spPr>
      </p:sp>
      <p:sp>
        <p:nvSpPr>
          <p:cNvPr id="16" name="text-224"/>
          <p:cNvSpPr txBox="1"/>
          <p:nvPr/>
        </p:nvSpPr>
        <p:spPr>
          <a:xfrm>
            <a:off x="4288536" y="2468880"/>
            <a:ext cx="1783080" cy="548640"/>
          </a:xfrm>
          <a:prstGeom prst="rect">
            <a:avLst/>
          </a:prstGeom>
          <a:noFill/>
          <a:ln/>
        </p:spPr>
        <p:txBody>
          <a:bodyPr wrap="square" lIns="0" tIns="0" rIns="0" bIns="0" rtlCol="0" anchor="t"/>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terraform</a:t>
            </a:r>
            <a:endParaRPr lang="en-US" sz="1400" dirty="0"/>
          </a:p>
          <a:p>
            <a:pPr algn="ctr" indent="0" marL="0">
              <a:buNone/>
            </a:pPr>
            <a:r>
              <a:rPr lang="en-US" sz="1400" b="1" dirty="0">
                <a:solidFill>
                  <a:schemeClr val="tx1"/>
                </a:solidFill>
                <a:latin typeface="Courier New" pitchFamily="34" charset="0"/>
                <a:ea typeface="Courier New" pitchFamily="34" charset="-122"/>
                <a:cs typeface="Courier New" pitchFamily="34" charset="-120"/>
              </a:rPr>
              <a:t>validate</a:t>
            </a:r>
            <a:endParaRPr lang="en-US" sz="1400" dirty="0"/>
          </a:p>
        </p:txBody>
      </p:sp>
      <p:sp>
        <p:nvSpPr>
          <p:cNvPr id="17" name="text-225"/>
          <p:cNvSpPr txBox="1"/>
          <p:nvPr/>
        </p:nvSpPr>
        <p:spPr>
          <a:xfrm>
            <a:off x="4334256" y="3108960"/>
            <a:ext cx="1691640" cy="1371600"/>
          </a:xfrm>
          <a:prstGeom prst="rect">
            <a:avLst/>
          </a:prstGeom>
          <a:noFill/>
          <a:ln/>
        </p:spPr>
        <p:txBody>
          <a:bodyPr wrap="square" lIns="0" tIns="0" rIns="0" bIns="0" rtlCol="0" anchor="t"/>
          <a:lstStyle/>
          <a:p>
            <a:pPr algn="l" indent="0" marL="0">
              <a:buNone/>
            </a:pPr>
            <a:r>
              <a:rPr lang="en-US" sz="1300" dirty="0">
                <a:solidFill>
                  <a:schemeClr val="tx1"/>
                </a:solidFill>
              </a:rPr>
              <a:t>Checks syntax and types without calling AWS.</a:t>
            </a:r>
            <a:endParaRPr lang="en-US" sz="1300" dirty="0"/>
          </a:p>
        </p:txBody>
      </p:sp>
      <p:sp>
        <p:nvSpPr>
          <p:cNvPr id="18" name="box-226"/>
          <p:cNvSpPr/>
          <p:nvPr/>
        </p:nvSpPr>
        <p:spPr>
          <a:xfrm>
            <a:off x="6592824" y="1371600"/>
            <a:ext cx="914400" cy="914400"/>
          </a:xfrm>
          <a:prstGeom prst="ellipse">
            <a:avLst/>
          </a:prstGeom>
          <a:solidFill>
            <a:schemeClr val="accent1"/>
          </a:solidFill>
          <a:ln w="9525">
            <a:solidFill>
              <a:schemeClr val="accent1"/>
            </a:solidFill>
            <a:prstDash val="solid"/>
          </a:ln>
        </p:spPr>
      </p:sp>
      <p:sp>
        <p:nvSpPr>
          <p:cNvPr id="19" name="box-t-227"/>
          <p:cNvSpPr txBox="1"/>
          <p:nvPr/>
        </p:nvSpPr>
        <p:spPr>
          <a:xfrm>
            <a:off x="6638544" y="1371600"/>
            <a:ext cx="822960" cy="914400"/>
          </a:xfrm>
          <a:prstGeom prst="rect">
            <a:avLst/>
          </a:prstGeom>
          <a:noFill/>
          <a:ln/>
        </p:spPr>
        <p:txBody>
          <a:bodyPr wrap="square" lIns="508" tIns="508" rIns="508" bIns="508" rtlCol="0" anchor="ctr"/>
          <a:lstStyle/>
          <a:p>
            <a:pPr algn="ctr" indent="0" marL="0">
              <a:buNone/>
            </a:pPr>
            <a:r>
              <a:rPr lang="en-US" sz="2200" b="1" dirty="0">
                <a:solidFill>
                  <a:schemeClr val="bg1"/>
                </a:solidFill>
              </a:rPr>
              <a:t>4</a:t>
            </a:r>
            <a:endParaRPr lang="en-US" sz="2200" dirty="0"/>
          </a:p>
        </p:txBody>
      </p:sp>
      <p:sp>
        <p:nvSpPr>
          <p:cNvPr id="20" name="arrow-228"/>
          <p:cNvSpPr/>
          <p:nvPr/>
        </p:nvSpPr>
        <p:spPr>
          <a:xfrm>
            <a:off x="7525512" y="1828800"/>
            <a:ext cx="941832" cy="0"/>
          </a:xfrm>
          <a:prstGeom prst="line">
            <a:avLst/>
          </a:prstGeom>
          <a:noFill/>
          <a:ln w="25400">
            <a:solidFill>
              <a:schemeClr val="accent5"/>
            </a:solidFill>
            <a:prstDash val="solid"/>
            <a:tailEnd type="triangle"/>
          </a:ln>
        </p:spPr>
      </p:sp>
      <p:sp>
        <p:nvSpPr>
          <p:cNvPr id="21" name="text-229"/>
          <p:cNvSpPr txBox="1"/>
          <p:nvPr/>
        </p:nvSpPr>
        <p:spPr>
          <a:xfrm>
            <a:off x="6181344" y="2468880"/>
            <a:ext cx="1783080" cy="548640"/>
          </a:xfrm>
          <a:prstGeom prst="rect">
            <a:avLst/>
          </a:prstGeom>
          <a:noFill/>
          <a:ln/>
        </p:spPr>
        <p:txBody>
          <a:bodyPr wrap="square" lIns="0" tIns="0" rIns="0" bIns="0" rtlCol="0" anchor="t"/>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terraform</a:t>
            </a:r>
            <a:endParaRPr lang="en-US" sz="1400" dirty="0"/>
          </a:p>
          <a:p>
            <a:pPr algn="ctr" indent="0" marL="0">
              <a:buNone/>
            </a:pPr>
            <a:r>
              <a:rPr lang="en-US" sz="1400" b="1" dirty="0">
                <a:solidFill>
                  <a:schemeClr val="tx1"/>
                </a:solidFill>
                <a:latin typeface="Courier New" pitchFamily="34" charset="0"/>
                <a:ea typeface="Courier New" pitchFamily="34" charset="-122"/>
                <a:cs typeface="Courier New" pitchFamily="34" charset="-120"/>
              </a:rPr>
              <a:t>plan</a:t>
            </a:r>
            <a:endParaRPr lang="en-US" sz="1400" dirty="0"/>
          </a:p>
        </p:txBody>
      </p:sp>
      <p:sp>
        <p:nvSpPr>
          <p:cNvPr id="22" name="text-230"/>
          <p:cNvSpPr txBox="1"/>
          <p:nvPr/>
        </p:nvSpPr>
        <p:spPr>
          <a:xfrm>
            <a:off x="6227064" y="3108960"/>
            <a:ext cx="1691640" cy="1371600"/>
          </a:xfrm>
          <a:prstGeom prst="rect">
            <a:avLst/>
          </a:prstGeom>
          <a:noFill/>
          <a:ln/>
        </p:spPr>
        <p:txBody>
          <a:bodyPr wrap="square" lIns="0" tIns="0" rIns="0" bIns="0" rtlCol="0" anchor="t"/>
          <a:lstStyle/>
          <a:p>
            <a:pPr algn="l" indent="0" marL="0">
              <a:buNone/>
            </a:pPr>
            <a:r>
              <a:rPr lang="en-US" sz="1300" dirty="0">
                <a:solidFill>
                  <a:schemeClr val="tx1"/>
                </a:solidFill>
              </a:rPr>
              <a:t>Shows exactly what would change. Read it every time.</a:t>
            </a:r>
            <a:endParaRPr lang="en-US" sz="1300" dirty="0"/>
          </a:p>
        </p:txBody>
      </p:sp>
      <p:sp>
        <p:nvSpPr>
          <p:cNvPr id="23" name="box-231"/>
          <p:cNvSpPr/>
          <p:nvPr/>
        </p:nvSpPr>
        <p:spPr>
          <a:xfrm>
            <a:off x="8485632" y="1371600"/>
            <a:ext cx="914400" cy="914400"/>
          </a:xfrm>
          <a:prstGeom prst="ellipse">
            <a:avLst/>
          </a:prstGeom>
          <a:solidFill>
            <a:schemeClr val="accent1"/>
          </a:solidFill>
          <a:ln w="9525">
            <a:solidFill>
              <a:schemeClr val="accent1"/>
            </a:solidFill>
            <a:prstDash val="solid"/>
          </a:ln>
        </p:spPr>
      </p:sp>
      <p:sp>
        <p:nvSpPr>
          <p:cNvPr id="24" name="box-t-232"/>
          <p:cNvSpPr txBox="1"/>
          <p:nvPr/>
        </p:nvSpPr>
        <p:spPr>
          <a:xfrm>
            <a:off x="8531352" y="1371600"/>
            <a:ext cx="822960" cy="914400"/>
          </a:xfrm>
          <a:prstGeom prst="rect">
            <a:avLst/>
          </a:prstGeom>
          <a:noFill/>
          <a:ln/>
        </p:spPr>
        <p:txBody>
          <a:bodyPr wrap="square" lIns="508" tIns="508" rIns="508" bIns="508" rtlCol="0" anchor="ctr"/>
          <a:lstStyle/>
          <a:p>
            <a:pPr algn="ctr" indent="0" marL="0">
              <a:buNone/>
            </a:pPr>
            <a:r>
              <a:rPr lang="en-US" sz="2200" b="1" dirty="0">
                <a:solidFill>
                  <a:schemeClr val="bg1"/>
                </a:solidFill>
              </a:rPr>
              <a:t>5</a:t>
            </a:r>
            <a:endParaRPr lang="en-US" sz="2200" dirty="0"/>
          </a:p>
        </p:txBody>
      </p:sp>
      <p:sp>
        <p:nvSpPr>
          <p:cNvPr id="25" name="arrow-233"/>
          <p:cNvSpPr/>
          <p:nvPr/>
        </p:nvSpPr>
        <p:spPr>
          <a:xfrm>
            <a:off x="9418320" y="1828800"/>
            <a:ext cx="941832" cy="0"/>
          </a:xfrm>
          <a:prstGeom prst="line">
            <a:avLst/>
          </a:prstGeom>
          <a:noFill/>
          <a:ln w="25400">
            <a:solidFill>
              <a:schemeClr val="accent5"/>
            </a:solidFill>
            <a:prstDash val="solid"/>
            <a:tailEnd type="triangle"/>
          </a:ln>
        </p:spPr>
      </p:sp>
      <p:sp>
        <p:nvSpPr>
          <p:cNvPr id="26" name="text-234"/>
          <p:cNvSpPr txBox="1"/>
          <p:nvPr/>
        </p:nvSpPr>
        <p:spPr>
          <a:xfrm>
            <a:off x="8074152" y="2468880"/>
            <a:ext cx="1783080" cy="548640"/>
          </a:xfrm>
          <a:prstGeom prst="rect">
            <a:avLst/>
          </a:prstGeom>
          <a:noFill/>
          <a:ln/>
        </p:spPr>
        <p:txBody>
          <a:bodyPr wrap="square" lIns="0" tIns="0" rIns="0" bIns="0" rtlCol="0" anchor="t"/>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terraform</a:t>
            </a:r>
            <a:endParaRPr lang="en-US" sz="1400" dirty="0"/>
          </a:p>
          <a:p>
            <a:pPr algn="ctr" indent="0" marL="0">
              <a:buNone/>
            </a:pPr>
            <a:r>
              <a:rPr lang="en-US" sz="1400" b="1" dirty="0">
                <a:solidFill>
                  <a:schemeClr val="tx1"/>
                </a:solidFill>
                <a:latin typeface="Courier New" pitchFamily="34" charset="0"/>
                <a:ea typeface="Courier New" pitchFamily="34" charset="-122"/>
                <a:cs typeface="Courier New" pitchFamily="34" charset="-120"/>
              </a:rPr>
              <a:t>apply</a:t>
            </a:r>
            <a:endParaRPr lang="en-US" sz="1400" dirty="0"/>
          </a:p>
        </p:txBody>
      </p:sp>
      <p:sp>
        <p:nvSpPr>
          <p:cNvPr id="27" name="text-235"/>
          <p:cNvSpPr txBox="1"/>
          <p:nvPr/>
        </p:nvSpPr>
        <p:spPr>
          <a:xfrm>
            <a:off x="8119872" y="3108960"/>
            <a:ext cx="1691640" cy="1371600"/>
          </a:xfrm>
          <a:prstGeom prst="rect">
            <a:avLst/>
          </a:prstGeom>
          <a:noFill/>
          <a:ln/>
        </p:spPr>
        <p:txBody>
          <a:bodyPr wrap="square" lIns="0" tIns="0" rIns="0" bIns="0" rtlCol="0" anchor="t"/>
          <a:lstStyle/>
          <a:p>
            <a:pPr algn="l" indent="0" marL="0">
              <a:buNone/>
            </a:pPr>
            <a:r>
              <a:rPr lang="en-US" sz="1300" dirty="0">
                <a:solidFill>
                  <a:schemeClr val="tx1"/>
                </a:solidFill>
              </a:rPr>
              <a:t>Makes the changes, then updates state.</a:t>
            </a:r>
            <a:endParaRPr lang="en-US" sz="1300" dirty="0"/>
          </a:p>
        </p:txBody>
      </p:sp>
      <p:sp>
        <p:nvSpPr>
          <p:cNvPr id="28" name="box-236"/>
          <p:cNvSpPr/>
          <p:nvPr/>
        </p:nvSpPr>
        <p:spPr>
          <a:xfrm>
            <a:off x="10378440" y="1371600"/>
            <a:ext cx="914400" cy="914400"/>
          </a:xfrm>
          <a:prstGeom prst="ellipse">
            <a:avLst/>
          </a:prstGeom>
          <a:solidFill>
            <a:schemeClr val="accent4"/>
          </a:solidFill>
          <a:ln w="9525">
            <a:solidFill>
              <a:schemeClr val="accent4"/>
            </a:solidFill>
            <a:prstDash val="solid"/>
          </a:ln>
        </p:spPr>
      </p:sp>
      <p:sp>
        <p:nvSpPr>
          <p:cNvPr id="29" name="box-t-237"/>
          <p:cNvSpPr txBox="1"/>
          <p:nvPr/>
        </p:nvSpPr>
        <p:spPr>
          <a:xfrm>
            <a:off x="10424160" y="1371600"/>
            <a:ext cx="822960" cy="914400"/>
          </a:xfrm>
          <a:prstGeom prst="rect">
            <a:avLst/>
          </a:prstGeom>
          <a:noFill/>
          <a:ln/>
        </p:spPr>
        <p:txBody>
          <a:bodyPr wrap="square" lIns="508" tIns="508" rIns="508" bIns="508" rtlCol="0" anchor="ctr"/>
          <a:lstStyle/>
          <a:p>
            <a:pPr algn="ctr" indent="0" marL="0">
              <a:buNone/>
            </a:pPr>
            <a:r>
              <a:rPr lang="en-US" sz="2200" b="1" dirty="0">
                <a:solidFill>
                  <a:schemeClr val="bg1"/>
                </a:solidFill>
              </a:rPr>
              <a:t>6</a:t>
            </a:r>
            <a:endParaRPr lang="en-US" sz="2200" dirty="0"/>
          </a:p>
        </p:txBody>
      </p:sp>
      <p:sp>
        <p:nvSpPr>
          <p:cNvPr id="30" name="text-238"/>
          <p:cNvSpPr txBox="1"/>
          <p:nvPr/>
        </p:nvSpPr>
        <p:spPr>
          <a:xfrm>
            <a:off x="9966960" y="2468880"/>
            <a:ext cx="1783080" cy="548640"/>
          </a:xfrm>
          <a:prstGeom prst="rect">
            <a:avLst/>
          </a:prstGeom>
          <a:noFill/>
          <a:ln/>
        </p:spPr>
        <p:txBody>
          <a:bodyPr wrap="square" lIns="0" tIns="0" rIns="0" bIns="0" rtlCol="0" anchor="t"/>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terraform</a:t>
            </a:r>
            <a:endParaRPr lang="en-US" sz="1400" dirty="0"/>
          </a:p>
          <a:p>
            <a:pPr algn="ctr" indent="0" marL="0">
              <a:buNone/>
            </a:pPr>
            <a:r>
              <a:rPr lang="en-US" sz="1400" b="1" dirty="0">
                <a:solidFill>
                  <a:schemeClr val="tx1"/>
                </a:solidFill>
                <a:latin typeface="Courier New" pitchFamily="34" charset="0"/>
                <a:ea typeface="Courier New" pitchFamily="34" charset="-122"/>
                <a:cs typeface="Courier New" pitchFamily="34" charset="-120"/>
              </a:rPr>
              <a:t>destroy</a:t>
            </a:r>
            <a:endParaRPr lang="en-US" sz="1400" dirty="0"/>
          </a:p>
        </p:txBody>
      </p:sp>
      <p:sp>
        <p:nvSpPr>
          <p:cNvPr id="31" name="text-239"/>
          <p:cNvSpPr txBox="1"/>
          <p:nvPr/>
        </p:nvSpPr>
        <p:spPr>
          <a:xfrm>
            <a:off x="10012680" y="3108960"/>
            <a:ext cx="1691640" cy="1371600"/>
          </a:xfrm>
          <a:prstGeom prst="rect">
            <a:avLst/>
          </a:prstGeom>
          <a:noFill/>
          <a:ln/>
        </p:spPr>
        <p:txBody>
          <a:bodyPr wrap="square" lIns="0" tIns="0" rIns="0" bIns="0" rtlCol="0" anchor="t"/>
          <a:lstStyle/>
          <a:p>
            <a:pPr algn="l" indent="0" marL="0">
              <a:buNone/>
            </a:pPr>
            <a:r>
              <a:rPr lang="en-US" sz="1300" dirty="0">
                <a:solidFill>
                  <a:schemeClr val="tx1"/>
                </a:solidFill>
              </a:rPr>
              <a:t>Deletes everything this folder created.</a:t>
            </a:r>
            <a:endParaRPr lang="en-US" sz="1300" dirty="0"/>
          </a:p>
        </p:txBody>
      </p:sp>
      <p:sp>
        <p:nvSpPr>
          <p:cNvPr id="32" name="card-240"/>
          <p:cNvSpPr/>
          <p:nvPr/>
        </p:nvSpPr>
        <p:spPr>
          <a:xfrm>
            <a:off x="502920" y="4617720"/>
            <a:ext cx="11155680" cy="1600200"/>
          </a:xfrm>
          <a:prstGeom prst="roundRect">
            <a:avLst>
              <a:gd name="adj" fmla="val 5714"/>
            </a:avLst>
          </a:prstGeom>
          <a:solidFill>
            <a:schemeClr val="bg2"/>
          </a:solidFill>
          <a:ln w="12700">
            <a:solidFill>
              <a:schemeClr val="bg2"/>
            </a:solidFill>
            <a:prstDash val="solid"/>
          </a:ln>
        </p:spPr>
      </p:sp>
      <p:pic>
        <p:nvPicPr>
          <p:cNvPr id="33" name="icon-241" descr="preencoded.png">    </p:cNvPr>
          <p:cNvPicPr>
            <a:picLocks noChangeAspect="1"/>
          </p:cNvPicPr>
          <p:nvPr/>
        </p:nvPicPr>
        <p:blipFill>
          <a:blip r:embed="rId1"/>
          <a:stretch>
            <a:fillRect/>
          </a:stretch>
        </p:blipFill>
        <p:spPr>
          <a:xfrm>
            <a:off x="822960" y="4983480"/>
            <a:ext cx="822960" cy="822960"/>
          </a:xfrm>
          <a:prstGeom prst="rect">
            <a:avLst/>
          </a:prstGeom>
        </p:spPr>
      </p:pic>
      <p:sp>
        <p:nvSpPr>
          <p:cNvPr id="34" name="text-242"/>
          <p:cNvSpPr txBox="1"/>
          <p:nvPr/>
        </p:nvSpPr>
        <p:spPr>
          <a:xfrm>
            <a:off x="1920240" y="4846320"/>
            <a:ext cx="9509760" cy="1188720"/>
          </a:xfrm>
          <a:prstGeom prst="rect">
            <a:avLst/>
          </a:prstGeom>
          <a:noFill/>
          <a:ln/>
        </p:spPr>
        <p:txBody>
          <a:bodyPr wrap="square" lIns="0" tIns="0" rIns="0" bIns="0" rtlCol="0" anchor="ctr"/>
          <a:lstStyle/>
          <a:p>
            <a:pPr indent="0" marL="0">
              <a:buNone/>
            </a:pPr>
            <a:r>
              <a:rPr lang="en-US" sz="1600" b="1" dirty="0">
                <a:solidFill>
                  <a:schemeClr val="tx1"/>
                </a:solidFill>
              </a:rPr>
              <a:t>State is Terraform's memory. </a:t>
            </a:r>
            <a:pPr indent="0" marL="0">
              <a:buNone/>
            </a:pPr>
            <a:r>
              <a:rPr lang="en-US" sz="1500" dirty="0">
                <a:solidFill>
                  <a:schemeClr val="tx1"/>
                </a:solidFill>
              </a:rPr>
              <a:t>It maps each address, like aws_s3_bucket.state, to the real resource ID in AWS. Lose it and Terraform forgets what it built. Commit it to git and you may publish secrets. That is why Layer 00 exists.</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243"/>
          <p:cNvSpPr txBox="1"/>
          <p:nvPr/>
        </p:nvSpPr>
        <p:spPr>
          <a:xfrm>
            <a:off x="731520" y="1463040"/>
            <a:ext cx="2743200" cy="1005840"/>
          </a:xfrm>
          <a:prstGeom prst="rect">
            <a:avLst/>
          </a:prstGeom>
          <a:noFill/>
          <a:ln/>
        </p:spPr>
        <p:txBody>
          <a:bodyPr wrap="square" lIns="0" tIns="0" rIns="0" bIns="0" rtlCol="0" anchor="t"/>
          <a:lstStyle/>
          <a:p>
            <a:pPr indent="0" marL="0">
              <a:buNone/>
            </a:pPr>
            <a:r>
              <a:rPr lang="en-US" sz="6000" b="1" dirty="0">
                <a:solidFill>
                  <a:schemeClr val="accent2"/>
                </a:solidFill>
                <a:latin typeface="Arial" pitchFamily="34" charset="0"/>
                <a:ea typeface="Arial" pitchFamily="34" charset="-122"/>
                <a:cs typeface="Arial" pitchFamily="34" charset="-120"/>
              </a:rPr>
              <a:t>02</a:t>
            </a:r>
            <a:endParaRPr lang="en-US" sz="6000" dirty="0"/>
          </a:p>
        </p:txBody>
      </p:sp>
      <p:sp>
        <p:nvSpPr>
          <p:cNvPr id="3" name="Text 0"/>
          <p:cNvSpPr/>
          <p:nvPr>
            <p:ph idx="100" type="title" hasCustomPrompt="1"/>
          </p:nvPr>
        </p:nvSpPr>
        <p:spPr>
          <a:xfrm>
            <a:off x="731520" y="2651760"/>
            <a:ext cx="8046720" cy="1097280"/>
          </a:xfrm>
          <a:prstGeom prst="rect">
            <a:avLst/>
          </a:prstGeom>
          <a:noFill/>
          <a:ln/>
        </p:spPr>
        <p:txBody>
          <a:bodyPr wrap="square" lIns="0" tIns="0" rIns="0" bIns="0" rtlCol="0" anchor="t"/>
          <a:lstStyle/>
          <a:p>
            <a:pPr algn="l" indent="0" marL="0">
              <a:buNone/>
            </a:pPr>
            <a:r>
              <a:rPr lang="en-US" sz="4400" b="1" dirty="0">
                <a:solidFill>
                  <a:schemeClr val="bg1"/>
                </a:solidFill>
              </a:rPr>
              <a:t>Layer 00: Bootstrap</a:t>
            </a:r>
            <a:endParaRPr lang="en-US" sz="4400" dirty="0"/>
          </a:p>
        </p:txBody>
      </p:sp>
      <p:sp>
        <p:nvSpPr>
          <p:cNvPr id="4" name="Text 0"/>
          <p:cNvSpPr/>
          <p:nvPr>
            <p:ph idx="101" type="body" hasCustomPrompt="1"/>
          </p:nvPr>
        </p:nvSpPr>
        <p:spPr>
          <a:xfrm>
            <a:off x="731520" y="3840480"/>
            <a:ext cx="7863840" cy="1371600"/>
          </a:xfrm>
          <a:prstGeom prst="rect">
            <a:avLst/>
          </a:prstGeom>
          <a:noFill/>
          <a:ln/>
        </p:spPr>
        <p:txBody>
          <a:bodyPr wrap="square" lIns="0" tIns="0" rIns="0" bIns="0" rtlCol="0" anchor="t"/>
          <a:lstStyle/>
          <a:p>
            <a:pPr algn="l" indent="0" marL="0">
              <a:buNone/>
            </a:pPr>
            <a:r>
              <a:rPr lang="en-US" sz="2000" dirty="0">
                <a:solidFill>
                  <a:schemeClr val="bg2"/>
                </a:solidFill>
              </a:rPr>
              <a:t>A safe home for Terraform's state file</a:t>
            </a:r>
            <a:endParaRPr lang="en-US" sz="2000" dirty="0"/>
          </a:p>
        </p:txBody>
      </p:sp>
      <p:sp>
        <p:nvSpPr>
          <p:cNvPr id="5" name="icon-circle-244"/>
          <p:cNvSpPr/>
          <p:nvPr/>
        </p:nvSpPr>
        <p:spPr>
          <a:xfrm>
            <a:off x="9052560" y="2011680"/>
            <a:ext cx="2377440" cy="2377440"/>
          </a:xfrm>
          <a:prstGeom prst="ellipse">
            <a:avLst/>
          </a:prstGeom>
          <a:solidFill>
            <a:schemeClr val="tx1"/>
          </a:solidFill>
          <a:ln w="12700">
            <a:solidFill>
              <a:schemeClr val="tx1"/>
            </a:solidFill>
            <a:prstDash val="solid"/>
          </a:ln>
        </p:spPr>
      </p:sp>
      <p:pic>
        <p:nvPicPr>
          <p:cNvPr id="6" name="icon-245" descr="preencoded.png">    </p:cNvPr>
          <p:cNvPicPr>
            <a:picLocks noChangeAspect="1"/>
          </p:cNvPicPr>
          <p:nvPr/>
        </p:nvPicPr>
        <p:blipFill>
          <a:blip r:embed="rId1"/>
          <a:stretch>
            <a:fillRect/>
          </a:stretch>
        </p:blipFill>
        <p:spPr>
          <a:xfrm>
            <a:off x="9646920" y="2606040"/>
            <a:ext cx="1188720" cy="11887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Why state needs a better home than a laptop</a:t>
            </a:r>
            <a:endParaRPr lang="en-US" sz="3400" dirty="0"/>
          </a:p>
        </p:txBody>
      </p:sp>
      <p:sp>
        <p:nvSpPr>
          <p:cNvPr id="3" name="card-246"/>
          <p:cNvSpPr/>
          <p:nvPr/>
        </p:nvSpPr>
        <p:spPr>
          <a:xfrm>
            <a:off x="502920" y="1280160"/>
            <a:ext cx="3611880" cy="2651760"/>
          </a:xfrm>
          <a:prstGeom prst="roundRect">
            <a:avLst>
              <a:gd name="adj" fmla="val 3448"/>
            </a:avLst>
          </a:prstGeom>
          <a:solidFill>
            <a:schemeClr val="bg2"/>
          </a:solidFill>
          <a:ln w="12700">
            <a:solidFill>
              <a:schemeClr val="bg2"/>
            </a:solidFill>
            <a:prstDash val="solid"/>
          </a:ln>
        </p:spPr>
      </p:sp>
      <p:sp>
        <p:nvSpPr>
          <p:cNvPr id="4" name="icon-circle-247"/>
          <p:cNvSpPr/>
          <p:nvPr/>
        </p:nvSpPr>
        <p:spPr>
          <a:xfrm>
            <a:off x="777240" y="1508760"/>
            <a:ext cx="822960" cy="822960"/>
          </a:xfrm>
          <a:prstGeom prst="ellipse">
            <a:avLst/>
          </a:prstGeom>
          <a:solidFill>
            <a:schemeClr val="accent1"/>
          </a:solidFill>
          <a:ln w="12700">
            <a:solidFill>
              <a:schemeClr val="accent1"/>
            </a:solidFill>
            <a:prstDash val="solid"/>
          </a:ln>
        </p:spPr>
      </p:sp>
      <p:pic>
        <p:nvPicPr>
          <p:cNvPr id="5" name="icon-248" descr="preencoded.png">    </p:cNvPr>
          <p:cNvPicPr>
            <a:picLocks noChangeAspect="1"/>
          </p:cNvPicPr>
          <p:nvPr/>
        </p:nvPicPr>
        <p:blipFill>
          <a:blip r:embed="rId1"/>
          <a:stretch>
            <a:fillRect/>
          </a:stretch>
        </p:blipFill>
        <p:spPr>
          <a:xfrm>
            <a:off x="960120" y="1691640"/>
            <a:ext cx="457200" cy="457200"/>
          </a:xfrm>
          <a:prstGeom prst="rect">
            <a:avLst/>
          </a:prstGeom>
        </p:spPr>
      </p:pic>
      <p:sp>
        <p:nvSpPr>
          <p:cNvPr id="6" name="text-249"/>
          <p:cNvSpPr txBox="1"/>
          <p:nvPr/>
        </p:nvSpPr>
        <p:spPr>
          <a:xfrm>
            <a:off x="1783080" y="1691640"/>
            <a:ext cx="2194560" cy="457200"/>
          </a:xfrm>
          <a:prstGeom prst="rect">
            <a:avLst/>
          </a:prstGeom>
          <a:noFill/>
          <a:ln/>
        </p:spPr>
        <p:txBody>
          <a:bodyPr wrap="square" lIns="0" tIns="0" rIns="0" bIns="0" rtlCol="0" anchor="t"/>
          <a:lstStyle/>
          <a:p>
            <a:pPr indent="0" marL="0">
              <a:buNone/>
            </a:pPr>
            <a:r>
              <a:rPr lang="en-US" sz="2000" b="1" dirty="0">
                <a:solidFill>
                  <a:schemeClr val="tx1"/>
                </a:solidFill>
              </a:rPr>
              <a:t>Exposure</a:t>
            </a:r>
            <a:endParaRPr lang="en-US" sz="2000" dirty="0"/>
          </a:p>
        </p:txBody>
      </p:sp>
      <p:sp>
        <p:nvSpPr>
          <p:cNvPr id="7" name="text-250"/>
          <p:cNvSpPr txBox="1"/>
          <p:nvPr/>
        </p:nvSpPr>
        <p:spPr>
          <a:xfrm>
            <a:off x="777240" y="2514600"/>
            <a:ext cx="3108960" cy="1280160"/>
          </a:xfrm>
          <a:prstGeom prst="rect">
            <a:avLst/>
          </a:prstGeom>
          <a:noFill/>
          <a:ln/>
        </p:spPr>
        <p:txBody>
          <a:bodyPr wrap="square" lIns="0" tIns="0" rIns="0" bIns="0" rtlCol="0" anchor="t"/>
          <a:lstStyle/>
          <a:p>
            <a:pPr indent="0" marL="0">
              <a:buNone/>
            </a:pPr>
            <a:r>
              <a:rPr lang="en-US" sz="1500" dirty="0">
                <a:solidFill>
                  <a:schemeClr val="tx1"/>
                </a:solidFill>
              </a:rPr>
              <a:t>State can hold secrets in plain text. It must be encrypted and never committed to git.</a:t>
            </a:r>
            <a:endParaRPr lang="en-US" sz="1500" dirty="0"/>
          </a:p>
        </p:txBody>
      </p:sp>
      <p:sp>
        <p:nvSpPr>
          <p:cNvPr id="8" name="card-251"/>
          <p:cNvSpPr/>
          <p:nvPr/>
        </p:nvSpPr>
        <p:spPr>
          <a:xfrm>
            <a:off x="4297680" y="1280160"/>
            <a:ext cx="3611880" cy="2651760"/>
          </a:xfrm>
          <a:prstGeom prst="roundRect">
            <a:avLst>
              <a:gd name="adj" fmla="val 3448"/>
            </a:avLst>
          </a:prstGeom>
          <a:solidFill>
            <a:schemeClr val="bg2"/>
          </a:solidFill>
          <a:ln w="12700">
            <a:solidFill>
              <a:schemeClr val="bg2"/>
            </a:solidFill>
            <a:prstDash val="solid"/>
          </a:ln>
        </p:spPr>
      </p:sp>
      <p:sp>
        <p:nvSpPr>
          <p:cNvPr id="9" name="icon-circle-252"/>
          <p:cNvSpPr/>
          <p:nvPr/>
        </p:nvSpPr>
        <p:spPr>
          <a:xfrm>
            <a:off x="4572000" y="1508760"/>
            <a:ext cx="822960" cy="822960"/>
          </a:xfrm>
          <a:prstGeom prst="ellipse">
            <a:avLst/>
          </a:prstGeom>
          <a:solidFill>
            <a:schemeClr val="accent1"/>
          </a:solidFill>
          <a:ln w="12700">
            <a:solidFill>
              <a:schemeClr val="accent1"/>
            </a:solidFill>
            <a:prstDash val="solid"/>
          </a:ln>
        </p:spPr>
      </p:sp>
      <p:pic>
        <p:nvPicPr>
          <p:cNvPr id="10" name="icon-253" descr="preencoded.png">    </p:cNvPr>
          <p:cNvPicPr>
            <a:picLocks noChangeAspect="1"/>
          </p:cNvPicPr>
          <p:nvPr/>
        </p:nvPicPr>
        <p:blipFill>
          <a:blip r:embed="rId2"/>
          <a:stretch>
            <a:fillRect/>
          </a:stretch>
        </p:blipFill>
        <p:spPr>
          <a:xfrm>
            <a:off x="4754880" y="1691640"/>
            <a:ext cx="457200" cy="457200"/>
          </a:xfrm>
          <a:prstGeom prst="rect">
            <a:avLst/>
          </a:prstGeom>
        </p:spPr>
      </p:pic>
      <p:sp>
        <p:nvSpPr>
          <p:cNvPr id="11" name="text-254"/>
          <p:cNvSpPr txBox="1"/>
          <p:nvPr/>
        </p:nvSpPr>
        <p:spPr>
          <a:xfrm>
            <a:off x="5577840" y="1691640"/>
            <a:ext cx="2194560" cy="457200"/>
          </a:xfrm>
          <a:prstGeom prst="rect">
            <a:avLst/>
          </a:prstGeom>
          <a:noFill/>
          <a:ln/>
        </p:spPr>
        <p:txBody>
          <a:bodyPr wrap="square" lIns="0" tIns="0" rIns="0" bIns="0" rtlCol="0" anchor="t"/>
          <a:lstStyle/>
          <a:p>
            <a:pPr indent="0" marL="0">
              <a:buNone/>
            </a:pPr>
            <a:r>
              <a:rPr lang="en-US" sz="2000" b="1" dirty="0">
                <a:solidFill>
                  <a:schemeClr val="tx1"/>
                </a:solidFill>
              </a:rPr>
              <a:t>Loss</a:t>
            </a:r>
            <a:endParaRPr lang="en-US" sz="2000" dirty="0"/>
          </a:p>
        </p:txBody>
      </p:sp>
      <p:sp>
        <p:nvSpPr>
          <p:cNvPr id="12" name="text-255"/>
          <p:cNvSpPr txBox="1"/>
          <p:nvPr/>
        </p:nvSpPr>
        <p:spPr>
          <a:xfrm>
            <a:off x="4572000" y="2514600"/>
            <a:ext cx="3108960" cy="1280160"/>
          </a:xfrm>
          <a:prstGeom prst="rect">
            <a:avLst/>
          </a:prstGeom>
          <a:noFill/>
          <a:ln/>
        </p:spPr>
        <p:txBody>
          <a:bodyPr wrap="square" lIns="0" tIns="0" rIns="0" bIns="0" rtlCol="0" anchor="t"/>
          <a:lstStyle/>
          <a:p>
            <a:pPr indent="0" marL="0">
              <a:buNone/>
            </a:pPr>
            <a:r>
              <a:rPr lang="en-US" sz="1500" dirty="0">
                <a:solidFill>
                  <a:schemeClr val="tx1"/>
                </a:solidFill>
              </a:rPr>
              <a:t>If the laptop dies, Terraform forgets everything it built. Versioning in S3 lets you roll back.</a:t>
            </a:r>
            <a:endParaRPr lang="en-US" sz="1500" dirty="0"/>
          </a:p>
        </p:txBody>
      </p:sp>
      <p:sp>
        <p:nvSpPr>
          <p:cNvPr id="13" name="card-256"/>
          <p:cNvSpPr/>
          <p:nvPr/>
        </p:nvSpPr>
        <p:spPr>
          <a:xfrm>
            <a:off x="8092440" y="1280160"/>
            <a:ext cx="3611880" cy="2651760"/>
          </a:xfrm>
          <a:prstGeom prst="roundRect">
            <a:avLst>
              <a:gd name="adj" fmla="val 3448"/>
            </a:avLst>
          </a:prstGeom>
          <a:solidFill>
            <a:schemeClr val="bg2"/>
          </a:solidFill>
          <a:ln w="12700">
            <a:solidFill>
              <a:schemeClr val="bg2"/>
            </a:solidFill>
            <a:prstDash val="solid"/>
          </a:ln>
        </p:spPr>
      </p:sp>
      <p:sp>
        <p:nvSpPr>
          <p:cNvPr id="14" name="icon-circle-257"/>
          <p:cNvSpPr/>
          <p:nvPr/>
        </p:nvSpPr>
        <p:spPr>
          <a:xfrm>
            <a:off x="8366760" y="1508760"/>
            <a:ext cx="822960" cy="822960"/>
          </a:xfrm>
          <a:prstGeom prst="ellipse">
            <a:avLst/>
          </a:prstGeom>
          <a:solidFill>
            <a:schemeClr val="accent1"/>
          </a:solidFill>
          <a:ln w="12700">
            <a:solidFill>
              <a:schemeClr val="accent1"/>
            </a:solidFill>
            <a:prstDash val="solid"/>
          </a:ln>
        </p:spPr>
      </p:sp>
      <p:pic>
        <p:nvPicPr>
          <p:cNvPr id="15" name="icon-258" descr="preencoded.png">    </p:cNvPr>
          <p:cNvPicPr>
            <a:picLocks noChangeAspect="1"/>
          </p:cNvPicPr>
          <p:nvPr/>
        </p:nvPicPr>
        <p:blipFill>
          <a:blip r:embed="rId3"/>
          <a:stretch>
            <a:fillRect/>
          </a:stretch>
        </p:blipFill>
        <p:spPr>
          <a:xfrm>
            <a:off x="8549640" y="1691640"/>
            <a:ext cx="457200" cy="457200"/>
          </a:xfrm>
          <a:prstGeom prst="rect">
            <a:avLst/>
          </a:prstGeom>
        </p:spPr>
      </p:pic>
      <p:sp>
        <p:nvSpPr>
          <p:cNvPr id="16" name="text-259"/>
          <p:cNvSpPr txBox="1"/>
          <p:nvPr/>
        </p:nvSpPr>
        <p:spPr>
          <a:xfrm>
            <a:off x="9372600" y="1691640"/>
            <a:ext cx="2194560" cy="457200"/>
          </a:xfrm>
          <a:prstGeom prst="rect">
            <a:avLst/>
          </a:prstGeom>
          <a:noFill/>
          <a:ln/>
        </p:spPr>
        <p:txBody>
          <a:bodyPr wrap="square" lIns="0" tIns="0" rIns="0" bIns="0" rtlCol="0" anchor="t"/>
          <a:lstStyle/>
          <a:p>
            <a:pPr indent="0" marL="0">
              <a:buNone/>
            </a:pPr>
            <a:r>
              <a:rPr lang="en-US" sz="2000" b="1" dirty="0">
                <a:solidFill>
                  <a:schemeClr val="tx1"/>
                </a:solidFill>
              </a:rPr>
              <a:t>Collisions</a:t>
            </a:r>
            <a:endParaRPr lang="en-US" sz="2000" dirty="0"/>
          </a:p>
        </p:txBody>
      </p:sp>
      <p:sp>
        <p:nvSpPr>
          <p:cNvPr id="17" name="text-260"/>
          <p:cNvSpPr txBox="1"/>
          <p:nvPr/>
        </p:nvSpPr>
        <p:spPr>
          <a:xfrm>
            <a:off x="8366760" y="2514600"/>
            <a:ext cx="3108960" cy="1280160"/>
          </a:xfrm>
          <a:prstGeom prst="rect">
            <a:avLst/>
          </a:prstGeom>
          <a:noFill/>
          <a:ln/>
        </p:spPr>
        <p:txBody>
          <a:bodyPr wrap="square" lIns="0" tIns="0" rIns="0" bIns="0" rtlCol="0" anchor="t"/>
          <a:lstStyle/>
          <a:p>
            <a:pPr indent="0" marL="0">
              <a:buNone/>
            </a:pPr>
            <a:r>
              <a:rPr lang="en-US" sz="1500" dirty="0">
                <a:solidFill>
                  <a:schemeClr val="tx1"/>
                </a:solidFill>
              </a:rPr>
              <a:t>Two applies at once can corrupt state. A lock file makes the second one wait.</a:t>
            </a:r>
            <a:endParaRPr lang="en-US" sz="1500" dirty="0"/>
          </a:p>
        </p:txBody>
      </p:sp>
      <p:sp>
        <p:nvSpPr>
          <p:cNvPr id="18" name="text-261"/>
          <p:cNvSpPr txBox="1"/>
          <p:nvPr/>
        </p:nvSpPr>
        <p:spPr>
          <a:xfrm>
            <a:off x="502920" y="4251960"/>
            <a:ext cx="7315200" cy="36576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The chicken-and-egg problem</a:t>
            </a:r>
            <a:endParaRPr lang="en-US" sz="2000" dirty="0"/>
          </a:p>
        </p:txBody>
      </p:sp>
      <p:sp>
        <p:nvSpPr>
          <p:cNvPr id="19" name="box-262"/>
          <p:cNvSpPr/>
          <p:nvPr/>
        </p:nvSpPr>
        <p:spPr>
          <a:xfrm>
            <a:off x="502920" y="4800600"/>
            <a:ext cx="3291840" cy="1005840"/>
          </a:xfrm>
          <a:prstGeom prst="roundRect">
            <a:avLst>
              <a:gd name="adj" fmla="val 7273"/>
            </a:avLst>
          </a:prstGeom>
          <a:solidFill>
            <a:schemeClr val="tx1"/>
          </a:solidFill>
          <a:ln w="9525">
            <a:solidFill>
              <a:schemeClr val="tx1"/>
            </a:solidFill>
            <a:prstDash val="solid"/>
          </a:ln>
        </p:spPr>
      </p:sp>
      <p:sp>
        <p:nvSpPr>
          <p:cNvPr id="20" name="box-t-263"/>
          <p:cNvSpPr txBox="1"/>
          <p:nvPr/>
        </p:nvSpPr>
        <p:spPr>
          <a:xfrm>
            <a:off x="548640" y="4800600"/>
            <a:ext cx="3200400" cy="1005840"/>
          </a:xfrm>
          <a:prstGeom prst="rect">
            <a:avLst/>
          </a:prstGeom>
          <a:noFill/>
          <a:ln/>
        </p:spPr>
        <p:txBody>
          <a:bodyPr wrap="square" lIns="508" tIns="508" rIns="508" bIns="508" rtlCol="0" anchor="ctr"/>
          <a:lstStyle/>
          <a:p>
            <a:pPr algn="ctr" indent="0" marL="0">
              <a:buNone/>
            </a:pPr>
            <a:r>
              <a:rPr lang="en-US" sz="1600" b="1" dirty="0">
                <a:solidFill>
                  <a:schemeClr val="bg1"/>
                </a:solidFill>
              </a:rPr>
              <a:t>00-bootstrap</a:t>
            </a:r>
            <a:endParaRPr lang="en-US" sz="1600" dirty="0"/>
          </a:p>
          <a:p>
            <a:pPr algn="ctr" indent="0" marL="0">
              <a:buNone/>
            </a:pPr>
            <a:r>
              <a:rPr lang="en-US" sz="1300" dirty="0">
                <a:solidFill>
                  <a:schemeClr val="bg1"/>
                </a:solidFill>
              </a:rPr>
              <a:t>uses local state</a:t>
            </a:r>
            <a:endParaRPr lang="en-US" sz="1600" dirty="0"/>
          </a:p>
        </p:txBody>
      </p:sp>
      <p:sp>
        <p:nvSpPr>
          <p:cNvPr id="21" name="arrow-264"/>
          <p:cNvSpPr/>
          <p:nvPr/>
        </p:nvSpPr>
        <p:spPr>
          <a:xfrm>
            <a:off x="3813048" y="5303520"/>
            <a:ext cx="466344" cy="0"/>
          </a:xfrm>
          <a:prstGeom prst="line">
            <a:avLst/>
          </a:prstGeom>
          <a:noFill/>
          <a:ln w="31750">
            <a:solidFill>
              <a:schemeClr val="accent2"/>
            </a:solidFill>
            <a:prstDash val="solid"/>
            <a:tailEnd type="triangle"/>
          </a:ln>
        </p:spPr>
      </p:sp>
      <p:sp>
        <p:nvSpPr>
          <p:cNvPr id="22" name="box-265"/>
          <p:cNvSpPr/>
          <p:nvPr/>
        </p:nvSpPr>
        <p:spPr>
          <a:xfrm>
            <a:off x="4297680" y="4800600"/>
            <a:ext cx="3291840" cy="1005840"/>
          </a:xfrm>
          <a:prstGeom prst="roundRect">
            <a:avLst>
              <a:gd name="adj" fmla="val 7273"/>
            </a:avLst>
          </a:prstGeom>
          <a:solidFill>
            <a:schemeClr val="accent3"/>
          </a:solidFill>
          <a:ln w="9525">
            <a:solidFill>
              <a:schemeClr val="accent3"/>
            </a:solidFill>
            <a:prstDash val="solid"/>
          </a:ln>
        </p:spPr>
      </p:sp>
      <p:sp>
        <p:nvSpPr>
          <p:cNvPr id="23" name="box-t-266"/>
          <p:cNvSpPr txBox="1"/>
          <p:nvPr/>
        </p:nvSpPr>
        <p:spPr>
          <a:xfrm>
            <a:off x="4343400" y="4800600"/>
            <a:ext cx="3200400" cy="1005840"/>
          </a:xfrm>
          <a:prstGeom prst="rect">
            <a:avLst/>
          </a:prstGeom>
          <a:noFill/>
          <a:ln/>
        </p:spPr>
        <p:txBody>
          <a:bodyPr wrap="square" lIns="508" tIns="508" rIns="508" bIns="508" rtlCol="0" anchor="ctr"/>
          <a:lstStyle/>
          <a:p>
            <a:pPr algn="ctr" indent="0" marL="0">
              <a:buNone/>
            </a:pPr>
            <a:r>
              <a:rPr lang="en-US" sz="1600" b="1" dirty="0">
                <a:solidFill>
                  <a:schemeClr val="bg1"/>
                </a:solidFill>
              </a:rPr>
              <a:t>creates the S3 bucket</a:t>
            </a:r>
            <a:endParaRPr lang="en-US" sz="1600" dirty="0"/>
          </a:p>
          <a:p>
            <a:pPr algn="ctr" indent="0" marL="0">
              <a:buNone/>
            </a:pPr>
            <a:r>
              <a:rPr lang="en-US" sz="1300" dirty="0">
                <a:solidFill>
                  <a:schemeClr val="bg1"/>
                </a:solidFill>
              </a:rPr>
              <a:t>encrypted, versioned</a:t>
            </a:r>
            <a:endParaRPr lang="en-US" sz="1600" dirty="0"/>
          </a:p>
        </p:txBody>
      </p:sp>
      <p:sp>
        <p:nvSpPr>
          <p:cNvPr id="24" name="arrow-267"/>
          <p:cNvSpPr/>
          <p:nvPr/>
        </p:nvSpPr>
        <p:spPr>
          <a:xfrm>
            <a:off x="7607808" y="5303520"/>
            <a:ext cx="466344" cy="0"/>
          </a:xfrm>
          <a:prstGeom prst="line">
            <a:avLst/>
          </a:prstGeom>
          <a:noFill/>
          <a:ln w="31750">
            <a:solidFill>
              <a:schemeClr val="accent2"/>
            </a:solidFill>
            <a:prstDash val="solid"/>
            <a:tailEnd type="triangle"/>
          </a:ln>
        </p:spPr>
      </p:sp>
      <p:sp>
        <p:nvSpPr>
          <p:cNvPr id="25" name="box-268"/>
          <p:cNvSpPr/>
          <p:nvPr/>
        </p:nvSpPr>
        <p:spPr>
          <a:xfrm>
            <a:off x="8092440" y="4800600"/>
            <a:ext cx="3291840" cy="1005840"/>
          </a:xfrm>
          <a:prstGeom prst="roundRect">
            <a:avLst>
              <a:gd name="adj" fmla="val 7273"/>
            </a:avLst>
          </a:prstGeom>
          <a:solidFill>
            <a:schemeClr val="accent1"/>
          </a:solidFill>
          <a:ln w="9525">
            <a:solidFill>
              <a:schemeClr val="accent1"/>
            </a:solidFill>
            <a:prstDash val="solid"/>
          </a:ln>
        </p:spPr>
      </p:sp>
      <p:sp>
        <p:nvSpPr>
          <p:cNvPr id="26" name="box-t-269"/>
          <p:cNvSpPr txBox="1"/>
          <p:nvPr/>
        </p:nvSpPr>
        <p:spPr>
          <a:xfrm>
            <a:off x="8138160" y="4800600"/>
            <a:ext cx="3200400" cy="1005840"/>
          </a:xfrm>
          <a:prstGeom prst="rect">
            <a:avLst/>
          </a:prstGeom>
          <a:noFill/>
          <a:ln/>
        </p:spPr>
        <p:txBody>
          <a:bodyPr wrap="square" lIns="508" tIns="508" rIns="508" bIns="508" rtlCol="0" anchor="ctr"/>
          <a:lstStyle/>
          <a:p>
            <a:pPr algn="ctr" indent="0" marL="0">
              <a:buNone/>
            </a:pPr>
            <a:r>
              <a:rPr lang="en-US" sz="1600" b="1" dirty="0">
                <a:solidFill>
                  <a:schemeClr val="bg1"/>
                </a:solidFill>
              </a:rPr>
              <a:t>layers 01 to 05</a:t>
            </a:r>
            <a:endParaRPr lang="en-US" sz="1600" dirty="0"/>
          </a:p>
          <a:p>
            <a:pPr algn="ctr" indent="0" marL="0">
              <a:buNone/>
            </a:pPr>
            <a:r>
              <a:rPr lang="en-US" sz="1300" dirty="0">
                <a:solidFill>
                  <a:schemeClr val="bg1"/>
                </a:solidFill>
              </a:rPr>
              <a:t>store state in that bucket</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Settings and the AWS provider</a:t>
            </a:r>
            <a:endParaRPr lang="en-US" sz="3400" dirty="0"/>
          </a:p>
        </p:txBody>
      </p:sp>
      <p:sp>
        <p:nvSpPr>
          <p:cNvPr id="3" name="code-label-270"/>
          <p:cNvSpPr txBox="1"/>
          <p:nvPr/>
        </p:nvSpPr>
        <p:spPr>
          <a:xfrm>
            <a:off x="868680" y="1280160"/>
            <a:ext cx="6583680" cy="274320"/>
          </a:xfrm>
          <a:prstGeom prst="rect">
            <a:avLst/>
          </a:prstGeom>
          <a:noFill/>
          <a:ln/>
        </p:spPr>
        <p:txBody>
          <a:bodyPr wrap="square" lIns="0" tIns="0" rIns="0" bIns="0" rtlCol="0" anchor="ctr"/>
          <a:lstStyle/>
          <a:p>
            <a:pPr indent="0" marL="0">
              <a:buNone/>
            </a:pPr>
            <a:r>
              <a:rPr lang="en-US" sz="1100" b="1" dirty="0">
                <a:solidFill>
                  <a:schemeClr val="tx2"/>
                </a:solidFill>
              </a:rPr>
              <a:t>layers/00-bootstrap/main.tf</a:t>
            </a:r>
            <a:endParaRPr lang="en-US" sz="1100" dirty="0"/>
          </a:p>
        </p:txBody>
      </p:sp>
      <p:sp>
        <p:nvSpPr>
          <p:cNvPr id="4" name="code-bg-271"/>
          <p:cNvSpPr/>
          <p:nvPr/>
        </p:nvSpPr>
        <p:spPr>
          <a:xfrm>
            <a:off x="868680" y="1572768"/>
            <a:ext cx="6583680" cy="4329684"/>
          </a:xfrm>
          <a:prstGeom prst="roundRect">
            <a:avLst>
              <a:gd name="adj" fmla="val 1690"/>
            </a:avLst>
          </a:prstGeom>
          <a:solidFill>
            <a:schemeClr val="tx1"/>
          </a:solidFill>
          <a:ln w="12700">
            <a:solidFill>
              <a:schemeClr val="tx1"/>
            </a:solidFill>
            <a:prstDash val="solid"/>
          </a:ln>
        </p:spPr>
      </p:sp>
      <p:sp>
        <p:nvSpPr>
          <p:cNvPr id="5" name="code-272"/>
          <p:cNvSpPr txBox="1"/>
          <p:nvPr/>
        </p:nvSpPr>
        <p:spPr>
          <a:xfrm>
            <a:off x="1051560" y="1737360"/>
            <a:ext cx="6263640" cy="4018788"/>
          </a:xfrm>
          <a:prstGeom prst="rect">
            <a:avLst/>
          </a:prstGeom>
          <a:noFill/>
          <a:ln/>
        </p:spPr>
        <p:txBody>
          <a:bodyPr wrap="square" lIns="0" tIns="0" rIns="0" bIns="0" rtlCol="0" anchor="t"/>
          <a:lstStyle/>
          <a:p>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terraform</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required_version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"&gt;= 1.10"</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required_providers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aws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source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"hashicorp/aws"</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version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"~&gt; 6.0"</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provider</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"aws"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region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var</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region</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default_tags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tags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Project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"aws-landing-zone"</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ManagedBy</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"terraform"</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p:txBody>
      </p:sp>
      <p:sp>
        <p:nvSpPr>
          <p:cNvPr id="6" name="marker-273"/>
          <p:cNvSpPr/>
          <p:nvPr/>
        </p:nvSpPr>
        <p:spPr>
          <a:xfrm>
            <a:off x="484632" y="1876806"/>
            <a:ext cx="292608" cy="292608"/>
          </a:xfrm>
          <a:prstGeom prst="ellipse">
            <a:avLst/>
          </a:prstGeom>
          <a:solidFill>
            <a:schemeClr val="accent2"/>
          </a:solidFill>
          <a:ln w="12700">
            <a:solidFill>
              <a:schemeClr val="accent2"/>
            </a:solidFill>
            <a:prstDash val="solid"/>
          </a:ln>
        </p:spPr>
      </p:sp>
      <p:sp>
        <p:nvSpPr>
          <p:cNvPr id="7" name="marker-n-274"/>
          <p:cNvSpPr txBox="1"/>
          <p:nvPr/>
        </p:nvSpPr>
        <p:spPr>
          <a:xfrm>
            <a:off x="484632" y="1876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275"/>
          <p:cNvSpPr/>
          <p:nvPr/>
        </p:nvSpPr>
        <p:spPr>
          <a:xfrm>
            <a:off x="484632" y="2829306"/>
            <a:ext cx="292608" cy="292608"/>
          </a:xfrm>
          <a:prstGeom prst="ellipse">
            <a:avLst/>
          </a:prstGeom>
          <a:solidFill>
            <a:schemeClr val="accent2"/>
          </a:solidFill>
          <a:ln w="12700">
            <a:solidFill>
              <a:schemeClr val="accent2"/>
            </a:solidFill>
            <a:prstDash val="solid"/>
          </a:ln>
        </p:spPr>
      </p:sp>
      <p:sp>
        <p:nvSpPr>
          <p:cNvPr id="9" name="marker-n-276"/>
          <p:cNvSpPr txBox="1"/>
          <p:nvPr/>
        </p:nvSpPr>
        <p:spPr>
          <a:xfrm>
            <a:off x="484632" y="28293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277"/>
          <p:cNvSpPr/>
          <p:nvPr/>
        </p:nvSpPr>
        <p:spPr>
          <a:xfrm>
            <a:off x="484632" y="3781806"/>
            <a:ext cx="292608" cy="292608"/>
          </a:xfrm>
          <a:prstGeom prst="ellipse">
            <a:avLst/>
          </a:prstGeom>
          <a:solidFill>
            <a:schemeClr val="accent2"/>
          </a:solidFill>
          <a:ln w="12700">
            <a:solidFill>
              <a:schemeClr val="accent2"/>
            </a:solidFill>
            <a:prstDash val="solid"/>
          </a:ln>
        </p:spPr>
      </p:sp>
      <p:sp>
        <p:nvSpPr>
          <p:cNvPr id="11" name="marker-n-278"/>
          <p:cNvSpPr txBox="1"/>
          <p:nvPr/>
        </p:nvSpPr>
        <p:spPr>
          <a:xfrm>
            <a:off x="484632" y="3781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279"/>
          <p:cNvSpPr/>
          <p:nvPr/>
        </p:nvSpPr>
        <p:spPr>
          <a:xfrm>
            <a:off x="484632" y="4353306"/>
            <a:ext cx="292608" cy="292608"/>
          </a:xfrm>
          <a:prstGeom prst="ellipse">
            <a:avLst/>
          </a:prstGeom>
          <a:solidFill>
            <a:schemeClr val="accent2"/>
          </a:solidFill>
          <a:ln w="12700">
            <a:solidFill>
              <a:schemeClr val="accent2"/>
            </a:solidFill>
            <a:prstDash val="solid"/>
          </a:ln>
        </p:spPr>
      </p:sp>
      <p:sp>
        <p:nvSpPr>
          <p:cNvPr id="13" name="marker-n-280"/>
          <p:cNvSpPr txBox="1"/>
          <p:nvPr/>
        </p:nvSpPr>
        <p:spPr>
          <a:xfrm>
            <a:off x="484632" y="43533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14" name="marker-281"/>
          <p:cNvSpPr/>
          <p:nvPr/>
        </p:nvSpPr>
        <p:spPr>
          <a:xfrm>
            <a:off x="7818120" y="1325880"/>
            <a:ext cx="329184" cy="329184"/>
          </a:xfrm>
          <a:prstGeom prst="ellipse">
            <a:avLst/>
          </a:prstGeom>
          <a:solidFill>
            <a:schemeClr val="accent2"/>
          </a:solidFill>
          <a:ln w="12700">
            <a:solidFill>
              <a:schemeClr val="accent2"/>
            </a:solidFill>
            <a:prstDash val="solid"/>
          </a:ln>
        </p:spPr>
      </p:sp>
      <p:sp>
        <p:nvSpPr>
          <p:cNvPr id="15" name="marker-n-282"/>
          <p:cNvSpPr txBox="1"/>
          <p:nvPr/>
        </p:nvSpPr>
        <p:spPr>
          <a:xfrm>
            <a:off x="781812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6" name="callout-283"/>
          <p:cNvSpPr txBox="1"/>
          <p:nvPr/>
        </p:nvSpPr>
        <p:spPr>
          <a:xfrm>
            <a:off x="8275320" y="130759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required_version</a:t>
            </a:r>
            <a:endParaRPr lang="en-US" sz="1500" dirty="0"/>
          </a:p>
          <a:p>
            <a:pPr indent="0" marL="0">
              <a:spcAft>
                <a:spcPts val="200"/>
              </a:spcAft>
              <a:buNone/>
            </a:pPr>
            <a:r>
              <a:rPr lang="en-US" sz="1400" dirty="0">
                <a:solidFill>
                  <a:schemeClr val="tx1"/>
                </a:solidFill>
              </a:rPr>
              <a:t>1.10 is the first release with native S3 state locking.</a:t>
            </a:r>
            <a:endParaRPr lang="en-US" sz="1500" dirty="0"/>
          </a:p>
        </p:txBody>
      </p:sp>
      <p:sp>
        <p:nvSpPr>
          <p:cNvPr id="17" name="marker-284"/>
          <p:cNvSpPr/>
          <p:nvPr/>
        </p:nvSpPr>
        <p:spPr>
          <a:xfrm>
            <a:off x="7818120" y="2255520"/>
            <a:ext cx="329184" cy="329184"/>
          </a:xfrm>
          <a:prstGeom prst="ellipse">
            <a:avLst/>
          </a:prstGeom>
          <a:solidFill>
            <a:schemeClr val="accent2"/>
          </a:solidFill>
          <a:ln w="12700">
            <a:solidFill>
              <a:schemeClr val="accent2"/>
            </a:solidFill>
            <a:prstDash val="solid"/>
          </a:ln>
        </p:spPr>
      </p:sp>
      <p:sp>
        <p:nvSpPr>
          <p:cNvPr id="18" name="marker-n-285"/>
          <p:cNvSpPr txBox="1"/>
          <p:nvPr/>
        </p:nvSpPr>
        <p:spPr>
          <a:xfrm>
            <a:off x="7818120" y="2255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9" name="callout-286"/>
          <p:cNvSpPr txBox="1"/>
          <p:nvPr/>
        </p:nvSpPr>
        <p:spPr>
          <a:xfrm>
            <a:off x="8275320" y="223723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~&gt; 6.0 means any 6.x</a:t>
            </a:r>
            <a:endParaRPr lang="en-US" sz="1500" dirty="0"/>
          </a:p>
          <a:p>
            <a:pPr indent="0" marL="0">
              <a:spcAft>
                <a:spcPts val="200"/>
              </a:spcAft>
              <a:buNone/>
            </a:pPr>
            <a:r>
              <a:rPr lang="en-US" sz="1400" dirty="0">
                <a:solidFill>
                  <a:schemeClr val="tx1"/>
                </a:solidFill>
              </a:rPr>
              <a:t>Allows bug fixes but blocks a future 7.0 that could break the code.</a:t>
            </a:r>
            <a:endParaRPr lang="en-US" sz="1500" dirty="0"/>
          </a:p>
        </p:txBody>
      </p:sp>
      <p:sp>
        <p:nvSpPr>
          <p:cNvPr id="20" name="marker-287"/>
          <p:cNvSpPr/>
          <p:nvPr/>
        </p:nvSpPr>
        <p:spPr>
          <a:xfrm>
            <a:off x="7818120" y="3185160"/>
            <a:ext cx="329184" cy="329184"/>
          </a:xfrm>
          <a:prstGeom prst="ellipse">
            <a:avLst/>
          </a:prstGeom>
          <a:solidFill>
            <a:schemeClr val="accent2"/>
          </a:solidFill>
          <a:ln w="12700">
            <a:solidFill>
              <a:schemeClr val="accent2"/>
            </a:solidFill>
            <a:prstDash val="solid"/>
          </a:ln>
        </p:spPr>
      </p:sp>
      <p:sp>
        <p:nvSpPr>
          <p:cNvPr id="21" name="marker-n-288"/>
          <p:cNvSpPr txBox="1"/>
          <p:nvPr/>
        </p:nvSpPr>
        <p:spPr>
          <a:xfrm>
            <a:off x="7818120" y="318516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2" name="callout-289"/>
          <p:cNvSpPr txBox="1"/>
          <p:nvPr/>
        </p:nvSpPr>
        <p:spPr>
          <a:xfrm>
            <a:off x="8275320" y="316687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provider is the SDK client</a:t>
            </a:r>
            <a:endParaRPr lang="en-US" sz="1500" dirty="0"/>
          </a:p>
          <a:p>
            <a:pPr indent="0" marL="0">
              <a:spcAft>
                <a:spcPts val="200"/>
              </a:spcAft>
              <a:buNone/>
            </a:pPr>
            <a:r>
              <a:rPr lang="en-US" sz="1400" dirty="0">
                <a:solidFill>
                  <a:schemeClr val="tx1"/>
                </a:solidFill>
              </a:rPr>
              <a:t>Credentials come from AWS_PROFILE, just like the AWS CLI.</a:t>
            </a:r>
            <a:endParaRPr lang="en-US" sz="1500" dirty="0"/>
          </a:p>
        </p:txBody>
      </p:sp>
      <p:sp>
        <p:nvSpPr>
          <p:cNvPr id="23" name="marker-290"/>
          <p:cNvSpPr/>
          <p:nvPr/>
        </p:nvSpPr>
        <p:spPr>
          <a:xfrm>
            <a:off x="7818120" y="4114800"/>
            <a:ext cx="329184" cy="329184"/>
          </a:xfrm>
          <a:prstGeom prst="ellipse">
            <a:avLst/>
          </a:prstGeom>
          <a:solidFill>
            <a:schemeClr val="accent2"/>
          </a:solidFill>
          <a:ln w="12700">
            <a:solidFill>
              <a:schemeClr val="accent2"/>
            </a:solidFill>
            <a:prstDash val="solid"/>
          </a:ln>
        </p:spPr>
      </p:sp>
      <p:sp>
        <p:nvSpPr>
          <p:cNvPr id="24" name="marker-n-291"/>
          <p:cNvSpPr txBox="1"/>
          <p:nvPr/>
        </p:nvSpPr>
        <p:spPr>
          <a:xfrm>
            <a:off x="7818120" y="411480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5" name="callout-292"/>
          <p:cNvSpPr txBox="1"/>
          <p:nvPr/>
        </p:nvSpPr>
        <p:spPr>
          <a:xfrm>
            <a:off x="8275320" y="4096512"/>
            <a:ext cx="342900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default_tags</a:t>
            </a:r>
            <a:endParaRPr lang="en-US" sz="1500" dirty="0"/>
          </a:p>
          <a:p>
            <a:pPr indent="0" marL="0">
              <a:spcAft>
                <a:spcPts val="200"/>
              </a:spcAft>
              <a:buNone/>
            </a:pPr>
            <a:r>
              <a:rPr lang="en-US" sz="1400" dirty="0">
                <a:solidFill>
                  <a:schemeClr val="tx1"/>
                </a:solidFill>
              </a:rPr>
              <a:t>Every resource in this layer gets these tags automatically. Useful for cost reports.</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Looking things up: data sources and locals</a:t>
            </a:r>
            <a:endParaRPr lang="en-US" sz="3400" dirty="0"/>
          </a:p>
        </p:txBody>
      </p:sp>
      <p:sp>
        <p:nvSpPr>
          <p:cNvPr id="3" name="code-label-293"/>
          <p:cNvSpPr txBox="1"/>
          <p:nvPr/>
        </p:nvSpPr>
        <p:spPr>
          <a:xfrm>
            <a:off x="868680" y="1280160"/>
            <a:ext cx="6583680" cy="274320"/>
          </a:xfrm>
          <a:prstGeom prst="rect">
            <a:avLst/>
          </a:prstGeom>
          <a:noFill/>
          <a:ln/>
        </p:spPr>
        <p:txBody>
          <a:bodyPr wrap="square" lIns="0" tIns="0" rIns="0" bIns="0" rtlCol="0" anchor="ctr"/>
          <a:lstStyle/>
          <a:p>
            <a:pPr indent="0" marL="0">
              <a:buNone/>
            </a:pPr>
            <a:r>
              <a:rPr lang="en-US" sz="1100" b="1" dirty="0">
                <a:solidFill>
                  <a:schemeClr val="tx2"/>
                </a:solidFill>
              </a:rPr>
              <a:t>layers/00-bootstrap/main.tf</a:t>
            </a:r>
            <a:endParaRPr lang="en-US" sz="1100" dirty="0"/>
          </a:p>
        </p:txBody>
      </p:sp>
      <p:sp>
        <p:nvSpPr>
          <p:cNvPr id="4" name="code-bg-294"/>
          <p:cNvSpPr/>
          <p:nvPr/>
        </p:nvSpPr>
        <p:spPr>
          <a:xfrm>
            <a:off x="868680" y="1572768"/>
            <a:ext cx="6583680" cy="1662684"/>
          </a:xfrm>
          <a:prstGeom prst="roundRect">
            <a:avLst>
              <a:gd name="adj" fmla="val 4400"/>
            </a:avLst>
          </a:prstGeom>
          <a:solidFill>
            <a:schemeClr val="tx1"/>
          </a:solidFill>
          <a:ln w="12700">
            <a:solidFill>
              <a:schemeClr val="tx1"/>
            </a:solidFill>
            <a:prstDash val="solid"/>
          </a:ln>
        </p:spPr>
      </p:sp>
      <p:sp>
        <p:nvSpPr>
          <p:cNvPr id="5" name="code-295"/>
          <p:cNvSpPr txBox="1"/>
          <p:nvPr/>
        </p:nvSpPr>
        <p:spPr>
          <a:xfrm>
            <a:off x="1051560" y="1737360"/>
            <a:ext cx="6263640" cy="1351788"/>
          </a:xfrm>
          <a:prstGeom prst="rect">
            <a:avLst/>
          </a:prstGeom>
          <a:noFill/>
          <a:ln/>
        </p:spPr>
        <p:txBody>
          <a:bodyPr wrap="square" lIns="0" tIns="0" rIns="0" bIns="0" rtlCol="0" anchor="t"/>
          <a:lstStyle/>
          <a:p>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data</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"aws_caller_identity"</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"current"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locals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account_id</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data</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aws_caller_identity</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current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account_id</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bucket_name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"${var.name_prefix}-tfstate-${local.account_id}"</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p:txBody>
      </p:sp>
      <p:sp>
        <p:nvSpPr>
          <p:cNvPr id="6" name="marker-296"/>
          <p:cNvSpPr/>
          <p:nvPr/>
        </p:nvSpPr>
        <p:spPr>
          <a:xfrm>
            <a:off x="484632" y="1686306"/>
            <a:ext cx="292608" cy="292608"/>
          </a:xfrm>
          <a:prstGeom prst="ellipse">
            <a:avLst/>
          </a:prstGeom>
          <a:solidFill>
            <a:schemeClr val="accent2"/>
          </a:solidFill>
          <a:ln w="12700">
            <a:solidFill>
              <a:schemeClr val="accent2"/>
            </a:solidFill>
            <a:prstDash val="solid"/>
          </a:ln>
        </p:spPr>
      </p:sp>
      <p:sp>
        <p:nvSpPr>
          <p:cNvPr id="7" name="marker-n-297"/>
          <p:cNvSpPr txBox="1"/>
          <p:nvPr/>
        </p:nvSpPr>
        <p:spPr>
          <a:xfrm>
            <a:off x="484632" y="16863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298"/>
          <p:cNvSpPr/>
          <p:nvPr/>
        </p:nvSpPr>
        <p:spPr>
          <a:xfrm>
            <a:off x="484632" y="2257806"/>
            <a:ext cx="292608" cy="292608"/>
          </a:xfrm>
          <a:prstGeom prst="ellipse">
            <a:avLst/>
          </a:prstGeom>
          <a:solidFill>
            <a:schemeClr val="accent2"/>
          </a:solidFill>
          <a:ln w="12700">
            <a:solidFill>
              <a:schemeClr val="accent2"/>
            </a:solidFill>
            <a:prstDash val="solid"/>
          </a:ln>
        </p:spPr>
      </p:sp>
      <p:sp>
        <p:nvSpPr>
          <p:cNvPr id="9" name="marker-n-299"/>
          <p:cNvSpPr txBox="1"/>
          <p:nvPr/>
        </p:nvSpPr>
        <p:spPr>
          <a:xfrm>
            <a:off x="484632" y="2257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300"/>
          <p:cNvSpPr/>
          <p:nvPr/>
        </p:nvSpPr>
        <p:spPr>
          <a:xfrm>
            <a:off x="484632" y="2638806"/>
            <a:ext cx="292608" cy="292608"/>
          </a:xfrm>
          <a:prstGeom prst="ellipse">
            <a:avLst/>
          </a:prstGeom>
          <a:solidFill>
            <a:schemeClr val="accent2"/>
          </a:solidFill>
          <a:ln w="12700">
            <a:solidFill>
              <a:schemeClr val="accent2"/>
            </a:solidFill>
            <a:prstDash val="solid"/>
          </a:ln>
        </p:spPr>
      </p:sp>
      <p:sp>
        <p:nvSpPr>
          <p:cNvPr id="11" name="marker-n-301"/>
          <p:cNvSpPr txBox="1"/>
          <p:nvPr/>
        </p:nvSpPr>
        <p:spPr>
          <a:xfrm>
            <a:off x="484632" y="2638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302"/>
          <p:cNvSpPr/>
          <p:nvPr/>
        </p:nvSpPr>
        <p:spPr>
          <a:xfrm>
            <a:off x="7818120" y="1325880"/>
            <a:ext cx="329184" cy="329184"/>
          </a:xfrm>
          <a:prstGeom prst="ellipse">
            <a:avLst/>
          </a:prstGeom>
          <a:solidFill>
            <a:schemeClr val="accent2"/>
          </a:solidFill>
          <a:ln w="12700">
            <a:solidFill>
              <a:schemeClr val="accent2"/>
            </a:solidFill>
            <a:prstDash val="solid"/>
          </a:ln>
        </p:spPr>
      </p:sp>
      <p:sp>
        <p:nvSpPr>
          <p:cNvPr id="13" name="marker-n-303"/>
          <p:cNvSpPr txBox="1"/>
          <p:nvPr/>
        </p:nvSpPr>
        <p:spPr>
          <a:xfrm>
            <a:off x="781812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4" name="callout-304"/>
          <p:cNvSpPr txBox="1"/>
          <p:nvPr/>
        </p:nvSpPr>
        <p:spPr>
          <a:xfrm>
            <a:off x="8275320" y="1307592"/>
            <a:ext cx="342900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 data source only reads</a:t>
            </a:r>
            <a:endParaRPr lang="en-US" sz="1500" dirty="0"/>
          </a:p>
          <a:p>
            <a:pPr indent="0" marL="0">
              <a:spcAft>
                <a:spcPts val="200"/>
              </a:spcAft>
              <a:buNone/>
            </a:pPr>
            <a:r>
              <a:rPr lang="en-US" sz="1400" dirty="0">
                <a:solidFill>
                  <a:schemeClr val="tx1"/>
                </a:solidFill>
              </a:rPr>
              <a:t>This asks AWS who the current credentials belong to. Nothing is created, so the braces are empty.</a:t>
            </a:r>
            <a:endParaRPr lang="en-US" sz="1500" dirty="0"/>
          </a:p>
        </p:txBody>
      </p:sp>
      <p:sp>
        <p:nvSpPr>
          <p:cNvPr id="15" name="marker-305"/>
          <p:cNvSpPr/>
          <p:nvPr/>
        </p:nvSpPr>
        <p:spPr>
          <a:xfrm>
            <a:off x="7818120" y="2468880"/>
            <a:ext cx="329184" cy="329184"/>
          </a:xfrm>
          <a:prstGeom prst="ellipse">
            <a:avLst/>
          </a:prstGeom>
          <a:solidFill>
            <a:schemeClr val="accent2"/>
          </a:solidFill>
          <a:ln w="12700">
            <a:solidFill>
              <a:schemeClr val="accent2"/>
            </a:solidFill>
            <a:prstDash val="solid"/>
          </a:ln>
        </p:spPr>
      </p:sp>
      <p:sp>
        <p:nvSpPr>
          <p:cNvPr id="16" name="marker-n-306"/>
          <p:cNvSpPr txBox="1"/>
          <p:nvPr/>
        </p:nvSpPr>
        <p:spPr>
          <a:xfrm>
            <a:off x="7818120" y="2468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7" name="callout-307"/>
          <p:cNvSpPr txBox="1"/>
          <p:nvPr/>
        </p:nvSpPr>
        <p:spPr>
          <a:xfrm>
            <a:off x="8275320" y="245059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Reading a data source</a:t>
            </a:r>
            <a:endParaRPr lang="en-US" sz="1500" dirty="0"/>
          </a:p>
          <a:p>
            <a:pPr indent="0" marL="0">
              <a:spcAft>
                <a:spcPts val="200"/>
              </a:spcAft>
              <a:buNone/>
            </a:pPr>
            <a:r>
              <a:rPr lang="en-US" sz="1400" dirty="0">
                <a:solidFill>
                  <a:schemeClr val="tx1"/>
                </a:solidFill>
              </a:rPr>
              <a:t>data.TYPE.NAME.ATTRIBUTE, the same pattern as resources with a data. prefix.</a:t>
            </a:r>
            <a:endParaRPr lang="en-US" sz="1500" dirty="0"/>
          </a:p>
        </p:txBody>
      </p:sp>
      <p:sp>
        <p:nvSpPr>
          <p:cNvPr id="18" name="marker-308"/>
          <p:cNvSpPr/>
          <p:nvPr/>
        </p:nvSpPr>
        <p:spPr>
          <a:xfrm>
            <a:off x="7818120" y="3398520"/>
            <a:ext cx="329184" cy="329184"/>
          </a:xfrm>
          <a:prstGeom prst="ellipse">
            <a:avLst/>
          </a:prstGeom>
          <a:solidFill>
            <a:schemeClr val="accent2"/>
          </a:solidFill>
          <a:ln w="12700">
            <a:solidFill>
              <a:schemeClr val="accent2"/>
            </a:solidFill>
            <a:prstDash val="solid"/>
          </a:ln>
        </p:spPr>
      </p:sp>
      <p:sp>
        <p:nvSpPr>
          <p:cNvPr id="19" name="marker-n-309"/>
          <p:cNvSpPr txBox="1"/>
          <p:nvPr/>
        </p:nvSpPr>
        <p:spPr>
          <a:xfrm>
            <a:off x="7818120" y="3398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0" name="callout-310"/>
          <p:cNvSpPr txBox="1"/>
          <p:nvPr/>
        </p:nvSpPr>
        <p:spPr>
          <a:xfrm>
            <a:off x="8275320" y="3380232"/>
            <a:ext cx="342900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Why the account ID is in the name</a:t>
            </a:r>
            <a:endParaRPr lang="en-US" sz="1500" dirty="0"/>
          </a:p>
          <a:p>
            <a:pPr indent="0" marL="0">
              <a:spcAft>
                <a:spcPts val="200"/>
              </a:spcAft>
              <a:buNone/>
            </a:pPr>
            <a:r>
              <a:rPr lang="en-US" sz="1400" dirty="0">
                <a:solidFill>
                  <a:schemeClr val="tx1"/>
                </a:solidFill>
              </a:rPr>
              <a:t>Bucket names are global across every AWS customer. Adding your account ID makes the name unique.</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A customer-managed KMS key</a:t>
            </a:r>
            <a:endParaRPr lang="en-US" sz="3400" dirty="0"/>
          </a:p>
        </p:txBody>
      </p:sp>
      <p:sp>
        <p:nvSpPr>
          <p:cNvPr id="3" name="code-label-311"/>
          <p:cNvSpPr txBox="1"/>
          <p:nvPr/>
        </p:nvSpPr>
        <p:spPr>
          <a:xfrm>
            <a:off x="868680" y="1280160"/>
            <a:ext cx="6583680" cy="274320"/>
          </a:xfrm>
          <a:prstGeom prst="rect">
            <a:avLst/>
          </a:prstGeom>
          <a:noFill/>
          <a:ln/>
        </p:spPr>
        <p:txBody>
          <a:bodyPr wrap="square" lIns="0" tIns="0" rIns="0" bIns="0" rtlCol="0" anchor="ctr"/>
          <a:lstStyle/>
          <a:p>
            <a:pPr indent="0" marL="0">
              <a:buNone/>
            </a:pPr>
            <a:r>
              <a:rPr lang="en-US" sz="1100" b="1" dirty="0">
                <a:solidFill>
                  <a:schemeClr val="tx2"/>
                </a:solidFill>
              </a:rPr>
              <a:t>layers/00-bootstrap/main.tf</a:t>
            </a:r>
            <a:endParaRPr lang="en-US" sz="1100" dirty="0"/>
          </a:p>
        </p:txBody>
      </p:sp>
      <p:sp>
        <p:nvSpPr>
          <p:cNvPr id="4" name="code-bg-312"/>
          <p:cNvSpPr/>
          <p:nvPr/>
        </p:nvSpPr>
        <p:spPr>
          <a:xfrm>
            <a:off x="868680" y="1572768"/>
            <a:ext cx="6583680" cy="3885184"/>
          </a:xfrm>
          <a:prstGeom prst="roundRect">
            <a:avLst>
              <a:gd name="adj" fmla="val 1883"/>
            </a:avLst>
          </a:prstGeom>
          <a:solidFill>
            <a:schemeClr val="tx1"/>
          </a:solidFill>
          <a:ln w="12700">
            <a:solidFill>
              <a:schemeClr val="tx1"/>
            </a:solidFill>
            <a:prstDash val="solid"/>
          </a:ln>
        </p:spPr>
      </p:sp>
      <p:sp>
        <p:nvSpPr>
          <p:cNvPr id="5" name="code-313"/>
          <p:cNvSpPr txBox="1"/>
          <p:nvPr/>
        </p:nvSpPr>
        <p:spPr>
          <a:xfrm>
            <a:off x="1051560" y="1737360"/>
            <a:ext cx="6263640" cy="3574288"/>
          </a:xfrm>
          <a:prstGeom prst="rect">
            <a:avLst/>
          </a:prstGeom>
          <a:noFill/>
          <a:ln/>
        </p:spPr>
        <p:txBody>
          <a:bodyPr wrap="square" lIns="0" tIns="0" rIns="0" bIns="0" rtlCol="0" anchor="t"/>
          <a:lstStyle/>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"aws_kms_key"</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"state"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description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"Encrypts Terraform state"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enable_key_rotation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true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deletion_window_in_days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7</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policy</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jsonencode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Version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"2012-10-17"</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Statement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Effect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"Allow"</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Principal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"arn:aws:iam::${local.account_id}:root"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Action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"kms:*"</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"aws_kms_alias"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"state"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name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"alias/lz-tfstate"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target_key_id</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aws_kms_key</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state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key_id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6" name="marker-314"/>
          <p:cNvSpPr/>
          <p:nvPr/>
        </p:nvSpPr>
        <p:spPr>
          <a:xfrm>
            <a:off x="484632" y="2035556"/>
            <a:ext cx="292608" cy="292608"/>
          </a:xfrm>
          <a:prstGeom prst="ellipse">
            <a:avLst/>
          </a:prstGeom>
          <a:solidFill>
            <a:schemeClr val="accent2"/>
          </a:solidFill>
          <a:ln w="12700">
            <a:solidFill>
              <a:schemeClr val="accent2"/>
            </a:solidFill>
            <a:prstDash val="solid"/>
          </a:ln>
        </p:spPr>
      </p:sp>
      <p:sp>
        <p:nvSpPr>
          <p:cNvPr id="7" name="marker-n-315"/>
          <p:cNvSpPr txBox="1"/>
          <p:nvPr/>
        </p:nvSpPr>
        <p:spPr>
          <a:xfrm>
            <a:off x="484632" y="20355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316"/>
          <p:cNvSpPr/>
          <p:nvPr/>
        </p:nvSpPr>
        <p:spPr>
          <a:xfrm>
            <a:off x="484632" y="2568956"/>
            <a:ext cx="292608" cy="292608"/>
          </a:xfrm>
          <a:prstGeom prst="ellipse">
            <a:avLst/>
          </a:prstGeom>
          <a:solidFill>
            <a:schemeClr val="accent2"/>
          </a:solidFill>
          <a:ln w="12700">
            <a:solidFill>
              <a:schemeClr val="accent2"/>
            </a:solidFill>
            <a:prstDash val="solid"/>
          </a:ln>
        </p:spPr>
      </p:sp>
      <p:sp>
        <p:nvSpPr>
          <p:cNvPr id="9" name="marker-n-317"/>
          <p:cNvSpPr txBox="1"/>
          <p:nvPr/>
        </p:nvSpPr>
        <p:spPr>
          <a:xfrm>
            <a:off x="484632" y="25689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318"/>
          <p:cNvSpPr/>
          <p:nvPr/>
        </p:nvSpPr>
        <p:spPr>
          <a:xfrm>
            <a:off x="484632" y="3280156"/>
            <a:ext cx="292608" cy="292608"/>
          </a:xfrm>
          <a:prstGeom prst="ellipse">
            <a:avLst/>
          </a:prstGeom>
          <a:solidFill>
            <a:schemeClr val="accent2"/>
          </a:solidFill>
          <a:ln w="12700">
            <a:solidFill>
              <a:schemeClr val="accent2"/>
            </a:solidFill>
            <a:prstDash val="solid"/>
          </a:ln>
        </p:spPr>
      </p:sp>
      <p:sp>
        <p:nvSpPr>
          <p:cNvPr id="11" name="marker-n-319"/>
          <p:cNvSpPr txBox="1"/>
          <p:nvPr/>
        </p:nvSpPr>
        <p:spPr>
          <a:xfrm>
            <a:off x="484632" y="32801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320"/>
          <p:cNvSpPr/>
          <p:nvPr/>
        </p:nvSpPr>
        <p:spPr>
          <a:xfrm>
            <a:off x="484632" y="4702556"/>
            <a:ext cx="292608" cy="292608"/>
          </a:xfrm>
          <a:prstGeom prst="ellipse">
            <a:avLst/>
          </a:prstGeom>
          <a:solidFill>
            <a:schemeClr val="accent2"/>
          </a:solidFill>
          <a:ln w="12700">
            <a:solidFill>
              <a:schemeClr val="accent2"/>
            </a:solidFill>
            <a:prstDash val="solid"/>
          </a:ln>
        </p:spPr>
      </p:sp>
      <p:sp>
        <p:nvSpPr>
          <p:cNvPr id="13" name="marker-n-321"/>
          <p:cNvSpPr txBox="1"/>
          <p:nvPr/>
        </p:nvSpPr>
        <p:spPr>
          <a:xfrm>
            <a:off x="484632" y="47025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14" name="marker-322"/>
          <p:cNvSpPr/>
          <p:nvPr/>
        </p:nvSpPr>
        <p:spPr>
          <a:xfrm>
            <a:off x="7818120" y="1325880"/>
            <a:ext cx="329184" cy="329184"/>
          </a:xfrm>
          <a:prstGeom prst="ellipse">
            <a:avLst/>
          </a:prstGeom>
          <a:solidFill>
            <a:schemeClr val="accent2"/>
          </a:solidFill>
          <a:ln w="12700">
            <a:solidFill>
              <a:schemeClr val="accent2"/>
            </a:solidFill>
            <a:prstDash val="solid"/>
          </a:ln>
        </p:spPr>
      </p:sp>
      <p:sp>
        <p:nvSpPr>
          <p:cNvPr id="15" name="marker-n-323"/>
          <p:cNvSpPr txBox="1"/>
          <p:nvPr/>
        </p:nvSpPr>
        <p:spPr>
          <a:xfrm>
            <a:off x="781812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6" name="callout-324"/>
          <p:cNvSpPr txBox="1"/>
          <p:nvPr/>
        </p:nvSpPr>
        <p:spPr>
          <a:xfrm>
            <a:off x="8275320" y="1307592"/>
            <a:ext cx="342900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Rotation and a safety window</a:t>
            </a:r>
            <a:endParaRPr lang="en-US" sz="1500" dirty="0"/>
          </a:p>
          <a:p>
            <a:pPr indent="0" marL="0">
              <a:spcAft>
                <a:spcPts val="200"/>
              </a:spcAft>
              <a:buNone/>
            </a:pPr>
            <a:r>
              <a:rPr lang="en-US" sz="1400" dirty="0">
                <a:solidFill>
                  <a:schemeClr val="tx1"/>
                </a:solidFill>
              </a:rPr>
              <a:t>AWS rotates the key yearly. A deleted key waits 7 days, so a mistake can be undone.</a:t>
            </a:r>
            <a:endParaRPr lang="en-US" sz="1500" dirty="0"/>
          </a:p>
        </p:txBody>
      </p:sp>
      <p:sp>
        <p:nvSpPr>
          <p:cNvPr id="17" name="marker-325"/>
          <p:cNvSpPr/>
          <p:nvPr/>
        </p:nvSpPr>
        <p:spPr>
          <a:xfrm>
            <a:off x="7818120" y="2468880"/>
            <a:ext cx="329184" cy="329184"/>
          </a:xfrm>
          <a:prstGeom prst="ellipse">
            <a:avLst/>
          </a:prstGeom>
          <a:solidFill>
            <a:schemeClr val="accent2"/>
          </a:solidFill>
          <a:ln w="12700">
            <a:solidFill>
              <a:schemeClr val="accent2"/>
            </a:solidFill>
            <a:prstDash val="solid"/>
          </a:ln>
        </p:spPr>
      </p:sp>
      <p:sp>
        <p:nvSpPr>
          <p:cNvPr id="18" name="marker-n-326"/>
          <p:cNvSpPr txBox="1"/>
          <p:nvPr/>
        </p:nvSpPr>
        <p:spPr>
          <a:xfrm>
            <a:off x="7818120" y="2468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9" name="callout-327"/>
          <p:cNvSpPr txBox="1"/>
          <p:nvPr/>
        </p:nvSpPr>
        <p:spPr>
          <a:xfrm>
            <a:off x="8275320" y="245059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jsonencode</a:t>
            </a:r>
            <a:endParaRPr lang="en-US" sz="1500" dirty="0"/>
          </a:p>
          <a:p>
            <a:pPr indent="0" marL="0">
              <a:spcAft>
                <a:spcPts val="200"/>
              </a:spcAft>
              <a:buNone/>
            </a:pPr>
            <a:r>
              <a:rPr lang="en-US" sz="1400" dirty="0">
                <a:solidFill>
                  <a:schemeClr val="tx1"/>
                </a:solidFill>
              </a:rPr>
              <a:t>Write the policy as HCL maps and lists. Terraform emits the JSON.</a:t>
            </a:r>
            <a:endParaRPr lang="en-US" sz="1500" dirty="0"/>
          </a:p>
        </p:txBody>
      </p:sp>
      <p:sp>
        <p:nvSpPr>
          <p:cNvPr id="20" name="marker-328"/>
          <p:cNvSpPr/>
          <p:nvPr/>
        </p:nvSpPr>
        <p:spPr>
          <a:xfrm>
            <a:off x="7818120" y="3398520"/>
            <a:ext cx="329184" cy="329184"/>
          </a:xfrm>
          <a:prstGeom prst="ellipse">
            <a:avLst/>
          </a:prstGeom>
          <a:solidFill>
            <a:schemeClr val="accent2"/>
          </a:solidFill>
          <a:ln w="12700">
            <a:solidFill>
              <a:schemeClr val="accent2"/>
            </a:solidFill>
            <a:prstDash val="solid"/>
          </a:ln>
        </p:spPr>
      </p:sp>
      <p:sp>
        <p:nvSpPr>
          <p:cNvPr id="21" name="marker-n-329"/>
          <p:cNvSpPr txBox="1"/>
          <p:nvPr/>
        </p:nvSpPr>
        <p:spPr>
          <a:xfrm>
            <a:off x="7818120" y="3398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2" name="callout-330"/>
          <p:cNvSpPr txBox="1"/>
          <p:nvPr/>
        </p:nvSpPr>
        <p:spPr>
          <a:xfrm>
            <a:off x="8275320" y="338023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:root means this account</a:t>
            </a:r>
            <a:endParaRPr lang="en-US" sz="1500" dirty="0"/>
          </a:p>
          <a:p>
            <a:pPr indent="0" marL="0">
              <a:spcAft>
                <a:spcPts val="200"/>
              </a:spcAft>
              <a:buNone/>
            </a:pPr>
            <a:r>
              <a:rPr lang="en-US" sz="1400" dirty="0">
                <a:solidFill>
                  <a:schemeClr val="tx1"/>
                </a:solidFill>
              </a:rPr>
              <a:t>Not the root user. It hands access decisions to IAM policies in the account.</a:t>
            </a:r>
            <a:endParaRPr lang="en-US" sz="1500" dirty="0"/>
          </a:p>
        </p:txBody>
      </p:sp>
      <p:sp>
        <p:nvSpPr>
          <p:cNvPr id="23" name="marker-331"/>
          <p:cNvSpPr/>
          <p:nvPr/>
        </p:nvSpPr>
        <p:spPr>
          <a:xfrm>
            <a:off x="7818120" y="4328160"/>
            <a:ext cx="329184" cy="329184"/>
          </a:xfrm>
          <a:prstGeom prst="ellipse">
            <a:avLst/>
          </a:prstGeom>
          <a:solidFill>
            <a:schemeClr val="accent2"/>
          </a:solidFill>
          <a:ln w="12700">
            <a:solidFill>
              <a:schemeClr val="accent2"/>
            </a:solidFill>
            <a:prstDash val="solid"/>
          </a:ln>
        </p:spPr>
      </p:sp>
      <p:sp>
        <p:nvSpPr>
          <p:cNvPr id="24" name="marker-n-332"/>
          <p:cNvSpPr txBox="1"/>
          <p:nvPr/>
        </p:nvSpPr>
        <p:spPr>
          <a:xfrm>
            <a:off x="7818120" y="432816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5" name="callout-333"/>
          <p:cNvSpPr txBox="1"/>
          <p:nvPr/>
        </p:nvSpPr>
        <p:spPr>
          <a:xfrm>
            <a:off x="8275320" y="430987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An alias is a friendly name</a:t>
            </a:r>
            <a:endParaRPr lang="en-US" sz="1500" dirty="0"/>
          </a:p>
          <a:p>
            <a:pPr indent="0" marL="0">
              <a:spcAft>
                <a:spcPts val="200"/>
              </a:spcAft>
              <a:buNone/>
            </a:pPr>
            <a:r>
              <a:rPr lang="en-US" sz="1400" dirty="0">
                <a:solidFill>
                  <a:schemeClr val="tx1"/>
                </a:solidFill>
              </a:rPr>
              <a:t>alias/lz-tfstate points at the key, so you never type its ID.</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The bucket and its settings</a:t>
            </a:r>
            <a:endParaRPr lang="en-US" sz="3400" dirty="0"/>
          </a:p>
        </p:txBody>
      </p:sp>
      <p:sp>
        <p:nvSpPr>
          <p:cNvPr id="3" name="code-label-334"/>
          <p:cNvSpPr txBox="1"/>
          <p:nvPr/>
        </p:nvSpPr>
        <p:spPr>
          <a:xfrm>
            <a:off x="868680" y="1280160"/>
            <a:ext cx="6949440" cy="274320"/>
          </a:xfrm>
          <a:prstGeom prst="rect">
            <a:avLst/>
          </a:prstGeom>
          <a:noFill/>
          <a:ln/>
        </p:spPr>
        <p:txBody>
          <a:bodyPr wrap="square" lIns="0" tIns="0" rIns="0" bIns="0" rtlCol="0" anchor="ctr"/>
          <a:lstStyle/>
          <a:p>
            <a:pPr indent="0" marL="0">
              <a:buNone/>
            </a:pPr>
            <a:r>
              <a:rPr lang="en-US" sz="1100" b="1" dirty="0">
                <a:solidFill>
                  <a:schemeClr val="tx2"/>
                </a:solidFill>
              </a:rPr>
              <a:t>layers/00-bootstrap/main.tf</a:t>
            </a:r>
            <a:endParaRPr lang="en-US" sz="1100" dirty="0"/>
          </a:p>
        </p:txBody>
      </p:sp>
      <p:sp>
        <p:nvSpPr>
          <p:cNvPr id="4" name="code-bg-335"/>
          <p:cNvSpPr/>
          <p:nvPr/>
        </p:nvSpPr>
        <p:spPr>
          <a:xfrm>
            <a:off x="868680" y="1572768"/>
            <a:ext cx="6949440" cy="4062984"/>
          </a:xfrm>
          <a:prstGeom prst="roundRect">
            <a:avLst>
              <a:gd name="adj" fmla="val 1800"/>
            </a:avLst>
          </a:prstGeom>
          <a:solidFill>
            <a:schemeClr val="tx1"/>
          </a:solidFill>
          <a:ln w="12700">
            <a:solidFill>
              <a:schemeClr val="tx1"/>
            </a:solidFill>
            <a:prstDash val="solid"/>
          </a:ln>
        </p:spPr>
      </p:sp>
      <p:sp>
        <p:nvSpPr>
          <p:cNvPr id="5" name="code-336"/>
          <p:cNvSpPr txBox="1"/>
          <p:nvPr/>
        </p:nvSpPr>
        <p:spPr>
          <a:xfrm>
            <a:off x="1051560" y="1737360"/>
            <a:ext cx="6629400" cy="3752088"/>
          </a:xfrm>
          <a:prstGeom prst="rect">
            <a:avLst/>
          </a:prstGeom>
          <a:noFill/>
          <a:ln/>
        </p:spPr>
        <p:txBody>
          <a:bodyPr wrap="square" lIns="0" tIns="0" rIns="0" bIns="0" rtlCol="0" anchor="t"/>
          <a:lstStyle/>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"aws_s3_bucket"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"state"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bucket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local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bucket_name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"aws_s3_bucket_versioning"</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"state"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bucket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aws_s3_bucket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state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versioning_configuration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status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"Enabled"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"aws_s3_bucket_server_side_encryption_configuration"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"state"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bucket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aws_s3_bucket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state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rule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apply_server_side_encryption_by_default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sse_algorithm</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"aws:kms"</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kms_master_key_id</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aws_kms_key</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state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arn</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bucket_key_enabled</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true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6" name="marker-337"/>
          <p:cNvSpPr/>
          <p:nvPr/>
        </p:nvSpPr>
        <p:spPr>
          <a:xfrm>
            <a:off x="484632" y="2391156"/>
            <a:ext cx="292608" cy="292608"/>
          </a:xfrm>
          <a:prstGeom prst="ellipse">
            <a:avLst/>
          </a:prstGeom>
          <a:solidFill>
            <a:schemeClr val="accent2"/>
          </a:solidFill>
          <a:ln w="12700">
            <a:solidFill>
              <a:schemeClr val="accent2"/>
            </a:solidFill>
            <a:prstDash val="solid"/>
          </a:ln>
        </p:spPr>
      </p:sp>
      <p:sp>
        <p:nvSpPr>
          <p:cNvPr id="7" name="marker-n-338"/>
          <p:cNvSpPr txBox="1"/>
          <p:nvPr/>
        </p:nvSpPr>
        <p:spPr>
          <a:xfrm>
            <a:off x="484632" y="23911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339"/>
          <p:cNvSpPr/>
          <p:nvPr/>
        </p:nvSpPr>
        <p:spPr>
          <a:xfrm>
            <a:off x="484632" y="2924556"/>
            <a:ext cx="292608" cy="292608"/>
          </a:xfrm>
          <a:prstGeom prst="ellipse">
            <a:avLst/>
          </a:prstGeom>
          <a:solidFill>
            <a:schemeClr val="accent2"/>
          </a:solidFill>
          <a:ln w="12700">
            <a:solidFill>
              <a:schemeClr val="accent2"/>
            </a:solidFill>
            <a:prstDash val="solid"/>
          </a:ln>
        </p:spPr>
      </p:sp>
      <p:sp>
        <p:nvSpPr>
          <p:cNvPr id="9" name="marker-n-340"/>
          <p:cNvSpPr txBox="1"/>
          <p:nvPr/>
        </p:nvSpPr>
        <p:spPr>
          <a:xfrm>
            <a:off x="484632" y="29245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341"/>
          <p:cNvSpPr/>
          <p:nvPr/>
        </p:nvSpPr>
        <p:spPr>
          <a:xfrm>
            <a:off x="484632" y="4524756"/>
            <a:ext cx="292608" cy="292608"/>
          </a:xfrm>
          <a:prstGeom prst="ellipse">
            <a:avLst/>
          </a:prstGeom>
          <a:solidFill>
            <a:schemeClr val="accent2"/>
          </a:solidFill>
          <a:ln w="12700">
            <a:solidFill>
              <a:schemeClr val="accent2"/>
            </a:solidFill>
            <a:prstDash val="solid"/>
          </a:ln>
        </p:spPr>
      </p:sp>
      <p:sp>
        <p:nvSpPr>
          <p:cNvPr id="11" name="marker-n-342"/>
          <p:cNvSpPr txBox="1"/>
          <p:nvPr/>
        </p:nvSpPr>
        <p:spPr>
          <a:xfrm>
            <a:off x="484632" y="45247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343"/>
          <p:cNvSpPr/>
          <p:nvPr/>
        </p:nvSpPr>
        <p:spPr>
          <a:xfrm>
            <a:off x="484632" y="4880356"/>
            <a:ext cx="292608" cy="292608"/>
          </a:xfrm>
          <a:prstGeom prst="ellipse">
            <a:avLst/>
          </a:prstGeom>
          <a:solidFill>
            <a:schemeClr val="accent2"/>
          </a:solidFill>
          <a:ln w="12700">
            <a:solidFill>
              <a:schemeClr val="accent2"/>
            </a:solidFill>
            <a:prstDash val="solid"/>
          </a:ln>
        </p:spPr>
      </p:sp>
      <p:sp>
        <p:nvSpPr>
          <p:cNvPr id="13" name="marker-n-344"/>
          <p:cNvSpPr txBox="1"/>
          <p:nvPr/>
        </p:nvSpPr>
        <p:spPr>
          <a:xfrm>
            <a:off x="484632" y="48803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14" name="marker-345"/>
          <p:cNvSpPr/>
          <p:nvPr/>
        </p:nvSpPr>
        <p:spPr>
          <a:xfrm>
            <a:off x="8183880" y="1325880"/>
            <a:ext cx="329184" cy="329184"/>
          </a:xfrm>
          <a:prstGeom prst="ellipse">
            <a:avLst/>
          </a:prstGeom>
          <a:solidFill>
            <a:schemeClr val="accent2"/>
          </a:solidFill>
          <a:ln w="12700">
            <a:solidFill>
              <a:schemeClr val="accent2"/>
            </a:solidFill>
            <a:prstDash val="solid"/>
          </a:ln>
        </p:spPr>
      </p:sp>
      <p:sp>
        <p:nvSpPr>
          <p:cNvPr id="15" name="marker-n-346"/>
          <p:cNvSpPr txBox="1"/>
          <p:nvPr/>
        </p:nvSpPr>
        <p:spPr>
          <a:xfrm>
            <a:off x="818388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6" name="callout-347"/>
          <p:cNvSpPr txBox="1"/>
          <p:nvPr/>
        </p:nvSpPr>
        <p:spPr>
          <a:xfrm>
            <a:off x="8641080" y="1307592"/>
            <a:ext cx="306324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One resource per setting</a:t>
            </a:r>
            <a:endParaRPr lang="en-US" sz="1500" dirty="0"/>
          </a:p>
          <a:p>
            <a:pPr indent="0" marL="0">
              <a:spcAft>
                <a:spcPts val="200"/>
              </a:spcAft>
              <a:buNone/>
            </a:pPr>
            <a:r>
              <a:rPr lang="en-US" sz="1400" dirty="0">
                <a:solidFill>
                  <a:schemeClr val="tx1"/>
                </a:solidFill>
              </a:rPr>
              <a:t>Since provider v4, versioning, encryption and policies are separate resources linked by bucket ID.</a:t>
            </a:r>
            <a:endParaRPr lang="en-US" sz="1500" dirty="0"/>
          </a:p>
        </p:txBody>
      </p:sp>
      <p:sp>
        <p:nvSpPr>
          <p:cNvPr id="17" name="marker-348"/>
          <p:cNvSpPr/>
          <p:nvPr/>
        </p:nvSpPr>
        <p:spPr>
          <a:xfrm>
            <a:off x="8183880" y="2468880"/>
            <a:ext cx="329184" cy="329184"/>
          </a:xfrm>
          <a:prstGeom prst="ellipse">
            <a:avLst/>
          </a:prstGeom>
          <a:solidFill>
            <a:schemeClr val="accent2"/>
          </a:solidFill>
          <a:ln w="12700">
            <a:solidFill>
              <a:schemeClr val="accent2"/>
            </a:solidFill>
            <a:prstDash val="solid"/>
          </a:ln>
        </p:spPr>
      </p:sp>
      <p:sp>
        <p:nvSpPr>
          <p:cNvPr id="18" name="marker-n-349"/>
          <p:cNvSpPr txBox="1"/>
          <p:nvPr/>
        </p:nvSpPr>
        <p:spPr>
          <a:xfrm>
            <a:off x="8183880" y="2468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9" name="callout-350"/>
          <p:cNvSpPr txBox="1"/>
          <p:nvPr/>
        </p:nvSpPr>
        <p:spPr>
          <a:xfrm>
            <a:off x="8641080" y="2450592"/>
            <a:ext cx="306324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Versioning</a:t>
            </a:r>
            <a:endParaRPr lang="en-US" sz="1500" dirty="0"/>
          </a:p>
          <a:p>
            <a:pPr indent="0" marL="0">
              <a:spcAft>
                <a:spcPts val="200"/>
              </a:spcAft>
              <a:buNone/>
            </a:pPr>
            <a:r>
              <a:rPr lang="en-US" sz="1400" dirty="0">
                <a:solidFill>
                  <a:schemeClr val="tx1"/>
                </a:solidFill>
              </a:rPr>
              <a:t>Every state write keeps the old version, so a bad apply can be rolled back.</a:t>
            </a:r>
            <a:endParaRPr lang="en-US" sz="1500" dirty="0"/>
          </a:p>
        </p:txBody>
      </p:sp>
      <p:sp>
        <p:nvSpPr>
          <p:cNvPr id="20" name="marker-351"/>
          <p:cNvSpPr/>
          <p:nvPr/>
        </p:nvSpPr>
        <p:spPr>
          <a:xfrm>
            <a:off x="8183880" y="3611880"/>
            <a:ext cx="329184" cy="329184"/>
          </a:xfrm>
          <a:prstGeom prst="ellipse">
            <a:avLst/>
          </a:prstGeom>
          <a:solidFill>
            <a:schemeClr val="accent2"/>
          </a:solidFill>
          <a:ln w="12700">
            <a:solidFill>
              <a:schemeClr val="accent2"/>
            </a:solidFill>
            <a:prstDash val="solid"/>
          </a:ln>
        </p:spPr>
      </p:sp>
      <p:sp>
        <p:nvSpPr>
          <p:cNvPr id="21" name="marker-n-352"/>
          <p:cNvSpPr txBox="1"/>
          <p:nvPr/>
        </p:nvSpPr>
        <p:spPr>
          <a:xfrm>
            <a:off x="8183880" y="3611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2" name="callout-353"/>
          <p:cNvSpPr txBox="1"/>
          <p:nvPr/>
        </p:nvSpPr>
        <p:spPr>
          <a:xfrm>
            <a:off x="8641080" y="3593592"/>
            <a:ext cx="306324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Encrypt with our key</a:t>
            </a:r>
            <a:endParaRPr lang="en-US" sz="1500" dirty="0"/>
          </a:p>
          <a:p>
            <a:pPr indent="0" marL="0">
              <a:spcAft>
                <a:spcPts val="200"/>
              </a:spcAft>
              <a:buNone/>
            </a:pPr>
            <a:r>
              <a:rPr lang="en-US" sz="1400" dirty="0">
                <a:solidFill>
                  <a:schemeClr val="tx1"/>
                </a:solidFill>
              </a:rPr>
              <a:t>References the key's ARN, which also orders creation.</a:t>
            </a:r>
            <a:endParaRPr lang="en-US" sz="1500" dirty="0"/>
          </a:p>
        </p:txBody>
      </p:sp>
      <p:sp>
        <p:nvSpPr>
          <p:cNvPr id="23" name="marker-354"/>
          <p:cNvSpPr/>
          <p:nvPr/>
        </p:nvSpPr>
        <p:spPr>
          <a:xfrm>
            <a:off x="8183880" y="4541520"/>
            <a:ext cx="329184" cy="329184"/>
          </a:xfrm>
          <a:prstGeom prst="ellipse">
            <a:avLst/>
          </a:prstGeom>
          <a:solidFill>
            <a:schemeClr val="accent2"/>
          </a:solidFill>
          <a:ln w="12700">
            <a:solidFill>
              <a:schemeClr val="accent2"/>
            </a:solidFill>
            <a:prstDash val="solid"/>
          </a:ln>
        </p:spPr>
      </p:sp>
      <p:sp>
        <p:nvSpPr>
          <p:cNvPr id="24" name="marker-n-355"/>
          <p:cNvSpPr txBox="1"/>
          <p:nvPr/>
        </p:nvSpPr>
        <p:spPr>
          <a:xfrm>
            <a:off x="8183880" y="4541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5" name="callout-356"/>
          <p:cNvSpPr txBox="1"/>
          <p:nvPr/>
        </p:nvSpPr>
        <p:spPr>
          <a:xfrm>
            <a:off x="8641080" y="4523232"/>
            <a:ext cx="306324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Bucket key</a:t>
            </a:r>
            <a:endParaRPr lang="en-US" sz="1500" dirty="0"/>
          </a:p>
          <a:p>
            <a:pPr indent="0" marL="0">
              <a:spcAft>
                <a:spcPts val="200"/>
              </a:spcAft>
              <a:buNone/>
            </a:pPr>
            <a:r>
              <a:rPr lang="en-US" sz="1400" dirty="0">
                <a:solidFill>
                  <a:schemeClr val="tx1"/>
                </a:solidFill>
              </a:rPr>
              <a:t>Cuts KMS request costs by up to 99%.</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Locking the bucket down</a:t>
            </a:r>
            <a:endParaRPr lang="en-US" sz="3400" dirty="0"/>
          </a:p>
        </p:txBody>
      </p:sp>
      <p:sp>
        <p:nvSpPr>
          <p:cNvPr id="3" name="code-label-357"/>
          <p:cNvSpPr txBox="1"/>
          <p:nvPr/>
        </p:nvSpPr>
        <p:spPr>
          <a:xfrm>
            <a:off x="868680" y="1280160"/>
            <a:ext cx="6766560" cy="274320"/>
          </a:xfrm>
          <a:prstGeom prst="rect">
            <a:avLst/>
          </a:prstGeom>
          <a:noFill/>
          <a:ln/>
        </p:spPr>
        <p:txBody>
          <a:bodyPr wrap="square" lIns="0" tIns="0" rIns="0" bIns="0" rtlCol="0" anchor="ctr"/>
          <a:lstStyle/>
          <a:p>
            <a:pPr indent="0" marL="0">
              <a:buNone/>
            </a:pPr>
            <a:r>
              <a:rPr lang="en-US" sz="1100" b="1" dirty="0">
                <a:solidFill>
                  <a:schemeClr val="tx2"/>
                </a:solidFill>
              </a:rPr>
              <a:t>layers/00-bootstrap/main.tf</a:t>
            </a:r>
            <a:endParaRPr lang="en-US" sz="1100" dirty="0"/>
          </a:p>
        </p:txBody>
      </p:sp>
      <p:sp>
        <p:nvSpPr>
          <p:cNvPr id="4" name="code-bg-358"/>
          <p:cNvSpPr/>
          <p:nvPr/>
        </p:nvSpPr>
        <p:spPr>
          <a:xfrm>
            <a:off x="868680" y="1572768"/>
            <a:ext cx="6766560" cy="4596384"/>
          </a:xfrm>
          <a:prstGeom prst="roundRect">
            <a:avLst>
              <a:gd name="adj" fmla="val 1592"/>
            </a:avLst>
          </a:prstGeom>
          <a:solidFill>
            <a:schemeClr val="tx1"/>
          </a:solidFill>
          <a:ln w="12700">
            <a:solidFill>
              <a:schemeClr val="tx1"/>
            </a:solidFill>
            <a:prstDash val="solid"/>
          </a:ln>
        </p:spPr>
      </p:sp>
      <p:sp>
        <p:nvSpPr>
          <p:cNvPr id="5" name="code-359"/>
          <p:cNvSpPr txBox="1"/>
          <p:nvPr/>
        </p:nvSpPr>
        <p:spPr>
          <a:xfrm>
            <a:off x="1051560" y="1737360"/>
            <a:ext cx="6446520" cy="4285488"/>
          </a:xfrm>
          <a:prstGeom prst="rect">
            <a:avLst/>
          </a:prstGeom>
          <a:noFill/>
          <a:ln/>
        </p:spPr>
        <p:txBody>
          <a:bodyPr wrap="square" lIns="0" tIns="0" rIns="0" bIns="0" rtlCol="0" anchor="t"/>
          <a:lstStyle/>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"aws_s3_bucket_public_access_block"</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"state"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bucket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aws_s3_bucket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state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block_public_acls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true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block_public_policy</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true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ignore_public_acls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true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restrict_public_buckets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true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"aws_s3_bucket_policy"</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"state"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bucket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aws_s3_bucket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state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policy</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jsonencode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Version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"2012-10-17"</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Statement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Effect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"Deny"</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Principal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Action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"s3:*"</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aws_s3_bucket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state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arn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"${aws_s3_bucket.state.arn}/*"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Condition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Bool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"aws:SecureTransport"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"false"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depends_on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aws_s3_bucket_public_access_block</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state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6" name="marker-360"/>
          <p:cNvSpPr/>
          <p:nvPr/>
        </p:nvSpPr>
        <p:spPr>
          <a:xfrm>
            <a:off x="484632" y="2035556"/>
            <a:ext cx="292608" cy="292608"/>
          </a:xfrm>
          <a:prstGeom prst="ellipse">
            <a:avLst/>
          </a:prstGeom>
          <a:solidFill>
            <a:schemeClr val="accent2"/>
          </a:solidFill>
          <a:ln w="12700">
            <a:solidFill>
              <a:schemeClr val="accent2"/>
            </a:solidFill>
            <a:prstDash val="solid"/>
          </a:ln>
        </p:spPr>
      </p:sp>
      <p:sp>
        <p:nvSpPr>
          <p:cNvPr id="7" name="marker-n-361"/>
          <p:cNvSpPr txBox="1"/>
          <p:nvPr/>
        </p:nvSpPr>
        <p:spPr>
          <a:xfrm>
            <a:off x="484632" y="20355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362"/>
          <p:cNvSpPr/>
          <p:nvPr/>
        </p:nvSpPr>
        <p:spPr>
          <a:xfrm>
            <a:off x="484632" y="3991356"/>
            <a:ext cx="292608" cy="292608"/>
          </a:xfrm>
          <a:prstGeom prst="ellipse">
            <a:avLst/>
          </a:prstGeom>
          <a:solidFill>
            <a:schemeClr val="accent2"/>
          </a:solidFill>
          <a:ln w="12700">
            <a:solidFill>
              <a:schemeClr val="accent2"/>
            </a:solidFill>
            <a:prstDash val="solid"/>
          </a:ln>
        </p:spPr>
      </p:sp>
      <p:sp>
        <p:nvSpPr>
          <p:cNvPr id="9" name="marker-n-363"/>
          <p:cNvSpPr txBox="1"/>
          <p:nvPr/>
        </p:nvSpPr>
        <p:spPr>
          <a:xfrm>
            <a:off x="484632" y="39913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364"/>
          <p:cNvSpPr/>
          <p:nvPr/>
        </p:nvSpPr>
        <p:spPr>
          <a:xfrm>
            <a:off x="484632" y="4524756"/>
            <a:ext cx="292608" cy="292608"/>
          </a:xfrm>
          <a:prstGeom prst="ellipse">
            <a:avLst/>
          </a:prstGeom>
          <a:solidFill>
            <a:schemeClr val="accent2"/>
          </a:solidFill>
          <a:ln w="12700">
            <a:solidFill>
              <a:schemeClr val="accent2"/>
            </a:solidFill>
            <a:prstDash val="solid"/>
          </a:ln>
        </p:spPr>
      </p:sp>
      <p:sp>
        <p:nvSpPr>
          <p:cNvPr id="11" name="marker-n-365"/>
          <p:cNvSpPr txBox="1"/>
          <p:nvPr/>
        </p:nvSpPr>
        <p:spPr>
          <a:xfrm>
            <a:off x="484632" y="45247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366"/>
          <p:cNvSpPr/>
          <p:nvPr/>
        </p:nvSpPr>
        <p:spPr>
          <a:xfrm>
            <a:off x="484632" y="5591556"/>
            <a:ext cx="292608" cy="292608"/>
          </a:xfrm>
          <a:prstGeom prst="ellipse">
            <a:avLst/>
          </a:prstGeom>
          <a:solidFill>
            <a:schemeClr val="accent2"/>
          </a:solidFill>
          <a:ln w="12700">
            <a:solidFill>
              <a:schemeClr val="accent2"/>
            </a:solidFill>
            <a:prstDash val="solid"/>
          </a:ln>
        </p:spPr>
      </p:sp>
      <p:sp>
        <p:nvSpPr>
          <p:cNvPr id="13" name="marker-n-367"/>
          <p:cNvSpPr txBox="1"/>
          <p:nvPr/>
        </p:nvSpPr>
        <p:spPr>
          <a:xfrm>
            <a:off x="484632" y="55915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14" name="marker-368"/>
          <p:cNvSpPr/>
          <p:nvPr/>
        </p:nvSpPr>
        <p:spPr>
          <a:xfrm>
            <a:off x="8001000" y="1325880"/>
            <a:ext cx="329184" cy="329184"/>
          </a:xfrm>
          <a:prstGeom prst="ellipse">
            <a:avLst/>
          </a:prstGeom>
          <a:solidFill>
            <a:schemeClr val="accent2"/>
          </a:solidFill>
          <a:ln w="12700">
            <a:solidFill>
              <a:schemeClr val="accent2"/>
            </a:solidFill>
            <a:prstDash val="solid"/>
          </a:ln>
        </p:spPr>
      </p:sp>
      <p:sp>
        <p:nvSpPr>
          <p:cNvPr id="15" name="marker-n-369"/>
          <p:cNvSpPr txBox="1"/>
          <p:nvPr/>
        </p:nvSpPr>
        <p:spPr>
          <a:xfrm>
            <a:off x="800100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6" name="callout-370"/>
          <p:cNvSpPr txBox="1"/>
          <p:nvPr/>
        </p:nvSpPr>
        <p:spPr>
          <a:xfrm>
            <a:off x="8458200" y="1307592"/>
            <a:ext cx="324612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Four public access switches</a:t>
            </a:r>
            <a:endParaRPr lang="en-US" sz="1500" dirty="0"/>
          </a:p>
          <a:p>
            <a:pPr indent="0" marL="0">
              <a:spcAft>
                <a:spcPts val="200"/>
              </a:spcAft>
              <a:buNone/>
            </a:pPr>
            <a:r>
              <a:rPr lang="en-US" sz="1400" dirty="0">
                <a:solidFill>
                  <a:schemeClr val="tx1"/>
                </a:solidFill>
              </a:rPr>
              <a:t>Together they make it impossible to expose this bucket, even by mistake.</a:t>
            </a:r>
            <a:endParaRPr lang="en-US" sz="1500" dirty="0"/>
          </a:p>
        </p:txBody>
      </p:sp>
      <p:sp>
        <p:nvSpPr>
          <p:cNvPr id="17" name="marker-371"/>
          <p:cNvSpPr/>
          <p:nvPr/>
        </p:nvSpPr>
        <p:spPr>
          <a:xfrm>
            <a:off x="8001000" y="2255520"/>
            <a:ext cx="329184" cy="329184"/>
          </a:xfrm>
          <a:prstGeom prst="ellipse">
            <a:avLst/>
          </a:prstGeom>
          <a:solidFill>
            <a:schemeClr val="accent2"/>
          </a:solidFill>
          <a:ln w="12700">
            <a:solidFill>
              <a:schemeClr val="accent2"/>
            </a:solidFill>
            <a:prstDash val="solid"/>
          </a:ln>
        </p:spPr>
      </p:sp>
      <p:sp>
        <p:nvSpPr>
          <p:cNvPr id="18" name="marker-n-372"/>
          <p:cNvSpPr txBox="1"/>
          <p:nvPr/>
        </p:nvSpPr>
        <p:spPr>
          <a:xfrm>
            <a:off x="8001000" y="2255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9" name="callout-373"/>
          <p:cNvSpPr txBox="1"/>
          <p:nvPr/>
        </p:nvSpPr>
        <p:spPr>
          <a:xfrm>
            <a:off x="8458200" y="2237232"/>
            <a:ext cx="324612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An explicit Deny always wins</a:t>
            </a:r>
            <a:endParaRPr lang="en-US" sz="1500" dirty="0"/>
          </a:p>
          <a:p>
            <a:pPr indent="0" marL="0">
              <a:spcAft>
                <a:spcPts val="200"/>
              </a:spcAft>
              <a:buNone/>
            </a:pPr>
            <a:r>
              <a:rPr lang="en-US" sz="1400" dirty="0">
                <a:solidFill>
                  <a:schemeClr val="tx1"/>
                </a:solidFill>
              </a:rPr>
              <a:t>Denying non-HTTPS requests cannot be overridden by any Allow elsewhere.</a:t>
            </a:r>
            <a:endParaRPr lang="en-US" sz="1500" dirty="0"/>
          </a:p>
        </p:txBody>
      </p:sp>
      <p:sp>
        <p:nvSpPr>
          <p:cNvPr id="20" name="marker-374"/>
          <p:cNvSpPr/>
          <p:nvPr/>
        </p:nvSpPr>
        <p:spPr>
          <a:xfrm>
            <a:off x="8001000" y="3185160"/>
            <a:ext cx="329184" cy="329184"/>
          </a:xfrm>
          <a:prstGeom prst="ellipse">
            <a:avLst/>
          </a:prstGeom>
          <a:solidFill>
            <a:schemeClr val="accent2"/>
          </a:solidFill>
          <a:ln w="12700">
            <a:solidFill>
              <a:schemeClr val="accent2"/>
            </a:solidFill>
            <a:prstDash val="solid"/>
          </a:ln>
        </p:spPr>
      </p:sp>
      <p:sp>
        <p:nvSpPr>
          <p:cNvPr id="21" name="marker-n-375"/>
          <p:cNvSpPr txBox="1"/>
          <p:nvPr/>
        </p:nvSpPr>
        <p:spPr>
          <a:xfrm>
            <a:off x="8001000" y="318516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2" name="callout-376"/>
          <p:cNvSpPr txBox="1"/>
          <p:nvPr/>
        </p:nvSpPr>
        <p:spPr>
          <a:xfrm>
            <a:off x="8458200" y="3166872"/>
            <a:ext cx="324612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Bucket and its objects</a:t>
            </a:r>
            <a:endParaRPr lang="en-US" sz="1500" dirty="0"/>
          </a:p>
          <a:p>
            <a:pPr indent="0" marL="0">
              <a:spcAft>
                <a:spcPts val="200"/>
              </a:spcAft>
              <a:buNone/>
            </a:pPr>
            <a:r>
              <a:rPr lang="en-US" sz="1400" dirty="0">
                <a:solidFill>
                  <a:schemeClr val="tx1"/>
                </a:solidFill>
              </a:rPr>
              <a:t>The bucket ARN covers bucket actions, ARN/* covers every object.</a:t>
            </a:r>
            <a:endParaRPr lang="en-US" sz="1500" dirty="0"/>
          </a:p>
        </p:txBody>
      </p:sp>
      <p:sp>
        <p:nvSpPr>
          <p:cNvPr id="23" name="marker-377"/>
          <p:cNvSpPr/>
          <p:nvPr/>
        </p:nvSpPr>
        <p:spPr>
          <a:xfrm>
            <a:off x="8001000" y="4114800"/>
            <a:ext cx="329184" cy="329184"/>
          </a:xfrm>
          <a:prstGeom prst="ellipse">
            <a:avLst/>
          </a:prstGeom>
          <a:solidFill>
            <a:schemeClr val="accent2"/>
          </a:solidFill>
          <a:ln w="12700">
            <a:solidFill>
              <a:schemeClr val="accent2"/>
            </a:solidFill>
            <a:prstDash val="solid"/>
          </a:ln>
        </p:spPr>
      </p:sp>
      <p:sp>
        <p:nvSpPr>
          <p:cNvPr id="24" name="marker-n-378"/>
          <p:cNvSpPr txBox="1"/>
          <p:nvPr/>
        </p:nvSpPr>
        <p:spPr>
          <a:xfrm>
            <a:off x="8001000" y="411480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5" name="callout-379"/>
          <p:cNvSpPr txBox="1"/>
          <p:nvPr/>
        </p:nvSpPr>
        <p:spPr>
          <a:xfrm>
            <a:off x="8458200" y="4096512"/>
            <a:ext cx="324612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Hidden ordering</a:t>
            </a:r>
            <a:endParaRPr lang="en-US" sz="1500" dirty="0"/>
          </a:p>
          <a:p>
            <a:pPr indent="0" marL="0">
              <a:spcAft>
                <a:spcPts val="200"/>
              </a:spcAft>
              <a:buNone/>
            </a:pPr>
            <a:r>
              <a:rPr lang="en-US" sz="1400" dirty="0">
                <a:solidFill>
                  <a:schemeClr val="tx1"/>
                </a:solidFill>
              </a:rPr>
              <a:t>AWS can reject a policy applied before the access block settles.</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Outputs: handing values to the next layer</a:t>
            </a:r>
            <a:endParaRPr lang="en-US" sz="3400" dirty="0"/>
          </a:p>
        </p:txBody>
      </p:sp>
      <p:sp>
        <p:nvSpPr>
          <p:cNvPr id="3" name="code-label-380"/>
          <p:cNvSpPr txBox="1"/>
          <p:nvPr/>
        </p:nvSpPr>
        <p:spPr>
          <a:xfrm>
            <a:off x="868680" y="1280160"/>
            <a:ext cx="6583680" cy="274320"/>
          </a:xfrm>
          <a:prstGeom prst="rect">
            <a:avLst/>
          </a:prstGeom>
          <a:noFill/>
          <a:ln/>
        </p:spPr>
        <p:txBody>
          <a:bodyPr wrap="square" lIns="0" tIns="0" rIns="0" bIns="0" rtlCol="0" anchor="ctr"/>
          <a:lstStyle/>
          <a:p>
            <a:pPr indent="0" marL="0">
              <a:buNone/>
            </a:pPr>
            <a:r>
              <a:rPr lang="en-US" sz="1100" b="1" dirty="0">
                <a:solidFill>
                  <a:schemeClr val="tx2"/>
                </a:solidFill>
              </a:rPr>
              <a:t>layers/00-bootstrap/outputs.tf</a:t>
            </a:r>
            <a:endParaRPr lang="en-US" sz="1100" dirty="0"/>
          </a:p>
        </p:txBody>
      </p:sp>
      <p:sp>
        <p:nvSpPr>
          <p:cNvPr id="4" name="code-bg-381"/>
          <p:cNvSpPr/>
          <p:nvPr/>
        </p:nvSpPr>
        <p:spPr>
          <a:xfrm>
            <a:off x="868680" y="1572768"/>
            <a:ext cx="6583680" cy="2805684"/>
          </a:xfrm>
          <a:prstGeom prst="roundRect">
            <a:avLst>
              <a:gd name="adj" fmla="val 2607"/>
            </a:avLst>
          </a:prstGeom>
          <a:solidFill>
            <a:schemeClr val="tx1"/>
          </a:solidFill>
          <a:ln w="12700">
            <a:solidFill>
              <a:schemeClr val="tx1"/>
            </a:solidFill>
            <a:prstDash val="solid"/>
          </a:ln>
        </p:spPr>
      </p:sp>
      <p:sp>
        <p:nvSpPr>
          <p:cNvPr id="5" name="code-382"/>
          <p:cNvSpPr txBox="1"/>
          <p:nvPr/>
        </p:nvSpPr>
        <p:spPr>
          <a:xfrm>
            <a:off x="1051560" y="1737360"/>
            <a:ext cx="6263640" cy="2494788"/>
          </a:xfrm>
          <a:prstGeom prst="rect">
            <a:avLst/>
          </a:prstGeom>
          <a:noFill/>
          <a:ln/>
        </p:spPr>
        <p:txBody>
          <a:bodyPr wrap="square" lIns="0" tIns="0" rIns="0" bIns="0" rtlCol="0" anchor="t"/>
          <a:lstStyle/>
          <a:p>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output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"state_bucket"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value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aws_s3_bucket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state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bucket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output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"backend_hcl"</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value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&lt;&lt;-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EOT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bucket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"${aws_s3_bucket.state.bucket}"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region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"${var.region}"</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encrypt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true</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kms_key_id</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"${aws_kms_key.state.arn}"</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use_lockfile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true</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EOT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p:txBody>
      </p:sp>
      <p:sp>
        <p:nvSpPr>
          <p:cNvPr id="6" name="marker-383"/>
          <p:cNvSpPr/>
          <p:nvPr/>
        </p:nvSpPr>
        <p:spPr>
          <a:xfrm>
            <a:off x="484632" y="1876806"/>
            <a:ext cx="292608" cy="292608"/>
          </a:xfrm>
          <a:prstGeom prst="ellipse">
            <a:avLst/>
          </a:prstGeom>
          <a:solidFill>
            <a:schemeClr val="accent2"/>
          </a:solidFill>
          <a:ln w="12700">
            <a:solidFill>
              <a:schemeClr val="accent2"/>
            </a:solidFill>
            <a:prstDash val="solid"/>
          </a:ln>
        </p:spPr>
      </p:sp>
      <p:sp>
        <p:nvSpPr>
          <p:cNvPr id="7" name="marker-n-384"/>
          <p:cNvSpPr txBox="1"/>
          <p:nvPr/>
        </p:nvSpPr>
        <p:spPr>
          <a:xfrm>
            <a:off x="484632" y="1876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385"/>
          <p:cNvSpPr/>
          <p:nvPr/>
        </p:nvSpPr>
        <p:spPr>
          <a:xfrm>
            <a:off x="484632" y="2638806"/>
            <a:ext cx="292608" cy="292608"/>
          </a:xfrm>
          <a:prstGeom prst="ellipse">
            <a:avLst/>
          </a:prstGeom>
          <a:solidFill>
            <a:schemeClr val="accent2"/>
          </a:solidFill>
          <a:ln w="12700">
            <a:solidFill>
              <a:schemeClr val="accent2"/>
            </a:solidFill>
            <a:prstDash val="solid"/>
          </a:ln>
        </p:spPr>
      </p:sp>
      <p:sp>
        <p:nvSpPr>
          <p:cNvPr id="9" name="marker-n-386"/>
          <p:cNvSpPr txBox="1"/>
          <p:nvPr/>
        </p:nvSpPr>
        <p:spPr>
          <a:xfrm>
            <a:off x="484632" y="2638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387"/>
          <p:cNvSpPr/>
          <p:nvPr/>
        </p:nvSpPr>
        <p:spPr>
          <a:xfrm>
            <a:off x="484632" y="3591306"/>
            <a:ext cx="292608" cy="292608"/>
          </a:xfrm>
          <a:prstGeom prst="ellipse">
            <a:avLst/>
          </a:prstGeom>
          <a:solidFill>
            <a:schemeClr val="accent2"/>
          </a:solidFill>
          <a:ln w="12700">
            <a:solidFill>
              <a:schemeClr val="accent2"/>
            </a:solidFill>
            <a:prstDash val="solid"/>
          </a:ln>
        </p:spPr>
      </p:sp>
      <p:sp>
        <p:nvSpPr>
          <p:cNvPr id="11" name="marker-n-388"/>
          <p:cNvSpPr txBox="1"/>
          <p:nvPr/>
        </p:nvSpPr>
        <p:spPr>
          <a:xfrm>
            <a:off x="484632" y="35913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389"/>
          <p:cNvSpPr/>
          <p:nvPr/>
        </p:nvSpPr>
        <p:spPr>
          <a:xfrm>
            <a:off x="7818120" y="1325880"/>
            <a:ext cx="329184" cy="329184"/>
          </a:xfrm>
          <a:prstGeom prst="ellipse">
            <a:avLst/>
          </a:prstGeom>
          <a:solidFill>
            <a:schemeClr val="accent2"/>
          </a:solidFill>
          <a:ln w="12700">
            <a:solidFill>
              <a:schemeClr val="accent2"/>
            </a:solidFill>
            <a:prstDash val="solid"/>
          </a:ln>
        </p:spPr>
      </p:sp>
      <p:sp>
        <p:nvSpPr>
          <p:cNvPr id="13" name="marker-n-390"/>
          <p:cNvSpPr txBox="1"/>
          <p:nvPr/>
        </p:nvSpPr>
        <p:spPr>
          <a:xfrm>
            <a:off x="781812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4" name="callout-391"/>
          <p:cNvSpPr txBox="1"/>
          <p:nvPr/>
        </p:nvSpPr>
        <p:spPr>
          <a:xfrm>
            <a:off x="8275320" y="130759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An output is a return value</a:t>
            </a:r>
            <a:endParaRPr lang="en-US" sz="1500" dirty="0"/>
          </a:p>
          <a:p>
            <a:pPr indent="0" marL="0">
              <a:spcAft>
                <a:spcPts val="200"/>
              </a:spcAft>
              <a:buNone/>
            </a:pPr>
            <a:r>
              <a:rPr lang="en-US" sz="1400" dirty="0">
                <a:solidFill>
                  <a:schemeClr val="tx1"/>
                </a:solidFill>
              </a:rPr>
              <a:t>Printed after apply, and readable with terraform output.</a:t>
            </a:r>
            <a:endParaRPr lang="en-US" sz="1500" dirty="0"/>
          </a:p>
        </p:txBody>
      </p:sp>
      <p:sp>
        <p:nvSpPr>
          <p:cNvPr id="15" name="marker-392"/>
          <p:cNvSpPr/>
          <p:nvPr/>
        </p:nvSpPr>
        <p:spPr>
          <a:xfrm>
            <a:off x="7818120" y="2255520"/>
            <a:ext cx="329184" cy="329184"/>
          </a:xfrm>
          <a:prstGeom prst="ellipse">
            <a:avLst/>
          </a:prstGeom>
          <a:solidFill>
            <a:schemeClr val="accent2"/>
          </a:solidFill>
          <a:ln w="12700">
            <a:solidFill>
              <a:schemeClr val="accent2"/>
            </a:solidFill>
            <a:prstDash val="solid"/>
          </a:ln>
        </p:spPr>
      </p:sp>
      <p:sp>
        <p:nvSpPr>
          <p:cNvPr id="16" name="marker-n-393"/>
          <p:cNvSpPr txBox="1"/>
          <p:nvPr/>
        </p:nvSpPr>
        <p:spPr>
          <a:xfrm>
            <a:off x="7818120" y="2255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7" name="callout-394"/>
          <p:cNvSpPr txBox="1"/>
          <p:nvPr/>
        </p:nvSpPr>
        <p:spPr>
          <a:xfrm>
            <a:off x="8275320" y="223723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Heredoc string</a:t>
            </a:r>
            <a:endParaRPr lang="en-US" sz="1500" dirty="0"/>
          </a:p>
          <a:p>
            <a:pPr indent="0" marL="0">
              <a:spcAft>
                <a:spcPts val="200"/>
              </a:spcAft>
              <a:buNone/>
            </a:pPr>
            <a:r>
              <a:rPr lang="en-US" sz="1400" dirty="0">
                <a:solidFill>
                  <a:schemeClr val="tx1"/>
                </a:solidFill>
              </a:rPr>
              <a:t>&lt;&lt;-EOT starts a multi-line string and strips the indentation.</a:t>
            </a:r>
            <a:endParaRPr lang="en-US" sz="1500" dirty="0"/>
          </a:p>
        </p:txBody>
      </p:sp>
      <p:sp>
        <p:nvSpPr>
          <p:cNvPr id="18" name="marker-395"/>
          <p:cNvSpPr/>
          <p:nvPr/>
        </p:nvSpPr>
        <p:spPr>
          <a:xfrm>
            <a:off x="7818120" y="3185160"/>
            <a:ext cx="329184" cy="329184"/>
          </a:xfrm>
          <a:prstGeom prst="ellipse">
            <a:avLst/>
          </a:prstGeom>
          <a:solidFill>
            <a:schemeClr val="accent2"/>
          </a:solidFill>
          <a:ln w="12700">
            <a:solidFill>
              <a:schemeClr val="accent2"/>
            </a:solidFill>
            <a:prstDash val="solid"/>
          </a:ln>
        </p:spPr>
      </p:sp>
      <p:sp>
        <p:nvSpPr>
          <p:cNvPr id="19" name="marker-n-396"/>
          <p:cNvSpPr txBox="1"/>
          <p:nvPr/>
        </p:nvSpPr>
        <p:spPr>
          <a:xfrm>
            <a:off x="7818120" y="318516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0" name="callout-397"/>
          <p:cNvSpPr txBox="1"/>
          <p:nvPr/>
        </p:nvSpPr>
        <p:spPr>
          <a:xfrm>
            <a:off x="8275320" y="316687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use_lockfile</a:t>
            </a:r>
            <a:endParaRPr lang="en-US" sz="1500" dirty="0"/>
          </a:p>
          <a:p>
            <a:pPr indent="0" marL="0">
              <a:spcAft>
                <a:spcPts val="200"/>
              </a:spcAft>
              <a:buNone/>
            </a:pPr>
            <a:r>
              <a:rPr lang="en-US" sz="1400" dirty="0">
                <a:solidFill>
                  <a:schemeClr val="tx1"/>
                </a:solidFill>
              </a:rPr>
              <a:t>S3-native locking. Before 1.10 this needed a separate DynamoDB table.</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Lesson learned: blocked by someone else's guardrail</a:t>
            </a:r>
            <a:endParaRPr lang="en-US" sz="3400" dirty="0"/>
          </a:p>
        </p:txBody>
      </p:sp>
      <p:sp>
        <p:nvSpPr>
          <p:cNvPr id="3" name="code-label-398"/>
          <p:cNvSpPr txBox="1"/>
          <p:nvPr/>
        </p:nvSpPr>
        <p:spPr>
          <a:xfrm>
            <a:off x="868680" y="1234440"/>
            <a:ext cx="6035040" cy="274320"/>
          </a:xfrm>
          <a:prstGeom prst="rect">
            <a:avLst/>
          </a:prstGeom>
          <a:noFill/>
          <a:ln/>
        </p:spPr>
        <p:txBody>
          <a:bodyPr wrap="square" lIns="0" tIns="0" rIns="0" bIns="0" rtlCol="0" anchor="ctr"/>
          <a:lstStyle/>
          <a:p>
            <a:pPr indent="0" marL="0">
              <a:buNone/>
            </a:pPr>
            <a:r>
              <a:rPr lang="en-US" sz="1100" b="1" dirty="0">
                <a:solidFill>
                  <a:schemeClr val="tx2"/>
                </a:solidFill>
              </a:rPr>
              <a:t>What the first apply returned</a:t>
            </a:r>
            <a:endParaRPr lang="en-US" sz="1100" dirty="0"/>
          </a:p>
        </p:txBody>
      </p:sp>
      <p:sp>
        <p:nvSpPr>
          <p:cNvPr id="4" name="code-bg-399"/>
          <p:cNvSpPr/>
          <p:nvPr/>
        </p:nvSpPr>
        <p:spPr>
          <a:xfrm>
            <a:off x="868680" y="1527048"/>
            <a:ext cx="6035040" cy="1573784"/>
          </a:xfrm>
          <a:prstGeom prst="roundRect">
            <a:avLst>
              <a:gd name="adj" fmla="val 4648"/>
            </a:avLst>
          </a:prstGeom>
          <a:solidFill>
            <a:schemeClr val="tx1"/>
          </a:solidFill>
          <a:ln w="12700">
            <a:solidFill>
              <a:schemeClr val="tx1"/>
            </a:solidFill>
            <a:prstDash val="solid"/>
          </a:ln>
        </p:spPr>
      </p:sp>
      <p:sp>
        <p:nvSpPr>
          <p:cNvPr id="5" name="code-400"/>
          <p:cNvSpPr txBox="1"/>
          <p:nvPr/>
        </p:nvSpPr>
        <p:spPr>
          <a:xfrm>
            <a:off x="1051560" y="1691640"/>
            <a:ext cx="5715000" cy="1262888"/>
          </a:xfrm>
          <a:prstGeom prst="rect">
            <a:avLst/>
          </a:prstGeom>
          <a:noFill/>
          <a:ln/>
        </p:spPr>
        <p:txBody>
          <a:bodyPr wrap="square" lIns="0" tIns="0" rIns="0" bIns="0" rtlCol="0" anchor="t"/>
          <a:lstStyle/>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Error: creating S3 Bucket (lz-tfstate-...7416):</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StatusCode: 403, api error AccessDenied: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User: ...:user/Terraform-bootstrap is not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authorized to perform: s3:CreateBucket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with an explicit deny in a service control</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policy: arn:aws:organizations::...5808:policy/</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o-ccm7lyzber/service_control_policy/...</a:t>
            </a:r>
            <a:endParaRPr lang="en-US" sz="1100" dirty="0"/>
          </a:p>
        </p:txBody>
      </p:sp>
      <p:sp>
        <p:nvSpPr>
          <p:cNvPr id="6" name="box-401"/>
          <p:cNvSpPr/>
          <p:nvPr/>
        </p:nvSpPr>
        <p:spPr>
          <a:xfrm>
            <a:off x="7315200" y="1280160"/>
            <a:ext cx="4389120" cy="731520"/>
          </a:xfrm>
          <a:prstGeom prst="roundRect">
            <a:avLst>
              <a:gd name="adj" fmla="val 10000"/>
            </a:avLst>
          </a:prstGeom>
          <a:solidFill>
            <a:schemeClr val="tx1"/>
          </a:solidFill>
          <a:ln w="9525">
            <a:solidFill>
              <a:schemeClr val="tx1"/>
            </a:solidFill>
            <a:prstDash val="solid"/>
          </a:ln>
        </p:spPr>
      </p:sp>
      <p:sp>
        <p:nvSpPr>
          <p:cNvPr id="7" name="box-t-402"/>
          <p:cNvSpPr txBox="1"/>
          <p:nvPr/>
        </p:nvSpPr>
        <p:spPr>
          <a:xfrm>
            <a:off x="7360920" y="1280160"/>
            <a:ext cx="4297680" cy="731520"/>
          </a:xfrm>
          <a:prstGeom prst="rect">
            <a:avLst/>
          </a:prstGeom>
          <a:noFill/>
          <a:ln/>
        </p:spPr>
        <p:txBody>
          <a:bodyPr wrap="square" lIns="508" tIns="508" rIns="508" bIns="508" rtlCol="0" anchor="ctr"/>
          <a:lstStyle/>
          <a:p>
            <a:pPr algn="ctr" indent="0" marL="0">
              <a:buNone/>
            </a:pPr>
            <a:r>
              <a:rPr lang="en-US" sz="1400" b="1" dirty="0">
                <a:solidFill>
                  <a:schemeClr val="bg1"/>
                </a:solidFill>
              </a:rPr>
              <a:t>Old org management account</a:t>
            </a:r>
            <a:endParaRPr lang="en-US" sz="1400" dirty="0"/>
          </a:p>
          <a:p>
            <a:pPr algn="ctr" indent="0" marL="0">
              <a:buNone/>
            </a:pPr>
            <a:r>
              <a:rPr lang="en-US" sz="1100" dirty="0">
                <a:solidFill>
                  <a:schemeClr val="bg1"/>
                </a:solidFill>
              </a:rPr>
              <a:t>...5808, from an earlier setup</a:t>
            </a:r>
            <a:endParaRPr lang="en-US" sz="1400" dirty="0"/>
          </a:p>
        </p:txBody>
      </p:sp>
      <p:sp>
        <p:nvSpPr>
          <p:cNvPr id="8" name="arrow-403"/>
          <p:cNvSpPr/>
          <p:nvPr/>
        </p:nvSpPr>
        <p:spPr>
          <a:xfrm>
            <a:off x="9509760" y="2011680"/>
            <a:ext cx="0" cy="411480"/>
          </a:xfrm>
          <a:prstGeom prst="line">
            <a:avLst/>
          </a:prstGeom>
          <a:noFill/>
          <a:ln w="22225">
            <a:solidFill>
              <a:schemeClr val="tx2"/>
            </a:solidFill>
            <a:prstDash val="solid"/>
            <a:tailEnd type="triangle"/>
          </a:ln>
        </p:spPr>
      </p:sp>
      <p:sp>
        <p:nvSpPr>
          <p:cNvPr id="9" name="box-404"/>
          <p:cNvSpPr/>
          <p:nvPr/>
        </p:nvSpPr>
        <p:spPr>
          <a:xfrm>
            <a:off x="7315200" y="2423160"/>
            <a:ext cx="4389120" cy="548640"/>
          </a:xfrm>
          <a:prstGeom prst="roundRect">
            <a:avLst>
              <a:gd name="adj" fmla="val 13333"/>
            </a:avLst>
          </a:prstGeom>
          <a:solidFill>
            <a:schemeClr val="accent4"/>
          </a:solidFill>
          <a:ln w="9525">
            <a:solidFill>
              <a:schemeClr val="accent4"/>
            </a:solidFill>
            <a:prstDash val="solid"/>
          </a:ln>
        </p:spPr>
      </p:sp>
      <p:sp>
        <p:nvSpPr>
          <p:cNvPr id="10" name="box-t-405"/>
          <p:cNvSpPr txBox="1"/>
          <p:nvPr/>
        </p:nvSpPr>
        <p:spPr>
          <a:xfrm>
            <a:off x="7360920" y="2423160"/>
            <a:ext cx="4297680" cy="548640"/>
          </a:xfrm>
          <a:prstGeom prst="rect">
            <a:avLst/>
          </a:prstGeom>
          <a:noFill/>
          <a:ln/>
        </p:spPr>
        <p:txBody>
          <a:bodyPr wrap="square" lIns="508" tIns="508" rIns="508" bIns="508" rtlCol="0" anchor="ctr"/>
          <a:lstStyle/>
          <a:p>
            <a:pPr algn="ctr" indent="0" marL="0">
              <a:buNone/>
            </a:pPr>
            <a:r>
              <a:rPr lang="en-US" sz="1400" b="1" dirty="0">
                <a:solidFill>
                  <a:schemeClr val="bg1"/>
                </a:solidFill>
              </a:rPr>
              <a:t>SCP: explicit Deny</a:t>
            </a:r>
            <a:endParaRPr lang="en-US" sz="1400" dirty="0"/>
          </a:p>
        </p:txBody>
      </p:sp>
      <p:sp>
        <p:nvSpPr>
          <p:cNvPr id="11" name="arrow-406"/>
          <p:cNvSpPr/>
          <p:nvPr/>
        </p:nvSpPr>
        <p:spPr>
          <a:xfrm>
            <a:off x="9509760" y="2971800"/>
            <a:ext cx="0" cy="411480"/>
          </a:xfrm>
          <a:prstGeom prst="line">
            <a:avLst/>
          </a:prstGeom>
          <a:noFill/>
          <a:ln w="22225">
            <a:solidFill>
              <a:schemeClr val="tx2"/>
            </a:solidFill>
            <a:prstDash val="solid"/>
            <a:tailEnd type="triangle"/>
          </a:ln>
        </p:spPr>
      </p:sp>
      <p:sp>
        <p:nvSpPr>
          <p:cNvPr id="12" name="box-407"/>
          <p:cNvSpPr/>
          <p:nvPr/>
        </p:nvSpPr>
        <p:spPr>
          <a:xfrm>
            <a:off x="7315200" y="3383280"/>
            <a:ext cx="4389120" cy="731520"/>
          </a:xfrm>
          <a:prstGeom prst="roundRect">
            <a:avLst>
              <a:gd name="adj" fmla="val 10000"/>
            </a:avLst>
          </a:prstGeom>
          <a:solidFill>
            <a:schemeClr val="accent1"/>
          </a:solidFill>
          <a:ln w="9525">
            <a:solidFill>
              <a:schemeClr val="accent1"/>
            </a:solidFill>
            <a:prstDash val="solid"/>
          </a:ln>
        </p:spPr>
      </p:sp>
      <p:sp>
        <p:nvSpPr>
          <p:cNvPr id="13" name="box-t-408"/>
          <p:cNvSpPr txBox="1"/>
          <p:nvPr/>
        </p:nvSpPr>
        <p:spPr>
          <a:xfrm>
            <a:off x="7360920" y="3383280"/>
            <a:ext cx="4297680" cy="731520"/>
          </a:xfrm>
          <a:prstGeom prst="rect">
            <a:avLst/>
          </a:prstGeom>
          <a:noFill/>
          <a:ln/>
        </p:spPr>
        <p:txBody>
          <a:bodyPr wrap="square" lIns="508" tIns="508" rIns="508" bIns="508" rtlCol="0" anchor="ctr"/>
          <a:lstStyle/>
          <a:p>
            <a:pPr algn="ctr" indent="0" marL="0">
              <a:buNone/>
            </a:pPr>
            <a:r>
              <a:rPr lang="en-US" sz="1400" b="1" dirty="0">
                <a:solidFill>
                  <a:schemeClr val="bg1"/>
                </a:solidFill>
              </a:rPr>
              <a:t>The account I used (...7416)</a:t>
            </a:r>
            <a:endParaRPr lang="en-US" sz="1400" dirty="0"/>
          </a:p>
          <a:p>
            <a:pPr algn="ctr" indent="0" marL="0">
              <a:buNone/>
            </a:pPr>
            <a:r>
              <a:rPr lang="en-US" sz="1100" dirty="0">
                <a:solidFill>
                  <a:schemeClr val="bg1"/>
                </a:solidFill>
              </a:rPr>
              <a:t>A member account, not standalone</a:t>
            </a:r>
            <a:endParaRPr lang="en-US" sz="1400" dirty="0"/>
          </a:p>
        </p:txBody>
      </p:sp>
      <p:sp>
        <p:nvSpPr>
          <p:cNvPr id="14" name="marker-409"/>
          <p:cNvSpPr/>
          <p:nvPr/>
        </p:nvSpPr>
        <p:spPr>
          <a:xfrm>
            <a:off x="868680" y="3520440"/>
            <a:ext cx="329184" cy="329184"/>
          </a:xfrm>
          <a:prstGeom prst="ellipse">
            <a:avLst/>
          </a:prstGeom>
          <a:solidFill>
            <a:schemeClr val="accent2"/>
          </a:solidFill>
          <a:ln w="12700">
            <a:solidFill>
              <a:schemeClr val="accent2"/>
            </a:solidFill>
            <a:prstDash val="solid"/>
          </a:ln>
        </p:spPr>
      </p:sp>
      <p:sp>
        <p:nvSpPr>
          <p:cNvPr id="15" name="marker-n-410"/>
          <p:cNvSpPr txBox="1"/>
          <p:nvPr/>
        </p:nvSpPr>
        <p:spPr>
          <a:xfrm>
            <a:off x="868680" y="352044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6" name="callout-411"/>
          <p:cNvSpPr txBox="1"/>
          <p:nvPr/>
        </p:nvSpPr>
        <p:spPr>
          <a:xfrm>
            <a:off x="1325880" y="3502152"/>
            <a:ext cx="5577840" cy="533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SCPs beat admin rights</a:t>
            </a:r>
            <a:endParaRPr lang="en-US" sz="1500" dirty="0"/>
          </a:p>
          <a:p>
            <a:pPr indent="0" marL="0">
              <a:spcAft>
                <a:spcPts val="200"/>
              </a:spcAft>
              <a:buNone/>
            </a:pPr>
            <a:r>
              <a:rPr lang="en-US" sz="1400" dirty="0">
                <a:solidFill>
                  <a:schemeClr val="tx1"/>
                </a:solidFill>
              </a:rPr>
              <a:t>The IAM user had AdministratorAccess. The org's SCP still won.</a:t>
            </a:r>
            <a:endParaRPr lang="en-US" sz="1500" dirty="0"/>
          </a:p>
        </p:txBody>
      </p:sp>
      <p:sp>
        <p:nvSpPr>
          <p:cNvPr id="17" name="marker-412"/>
          <p:cNvSpPr/>
          <p:nvPr/>
        </p:nvSpPr>
        <p:spPr>
          <a:xfrm>
            <a:off x="868680" y="4163568"/>
            <a:ext cx="329184" cy="329184"/>
          </a:xfrm>
          <a:prstGeom prst="ellipse">
            <a:avLst/>
          </a:prstGeom>
          <a:solidFill>
            <a:schemeClr val="accent2"/>
          </a:solidFill>
          <a:ln w="12700">
            <a:solidFill>
              <a:schemeClr val="accent2"/>
            </a:solidFill>
            <a:prstDash val="solid"/>
          </a:ln>
        </p:spPr>
      </p:sp>
      <p:sp>
        <p:nvSpPr>
          <p:cNvPr id="18" name="marker-n-413"/>
          <p:cNvSpPr txBox="1"/>
          <p:nvPr/>
        </p:nvSpPr>
        <p:spPr>
          <a:xfrm>
            <a:off x="868680" y="4163568"/>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9" name="callout-414"/>
          <p:cNvSpPr txBox="1"/>
          <p:nvPr/>
        </p:nvSpPr>
        <p:spPr>
          <a:xfrm>
            <a:off x="1325880" y="4145280"/>
            <a:ext cx="557784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Members cannot start their own org</a:t>
            </a:r>
            <a:endParaRPr lang="en-US" sz="1500" dirty="0"/>
          </a:p>
          <a:p>
            <a:pPr indent="0" marL="0">
              <a:spcAft>
                <a:spcPts val="200"/>
              </a:spcAft>
              <a:buNone/>
            </a:pPr>
            <a:r>
              <a:rPr lang="en-US" sz="1400" dirty="0">
                <a:solidFill>
                  <a:schemeClr val="tx1"/>
                </a:solidFill>
              </a:rPr>
              <a:t>A landing zone needs a standalone account as its management account.</a:t>
            </a:r>
            <a:endParaRPr lang="en-US" sz="1500" dirty="0"/>
          </a:p>
        </p:txBody>
      </p:sp>
      <p:sp>
        <p:nvSpPr>
          <p:cNvPr id="20" name="marker-415"/>
          <p:cNvSpPr/>
          <p:nvPr/>
        </p:nvSpPr>
        <p:spPr>
          <a:xfrm>
            <a:off x="868680" y="5020056"/>
            <a:ext cx="329184" cy="329184"/>
          </a:xfrm>
          <a:prstGeom prst="ellipse">
            <a:avLst/>
          </a:prstGeom>
          <a:solidFill>
            <a:schemeClr val="accent2"/>
          </a:solidFill>
          <a:ln w="12700">
            <a:solidFill>
              <a:schemeClr val="accent2"/>
            </a:solidFill>
            <a:prstDash val="solid"/>
          </a:ln>
        </p:spPr>
      </p:sp>
      <p:sp>
        <p:nvSpPr>
          <p:cNvPr id="21" name="marker-n-416"/>
          <p:cNvSpPr txBox="1"/>
          <p:nvPr/>
        </p:nvSpPr>
        <p:spPr>
          <a:xfrm>
            <a:off x="868680" y="5020056"/>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2" name="callout-417"/>
          <p:cNvSpPr txBox="1"/>
          <p:nvPr/>
        </p:nvSpPr>
        <p:spPr>
          <a:xfrm>
            <a:off x="1325880" y="5001768"/>
            <a:ext cx="557784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Check first next time</a:t>
            </a:r>
            <a:endParaRPr lang="en-US" sz="1500" dirty="0"/>
          </a:p>
          <a:p>
            <a:pPr indent="0" marL="0">
              <a:spcAft>
                <a:spcPts val="200"/>
              </a:spcAft>
              <a:buNone/>
            </a:pPr>
            <a:r>
              <a:rPr lang="en-US" sz="1400" dirty="0">
                <a:solidFill>
                  <a:schemeClr val="tx1"/>
                </a:solidFill>
              </a:rPr>
              <a:t>aws organizations describe-organization should fail with AWSOrganizationsNotInUseException.</a:t>
            </a:r>
            <a:endParaRPr lang="en-US" sz="1500" dirty="0"/>
          </a:p>
        </p:txBody>
      </p:sp>
      <p:sp>
        <p:nvSpPr>
          <p:cNvPr id="23" name="card-418"/>
          <p:cNvSpPr/>
          <p:nvPr/>
        </p:nvSpPr>
        <p:spPr>
          <a:xfrm>
            <a:off x="7315200" y="4434840"/>
            <a:ext cx="4389120" cy="1783080"/>
          </a:xfrm>
          <a:prstGeom prst="roundRect">
            <a:avLst>
              <a:gd name="adj" fmla="val 5128"/>
            </a:avLst>
          </a:prstGeom>
          <a:solidFill>
            <a:schemeClr val="bg2"/>
          </a:solidFill>
          <a:ln w="12700">
            <a:solidFill>
              <a:schemeClr val="bg2"/>
            </a:solidFill>
            <a:prstDash val="solid"/>
          </a:ln>
        </p:spPr>
      </p:sp>
      <p:sp>
        <p:nvSpPr>
          <p:cNvPr id="24" name="text-419"/>
          <p:cNvSpPr txBox="1"/>
          <p:nvPr/>
        </p:nvSpPr>
        <p:spPr>
          <a:xfrm>
            <a:off x="7543800" y="4572000"/>
            <a:ext cx="3931920" cy="1554480"/>
          </a:xfrm>
          <a:prstGeom prst="rect">
            <a:avLst/>
          </a:prstGeom>
          <a:noFill/>
          <a:ln/>
        </p:spPr>
        <p:txBody>
          <a:bodyPr wrap="square" lIns="0" tIns="0" rIns="0" bIns="0" rtlCol="0" anchor="t"/>
          <a:lstStyle/>
          <a:p>
            <a:pPr indent="0" marL="0">
              <a:buNone/>
            </a:pPr>
            <a:r>
              <a:rPr lang="en-US" sz="1500" b="1" dirty="0">
                <a:solidFill>
                  <a:schemeClr val="tx1"/>
                </a:solidFill>
              </a:rPr>
              <a:t>Cleanup before switching accounts</a:t>
            </a:r>
            <a:endParaRPr lang="en-US" sz="1400" dirty="0"/>
          </a:p>
          <a:p>
            <a:pPr indent="0" marL="0">
              <a:buNone/>
            </a:pPr>
            <a:r>
              <a:rPr lang="en-US" sz="1400" dirty="0">
                <a:solidFill>
                  <a:schemeClr val="tx1"/>
                </a:solidFill>
              </a:rPr>
              <a:t>terraform destroy removed the KMS alias and scheduled the key for deletion. The unused IAM user and its access key were deleted too.</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420"/>
          <p:cNvSpPr txBox="1"/>
          <p:nvPr/>
        </p:nvSpPr>
        <p:spPr>
          <a:xfrm>
            <a:off x="731520" y="1463040"/>
            <a:ext cx="2743200" cy="1005840"/>
          </a:xfrm>
          <a:prstGeom prst="rect">
            <a:avLst/>
          </a:prstGeom>
          <a:noFill/>
          <a:ln/>
        </p:spPr>
        <p:txBody>
          <a:bodyPr wrap="square" lIns="0" tIns="0" rIns="0" bIns="0" rtlCol="0" anchor="t"/>
          <a:lstStyle/>
          <a:p>
            <a:pPr indent="0" marL="0">
              <a:buNone/>
            </a:pPr>
            <a:r>
              <a:rPr lang="en-US" sz="6000" b="1" dirty="0">
                <a:solidFill>
                  <a:schemeClr val="accent2"/>
                </a:solidFill>
                <a:latin typeface="Arial" pitchFamily="34" charset="0"/>
                <a:ea typeface="Arial" pitchFamily="34" charset="-122"/>
                <a:cs typeface="Arial" pitchFamily="34" charset="-120"/>
              </a:rPr>
              <a:t>03</a:t>
            </a:r>
            <a:endParaRPr lang="en-US" sz="6000" dirty="0"/>
          </a:p>
        </p:txBody>
      </p:sp>
      <p:sp>
        <p:nvSpPr>
          <p:cNvPr id="3" name="Text 0"/>
          <p:cNvSpPr/>
          <p:nvPr>
            <p:ph idx="100" type="title" hasCustomPrompt="1"/>
          </p:nvPr>
        </p:nvSpPr>
        <p:spPr>
          <a:xfrm>
            <a:off x="731520" y="2651760"/>
            <a:ext cx="8046720" cy="1097280"/>
          </a:xfrm>
          <a:prstGeom prst="rect">
            <a:avLst/>
          </a:prstGeom>
          <a:noFill/>
          <a:ln/>
        </p:spPr>
        <p:txBody>
          <a:bodyPr wrap="square" lIns="0" tIns="0" rIns="0" bIns="0" rtlCol="0" anchor="t"/>
          <a:lstStyle/>
          <a:p>
            <a:pPr algn="l" indent="0" marL="0">
              <a:buNone/>
            </a:pPr>
            <a:r>
              <a:rPr lang="en-US" sz="4400" b="1" dirty="0">
                <a:solidFill>
                  <a:schemeClr val="bg1"/>
                </a:solidFill>
              </a:rPr>
              <a:t>Layer 01: Organization</a:t>
            </a:r>
            <a:endParaRPr lang="en-US" sz="4400" dirty="0"/>
          </a:p>
        </p:txBody>
      </p:sp>
      <p:sp>
        <p:nvSpPr>
          <p:cNvPr id="4" name="Text 0"/>
          <p:cNvSpPr/>
          <p:nvPr>
            <p:ph idx="101" type="body" hasCustomPrompt="1"/>
          </p:nvPr>
        </p:nvSpPr>
        <p:spPr>
          <a:xfrm>
            <a:off x="731520" y="3840480"/>
            <a:ext cx="7863840" cy="1371600"/>
          </a:xfrm>
          <a:prstGeom prst="rect">
            <a:avLst/>
          </a:prstGeom>
          <a:noFill/>
          <a:ln/>
        </p:spPr>
        <p:txBody>
          <a:bodyPr wrap="square" lIns="0" tIns="0" rIns="0" bIns="0" rtlCol="0" anchor="t"/>
          <a:lstStyle/>
          <a:p>
            <a:pPr algn="l" indent="0" marL="0">
              <a:buNone/>
            </a:pPr>
            <a:r>
              <a:rPr lang="en-US" sz="2000" dirty="0">
                <a:solidFill>
                  <a:schemeClr val="bg2"/>
                </a:solidFill>
              </a:rPr>
              <a:t>Accounts, OUs, and the guardrails above them</a:t>
            </a:r>
            <a:endParaRPr lang="en-US" sz="2000" dirty="0"/>
          </a:p>
        </p:txBody>
      </p:sp>
      <p:sp>
        <p:nvSpPr>
          <p:cNvPr id="5" name="icon-circle-421"/>
          <p:cNvSpPr/>
          <p:nvPr/>
        </p:nvSpPr>
        <p:spPr>
          <a:xfrm>
            <a:off x="9052560" y="2011680"/>
            <a:ext cx="2377440" cy="2377440"/>
          </a:xfrm>
          <a:prstGeom prst="ellipse">
            <a:avLst/>
          </a:prstGeom>
          <a:solidFill>
            <a:schemeClr val="tx1"/>
          </a:solidFill>
          <a:ln w="12700">
            <a:solidFill>
              <a:schemeClr val="tx1"/>
            </a:solidFill>
            <a:prstDash val="solid"/>
          </a:ln>
        </p:spPr>
      </p:sp>
      <p:pic>
        <p:nvPicPr>
          <p:cNvPr id="6" name="icon-422" descr="preencoded.png">    </p:cNvPr>
          <p:cNvPicPr>
            <a:picLocks noChangeAspect="1"/>
          </p:cNvPicPr>
          <p:nvPr/>
        </p:nvPicPr>
        <p:blipFill>
          <a:blip r:embed="rId1"/>
          <a:stretch>
            <a:fillRect/>
          </a:stretch>
        </p:blipFill>
        <p:spPr>
          <a:xfrm>
            <a:off x="9646920" y="2606040"/>
            <a:ext cx="1188720" cy="11887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Turning on AWS Organizations</a:t>
            </a:r>
            <a:endParaRPr lang="en-US" sz="3400" dirty="0"/>
          </a:p>
        </p:txBody>
      </p:sp>
      <p:sp>
        <p:nvSpPr>
          <p:cNvPr id="3" name="code-label-423"/>
          <p:cNvSpPr txBox="1"/>
          <p:nvPr/>
        </p:nvSpPr>
        <p:spPr>
          <a:xfrm>
            <a:off x="868680" y="1280160"/>
            <a:ext cx="6583680" cy="274320"/>
          </a:xfrm>
          <a:prstGeom prst="rect">
            <a:avLst/>
          </a:prstGeom>
          <a:noFill/>
          <a:ln/>
        </p:spPr>
        <p:txBody>
          <a:bodyPr wrap="square" lIns="0" tIns="0" rIns="0" bIns="0" rtlCol="0" anchor="ctr"/>
          <a:lstStyle/>
          <a:p>
            <a:pPr indent="0" marL="0">
              <a:buNone/>
            </a:pPr>
            <a:r>
              <a:rPr lang="en-US" sz="1100" b="1" dirty="0">
                <a:solidFill>
                  <a:schemeClr val="tx2"/>
                </a:solidFill>
              </a:rPr>
              <a:t>layers/01-organization/main.tf</a:t>
            </a:r>
            <a:endParaRPr lang="en-US" sz="1100" dirty="0"/>
          </a:p>
        </p:txBody>
      </p:sp>
      <p:sp>
        <p:nvSpPr>
          <p:cNvPr id="4" name="code-bg-424"/>
          <p:cNvSpPr/>
          <p:nvPr/>
        </p:nvSpPr>
        <p:spPr>
          <a:xfrm>
            <a:off x="868680" y="1572768"/>
            <a:ext cx="6583680" cy="3948684"/>
          </a:xfrm>
          <a:prstGeom prst="roundRect">
            <a:avLst>
              <a:gd name="adj" fmla="val 1853"/>
            </a:avLst>
          </a:prstGeom>
          <a:solidFill>
            <a:schemeClr val="tx1"/>
          </a:solidFill>
          <a:ln w="12700">
            <a:solidFill>
              <a:schemeClr val="tx1"/>
            </a:solidFill>
            <a:prstDash val="solid"/>
          </a:ln>
        </p:spPr>
      </p:sp>
      <p:sp>
        <p:nvSpPr>
          <p:cNvPr id="5" name="code-425"/>
          <p:cNvSpPr txBox="1"/>
          <p:nvPr/>
        </p:nvSpPr>
        <p:spPr>
          <a:xfrm>
            <a:off x="1051560" y="1737360"/>
            <a:ext cx="6263640" cy="3637788"/>
          </a:xfrm>
          <a:prstGeom prst="rect">
            <a:avLst/>
          </a:prstGeom>
          <a:noFill/>
          <a:ln/>
        </p:spPr>
        <p:txBody>
          <a:bodyPr wrap="square" lIns="0" tIns="0" rIns="0" bIns="0" rtlCol="0" anchor="t"/>
          <a:lstStyle/>
          <a:p>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resource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"aws_organizations_organization"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"this"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feature_set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"ALL"</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aws_service_access_principals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"cloudtrail.amazonaws.com"</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"config.amazonaws.com"</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"guardduty.amazonaws.com"</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"securityhub.amazonaws.com"</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"sso.amazonaws.com"</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"ram.amazonaws.com"</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i="1" dirty="0">
                <a:solidFill>
                  <a:schemeClr val="tx2"/>
                </a:solidFill>
                <a:latin typeface="Courier New" pitchFamily="34" charset="0"/>
                <a:ea typeface="Courier New" pitchFamily="34" charset="-122"/>
                <a:cs typeface="Courier New" pitchFamily="34" charset="-120"/>
              </a:rPr>
              <a:t># ...plus iam and access-analyzer</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enabled_policy_types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"SERVICE_CONTROL_POLICY"</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locals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root_id</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aws_organizations_organization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this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roots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[0].</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id</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p:txBody>
      </p:sp>
      <p:sp>
        <p:nvSpPr>
          <p:cNvPr id="6" name="marker-426"/>
          <p:cNvSpPr/>
          <p:nvPr/>
        </p:nvSpPr>
        <p:spPr>
          <a:xfrm>
            <a:off x="484632" y="1876806"/>
            <a:ext cx="292608" cy="292608"/>
          </a:xfrm>
          <a:prstGeom prst="ellipse">
            <a:avLst/>
          </a:prstGeom>
          <a:solidFill>
            <a:schemeClr val="accent2"/>
          </a:solidFill>
          <a:ln w="12700">
            <a:solidFill>
              <a:schemeClr val="accent2"/>
            </a:solidFill>
            <a:prstDash val="solid"/>
          </a:ln>
        </p:spPr>
      </p:sp>
      <p:sp>
        <p:nvSpPr>
          <p:cNvPr id="7" name="marker-n-427"/>
          <p:cNvSpPr txBox="1"/>
          <p:nvPr/>
        </p:nvSpPr>
        <p:spPr>
          <a:xfrm>
            <a:off x="484632" y="1876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428"/>
          <p:cNvSpPr/>
          <p:nvPr/>
        </p:nvSpPr>
        <p:spPr>
          <a:xfrm>
            <a:off x="484632" y="2257806"/>
            <a:ext cx="292608" cy="292608"/>
          </a:xfrm>
          <a:prstGeom prst="ellipse">
            <a:avLst/>
          </a:prstGeom>
          <a:solidFill>
            <a:schemeClr val="accent2"/>
          </a:solidFill>
          <a:ln w="12700">
            <a:solidFill>
              <a:schemeClr val="accent2"/>
            </a:solidFill>
            <a:prstDash val="solid"/>
          </a:ln>
        </p:spPr>
      </p:sp>
      <p:sp>
        <p:nvSpPr>
          <p:cNvPr id="9" name="marker-n-429"/>
          <p:cNvSpPr txBox="1"/>
          <p:nvPr/>
        </p:nvSpPr>
        <p:spPr>
          <a:xfrm>
            <a:off x="484632" y="2257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430"/>
          <p:cNvSpPr/>
          <p:nvPr/>
        </p:nvSpPr>
        <p:spPr>
          <a:xfrm>
            <a:off x="484632" y="4162806"/>
            <a:ext cx="292608" cy="292608"/>
          </a:xfrm>
          <a:prstGeom prst="ellipse">
            <a:avLst/>
          </a:prstGeom>
          <a:solidFill>
            <a:schemeClr val="accent2"/>
          </a:solidFill>
          <a:ln w="12700">
            <a:solidFill>
              <a:schemeClr val="accent2"/>
            </a:solidFill>
            <a:prstDash val="solid"/>
          </a:ln>
        </p:spPr>
      </p:sp>
      <p:sp>
        <p:nvSpPr>
          <p:cNvPr id="11" name="marker-n-431"/>
          <p:cNvSpPr txBox="1"/>
          <p:nvPr/>
        </p:nvSpPr>
        <p:spPr>
          <a:xfrm>
            <a:off x="484632" y="4162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432"/>
          <p:cNvSpPr/>
          <p:nvPr/>
        </p:nvSpPr>
        <p:spPr>
          <a:xfrm>
            <a:off x="484632" y="4924806"/>
            <a:ext cx="292608" cy="292608"/>
          </a:xfrm>
          <a:prstGeom prst="ellipse">
            <a:avLst/>
          </a:prstGeom>
          <a:solidFill>
            <a:schemeClr val="accent2"/>
          </a:solidFill>
          <a:ln w="12700">
            <a:solidFill>
              <a:schemeClr val="accent2"/>
            </a:solidFill>
            <a:prstDash val="solid"/>
          </a:ln>
        </p:spPr>
      </p:sp>
      <p:sp>
        <p:nvSpPr>
          <p:cNvPr id="13" name="marker-n-433"/>
          <p:cNvSpPr txBox="1"/>
          <p:nvPr/>
        </p:nvSpPr>
        <p:spPr>
          <a:xfrm>
            <a:off x="484632" y="4924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14" name="marker-434"/>
          <p:cNvSpPr/>
          <p:nvPr/>
        </p:nvSpPr>
        <p:spPr>
          <a:xfrm>
            <a:off x="7818120" y="1325880"/>
            <a:ext cx="329184" cy="329184"/>
          </a:xfrm>
          <a:prstGeom prst="ellipse">
            <a:avLst/>
          </a:prstGeom>
          <a:solidFill>
            <a:schemeClr val="accent2"/>
          </a:solidFill>
          <a:ln w="12700">
            <a:solidFill>
              <a:schemeClr val="accent2"/>
            </a:solidFill>
            <a:prstDash val="solid"/>
          </a:ln>
        </p:spPr>
      </p:sp>
      <p:sp>
        <p:nvSpPr>
          <p:cNvPr id="15" name="marker-n-435"/>
          <p:cNvSpPr txBox="1"/>
          <p:nvPr/>
        </p:nvSpPr>
        <p:spPr>
          <a:xfrm>
            <a:off x="781812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6" name="callout-436"/>
          <p:cNvSpPr txBox="1"/>
          <p:nvPr/>
        </p:nvSpPr>
        <p:spPr>
          <a:xfrm>
            <a:off x="8275320" y="130759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ALL features</a:t>
            </a:r>
            <a:endParaRPr lang="en-US" sz="1500" dirty="0"/>
          </a:p>
          <a:p>
            <a:pPr indent="0" marL="0">
              <a:spcAft>
                <a:spcPts val="200"/>
              </a:spcAft>
              <a:buNone/>
            </a:pPr>
            <a:r>
              <a:rPr lang="en-US" sz="1400" dirty="0">
                <a:solidFill>
                  <a:schemeClr val="tx1"/>
                </a:solidFill>
              </a:rPr>
              <a:t>The alternative, consolidated billing only, cannot use SCPs.</a:t>
            </a:r>
            <a:endParaRPr lang="en-US" sz="1500" dirty="0"/>
          </a:p>
        </p:txBody>
      </p:sp>
      <p:sp>
        <p:nvSpPr>
          <p:cNvPr id="17" name="marker-437"/>
          <p:cNvSpPr/>
          <p:nvPr/>
        </p:nvSpPr>
        <p:spPr>
          <a:xfrm>
            <a:off x="7818120" y="2255520"/>
            <a:ext cx="329184" cy="329184"/>
          </a:xfrm>
          <a:prstGeom prst="ellipse">
            <a:avLst/>
          </a:prstGeom>
          <a:solidFill>
            <a:schemeClr val="accent2"/>
          </a:solidFill>
          <a:ln w="12700">
            <a:solidFill>
              <a:schemeClr val="accent2"/>
            </a:solidFill>
            <a:prstDash val="solid"/>
          </a:ln>
        </p:spPr>
      </p:sp>
      <p:sp>
        <p:nvSpPr>
          <p:cNvPr id="18" name="marker-n-438"/>
          <p:cNvSpPr txBox="1"/>
          <p:nvPr/>
        </p:nvSpPr>
        <p:spPr>
          <a:xfrm>
            <a:off x="7818120" y="2255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9" name="callout-439"/>
          <p:cNvSpPr txBox="1"/>
          <p:nvPr/>
        </p:nvSpPr>
        <p:spPr>
          <a:xfrm>
            <a:off x="8275320" y="223723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Trusted access</a:t>
            </a:r>
            <a:endParaRPr lang="en-US" sz="1500" dirty="0"/>
          </a:p>
          <a:p>
            <a:pPr indent="0" marL="0">
              <a:spcAft>
                <a:spcPts val="200"/>
              </a:spcAft>
              <a:buNone/>
            </a:pPr>
            <a:r>
              <a:rPr lang="en-US" sz="1400" dirty="0">
                <a:solidFill>
                  <a:schemeClr val="tx1"/>
                </a:solidFill>
              </a:rPr>
              <a:t>Lets each listed service work across every account in the org.</a:t>
            </a:r>
            <a:endParaRPr lang="en-US" sz="1500" dirty="0"/>
          </a:p>
        </p:txBody>
      </p:sp>
      <p:sp>
        <p:nvSpPr>
          <p:cNvPr id="20" name="marker-440"/>
          <p:cNvSpPr/>
          <p:nvPr/>
        </p:nvSpPr>
        <p:spPr>
          <a:xfrm>
            <a:off x="7818120" y="3185160"/>
            <a:ext cx="329184" cy="329184"/>
          </a:xfrm>
          <a:prstGeom prst="ellipse">
            <a:avLst/>
          </a:prstGeom>
          <a:solidFill>
            <a:schemeClr val="accent2"/>
          </a:solidFill>
          <a:ln w="12700">
            <a:solidFill>
              <a:schemeClr val="accent2"/>
            </a:solidFill>
            <a:prstDash val="solid"/>
          </a:ln>
        </p:spPr>
      </p:sp>
      <p:sp>
        <p:nvSpPr>
          <p:cNvPr id="21" name="marker-n-441"/>
          <p:cNvSpPr txBox="1"/>
          <p:nvPr/>
        </p:nvSpPr>
        <p:spPr>
          <a:xfrm>
            <a:off x="7818120" y="318516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2" name="callout-442"/>
          <p:cNvSpPr txBox="1"/>
          <p:nvPr/>
        </p:nvSpPr>
        <p:spPr>
          <a:xfrm>
            <a:off x="8275320" y="316687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Turn SCPs on</a:t>
            </a:r>
            <a:endParaRPr lang="en-US" sz="1500" dirty="0"/>
          </a:p>
          <a:p>
            <a:pPr indent="0" marL="0">
              <a:spcAft>
                <a:spcPts val="200"/>
              </a:spcAft>
              <a:buNone/>
            </a:pPr>
            <a:r>
              <a:rPr lang="en-US" sz="1400" dirty="0">
                <a:solidFill>
                  <a:schemeClr val="tx1"/>
                </a:solidFill>
              </a:rPr>
              <a:t>Policy types must be enabled before any policy can be attached.</a:t>
            </a:r>
            <a:endParaRPr lang="en-US" sz="1500" dirty="0"/>
          </a:p>
        </p:txBody>
      </p:sp>
      <p:sp>
        <p:nvSpPr>
          <p:cNvPr id="23" name="marker-443"/>
          <p:cNvSpPr/>
          <p:nvPr/>
        </p:nvSpPr>
        <p:spPr>
          <a:xfrm>
            <a:off x="7818120" y="4114800"/>
            <a:ext cx="329184" cy="329184"/>
          </a:xfrm>
          <a:prstGeom prst="ellipse">
            <a:avLst/>
          </a:prstGeom>
          <a:solidFill>
            <a:schemeClr val="accent2"/>
          </a:solidFill>
          <a:ln w="12700">
            <a:solidFill>
              <a:schemeClr val="accent2"/>
            </a:solidFill>
            <a:prstDash val="solid"/>
          </a:ln>
        </p:spPr>
      </p:sp>
      <p:sp>
        <p:nvSpPr>
          <p:cNvPr id="24" name="marker-n-444"/>
          <p:cNvSpPr txBox="1"/>
          <p:nvPr/>
        </p:nvSpPr>
        <p:spPr>
          <a:xfrm>
            <a:off x="7818120" y="411480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5" name="callout-445"/>
          <p:cNvSpPr txBox="1"/>
          <p:nvPr/>
        </p:nvSpPr>
        <p:spPr>
          <a:xfrm>
            <a:off x="8275320" y="409651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Indexing a list</a:t>
            </a:r>
            <a:endParaRPr lang="en-US" sz="1500" dirty="0"/>
          </a:p>
          <a:p>
            <a:pPr indent="0" marL="0">
              <a:spcAft>
                <a:spcPts val="200"/>
              </a:spcAft>
              <a:buNone/>
            </a:pPr>
            <a:r>
              <a:rPr lang="en-US" sz="1400" dirty="0">
                <a:solidFill>
                  <a:schemeClr val="tx1"/>
                </a:solidFill>
              </a:rPr>
              <a:t>roots is a list with one item. [0] picks it, as in most languages.</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Organizational units form a tree</a:t>
            </a:r>
            <a:endParaRPr lang="en-US" sz="3400" dirty="0"/>
          </a:p>
        </p:txBody>
      </p:sp>
      <p:sp>
        <p:nvSpPr>
          <p:cNvPr id="3" name="code-label-446"/>
          <p:cNvSpPr txBox="1"/>
          <p:nvPr/>
        </p:nvSpPr>
        <p:spPr>
          <a:xfrm>
            <a:off x="868680" y="1280160"/>
            <a:ext cx="6949440" cy="274320"/>
          </a:xfrm>
          <a:prstGeom prst="rect">
            <a:avLst/>
          </a:prstGeom>
          <a:noFill/>
          <a:ln/>
        </p:spPr>
        <p:txBody>
          <a:bodyPr wrap="square" lIns="0" tIns="0" rIns="0" bIns="0" rtlCol="0" anchor="ctr"/>
          <a:lstStyle/>
          <a:p>
            <a:pPr indent="0" marL="0">
              <a:buNone/>
            </a:pPr>
            <a:r>
              <a:rPr lang="en-US" sz="1100" b="1" dirty="0">
                <a:solidFill>
                  <a:schemeClr val="tx2"/>
                </a:solidFill>
              </a:rPr>
              <a:t>layers/01-organization/main.tf</a:t>
            </a:r>
            <a:endParaRPr lang="en-US" sz="1100" dirty="0"/>
          </a:p>
        </p:txBody>
      </p:sp>
      <p:sp>
        <p:nvSpPr>
          <p:cNvPr id="4" name="code-bg-447"/>
          <p:cNvSpPr/>
          <p:nvPr/>
        </p:nvSpPr>
        <p:spPr>
          <a:xfrm>
            <a:off x="868680" y="1572768"/>
            <a:ext cx="6949440" cy="1929384"/>
          </a:xfrm>
          <a:prstGeom prst="roundRect">
            <a:avLst>
              <a:gd name="adj" fmla="val 3791"/>
            </a:avLst>
          </a:prstGeom>
          <a:solidFill>
            <a:schemeClr val="tx1"/>
          </a:solidFill>
          <a:ln w="12700">
            <a:solidFill>
              <a:schemeClr val="tx1"/>
            </a:solidFill>
            <a:prstDash val="solid"/>
          </a:ln>
        </p:spPr>
      </p:sp>
      <p:sp>
        <p:nvSpPr>
          <p:cNvPr id="5" name="code-448"/>
          <p:cNvSpPr txBox="1"/>
          <p:nvPr/>
        </p:nvSpPr>
        <p:spPr>
          <a:xfrm>
            <a:off x="1051560" y="1737360"/>
            <a:ext cx="6629400" cy="1618488"/>
          </a:xfrm>
          <a:prstGeom prst="rect">
            <a:avLst/>
          </a:prstGeom>
          <a:noFill/>
          <a:ln/>
        </p:spPr>
        <p:txBody>
          <a:bodyPr wrap="square" lIns="0" tIns="0" rIns="0" bIns="0" rtlCol="0" anchor="t"/>
          <a:lstStyle/>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"aws_organizations_organizational_unit"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"workloads"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name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"Workloads"</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parent_id</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local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root_id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"aws_organizations_organizational_unit"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"workloads_prod"</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name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"Prod"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parent_id</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aws_organizations_organizational_unit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workloads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6" name="marker-449"/>
          <p:cNvSpPr/>
          <p:nvPr/>
        </p:nvSpPr>
        <p:spPr>
          <a:xfrm>
            <a:off x="484632" y="2035556"/>
            <a:ext cx="292608" cy="292608"/>
          </a:xfrm>
          <a:prstGeom prst="ellipse">
            <a:avLst/>
          </a:prstGeom>
          <a:solidFill>
            <a:schemeClr val="accent2"/>
          </a:solidFill>
          <a:ln w="12700">
            <a:solidFill>
              <a:schemeClr val="accent2"/>
            </a:solidFill>
            <a:prstDash val="solid"/>
          </a:ln>
        </p:spPr>
      </p:sp>
      <p:sp>
        <p:nvSpPr>
          <p:cNvPr id="7" name="marker-n-450"/>
          <p:cNvSpPr txBox="1"/>
          <p:nvPr/>
        </p:nvSpPr>
        <p:spPr>
          <a:xfrm>
            <a:off x="484632" y="20355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451"/>
          <p:cNvSpPr/>
          <p:nvPr/>
        </p:nvSpPr>
        <p:spPr>
          <a:xfrm>
            <a:off x="484632" y="2924556"/>
            <a:ext cx="292608" cy="292608"/>
          </a:xfrm>
          <a:prstGeom prst="ellipse">
            <a:avLst/>
          </a:prstGeom>
          <a:solidFill>
            <a:schemeClr val="accent2"/>
          </a:solidFill>
          <a:ln w="12700">
            <a:solidFill>
              <a:schemeClr val="accent2"/>
            </a:solidFill>
            <a:prstDash val="solid"/>
          </a:ln>
        </p:spPr>
      </p:sp>
      <p:sp>
        <p:nvSpPr>
          <p:cNvPr id="9" name="marker-n-452"/>
          <p:cNvSpPr txBox="1"/>
          <p:nvPr/>
        </p:nvSpPr>
        <p:spPr>
          <a:xfrm>
            <a:off x="484632" y="29245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453"/>
          <p:cNvSpPr/>
          <p:nvPr/>
        </p:nvSpPr>
        <p:spPr>
          <a:xfrm>
            <a:off x="8183880" y="1325880"/>
            <a:ext cx="329184" cy="329184"/>
          </a:xfrm>
          <a:prstGeom prst="ellipse">
            <a:avLst/>
          </a:prstGeom>
          <a:solidFill>
            <a:schemeClr val="accent2"/>
          </a:solidFill>
          <a:ln w="12700">
            <a:solidFill>
              <a:schemeClr val="accent2"/>
            </a:solidFill>
            <a:prstDash val="solid"/>
          </a:ln>
        </p:spPr>
      </p:sp>
      <p:sp>
        <p:nvSpPr>
          <p:cNvPr id="11" name="marker-n-454"/>
          <p:cNvSpPr txBox="1"/>
          <p:nvPr/>
        </p:nvSpPr>
        <p:spPr>
          <a:xfrm>
            <a:off x="818388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2" name="callout-455"/>
          <p:cNvSpPr txBox="1"/>
          <p:nvPr/>
        </p:nvSpPr>
        <p:spPr>
          <a:xfrm>
            <a:off x="8641080" y="1307592"/>
            <a:ext cx="306324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Top-level OU</a:t>
            </a:r>
            <a:endParaRPr lang="en-US" sz="1500" dirty="0"/>
          </a:p>
          <a:p>
            <a:pPr indent="0" marL="0">
              <a:spcAft>
                <a:spcPts val="200"/>
              </a:spcAft>
              <a:buNone/>
            </a:pPr>
            <a:r>
              <a:rPr lang="en-US" sz="1400" dirty="0">
                <a:solidFill>
                  <a:schemeClr val="tx1"/>
                </a:solidFill>
              </a:rPr>
              <a:t>Its parent is the root of the organization.</a:t>
            </a:r>
            <a:endParaRPr lang="en-US" sz="1500" dirty="0"/>
          </a:p>
        </p:txBody>
      </p:sp>
      <p:sp>
        <p:nvSpPr>
          <p:cNvPr id="13" name="marker-456"/>
          <p:cNvSpPr/>
          <p:nvPr/>
        </p:nvSpPr>
        <p:spPr>
          <a:xfrm>
            <a:off x="8183880" y="2255520"/>
            <a:ext cx="329184" cy="329184"/>
          </a:xfrm>
          <a:prstGeom prst="ellipse">
            <a:avLst/>
          </a:prstGeom>
          <a:solidFill>
            <a:schemeClr val="accent2"/>
          </a:solidFill>
          <a:ln w="12700">
            <a:solidFill>
              <a:schemeClr val="accent2"/>
            </a:solidFill>
            <a:prstDash val="solid"/>
          </a:ln>
        </p:spPr>
      </p:sp>
      <p:sp>
        <p:nvSpPr>
          <p:cNvPr id="14" name="marker-n-457"/>
          <p:cNvSpPr txBox="1"/>
          <p:nvPr/>
        </p:nvSpPr>
        <p:spPr>
          <a:xfrm>
            <a:off x="8183880" y="2255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5" name="callout-458"/>
          <p:cNvSpPr txBox="1"/>
          <p:nvPr/>
        </p:nvSpPr>
        <p:spPr>
          <a:xfrm>
            <a:off x="8641080" y="2237232"/>
            <a:ext cx="306324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Nesting by reference</a:t>
            </a:r>
            <a:endParaRPr lang="en-US" sz="1500" dirty="0"/>
          </a:p>
          <a:p>
            <a:pPr indent="0" marL="0">
              <a:spcAft>
                <a:spcPts val="200"/>
              </a:spcAft>
              <a:buNone/>
            </a:pPr>
            <a:r>
              <a:rPr lang="en-US" sz="1400" dirty="0">
                <a:solidFill>
                  <a:schemeClr val="tx1"/>
                </a:solidFill>
              </a:rPr>
              <a:t>A child OU points at its parent's ID, which also makes Terraform create the parent first.</a:t>
            </a:r>
            <a:endParaRPr lang="en-US" sz="1500" dirty="0"/>
          </a:p>
        </p:txBody>
      </p:sp>
      <p:sp>
        <p:nvSpPr>
          <p:cNvPr id="16" name="box-459"/>
          <p:cNvSpPr/>
          <p:nvPr/>
        </p:nvSpPr>
        <p:spPr>
          <a:xfrm>
            <a:off x="1463040" y="3657600"/>
            <a:ext cx="1463040" cy="457200"/>
          </a:xfrm>
          <a:prstGeom prst="roundRect">
            <a:avLst>
              <a:gd name="adj" fmla="val 16000"/>
            </a:avLst>
          </a:prstGeom>
          <a:solidFill>
            <a:schemeClr val="accent2"/>
          </a:solidFill>
          <a:ln w="9525">
            <a:solidFill>
              <a:schemeClr val="accent2"/>
            </a:solidFill>
            <a:prstDash val="solid"/>
          </a:ln>
        </p:spPr>
      </p:sp>
      <p:sp>
        <p:nvSpPr>
          <p:cNvPr id="17" name="box-t-460"/>
          <p:cNvSpPr txBox="1"/>
          <p:nvPr/>
        </p:nvSpPr>
        <p:spPr>
          <a:xfrm>
            <a:off x="1508760" y="3657600"/>
            <a:ext cx="1371600" cy="457200"/>
          </a:xfrm>
          <a:prstGeom prst="rect">
            <a:avLst/>
          </a:prstGeom>
          <a:noFill/>
          <a:ln/>
        </p:spPr>
        <p:txBody>
          <a:bodyPr wrap="square" lIns="508" tIns="508" rIns="508" bIns="508" rtlCol="0" anchor="ctr"/>
          <a:lstStyle/>
          <a:p>
            <a:pPr algn="ctr" indent="0" marL="0">
              <a:buNone/>
            </a:pPr>
            <a:r>
              <a:rPr lang="en-US" sz="1300" b="1" dirty="0">
                <a:solidFill>
                  <a:schemeClr val="tx1"/>
                </a:solidFill>
              </a:rPr>
              <a:t>Root</a:t>
            </a:r>
            <a:endParaRPr lang="en-US" sz="1300" dirty="0"/>
          </a:p>
        </p:txBody>
      </p:sp>
      <p:sp>
        <p:nvSpPr>
          <p:cNvPr id="18" name="arrow-461"/>
          <p:cNvSpPr/>
          <p:nvPr/>
        </p:nvSpPr>
        <p:spPr>
          <a:xfrm>
            <a:off x="2194560" y="4114800"/>
            <a:ext cx="0" cy="274320"/>
          </a:xfrm>
          <a:prstGeom prst="line">
            <a:avLst/>
          </a:prstGeom>
          <a:noFill/>
          <a:ln w="22225">
            <a:solidFill>
              <a:schemeClr val="tx2"/>
            </a:solidFill>
            <a:prstDash val="solid"/>
          </a:ln>
        </p:spPr>
      </p:sp>
      <p:sp>
        <p:nvSpPr>
          <p:cNvPr id="19" name="box-462"/>
          <p:cNvSpPr/>
          <p:nvPr/>
        </p:nvSpPr>
        <p:spPr>
          <a:xfrm>
            <a:off x="1188720" y="4389120"/>
            <a:ext cx="2011680" cy="457200"/>
          </a:xfrm>
          <a:prstGeom prst="roundRect">
            <a:avLst>
              <a:gd name="adj" fmla="val 16000"/>
            </a:avLst>
          </a:prstGeom>
          <a:solidFill>
            <a:schemeClr val="accent5"/>
          </a:solidFill>
          <a:ln w="9525">
            <a:solidFill>
              <a:schemeClr val="accent5"/>
            </a:solidFill>
            <a:prstDash val="solid"/>
          </a:ln>
        </p:spPr>
      </p:sp>
      <p:sp>
        <p:nvSpPr>
          <p:cNvPr id="20" name="box-t-463"/>
          <p:cNvSpPr txBox="1"/>
          <p:nvPr/>
        </p:nvSpPr>
        <p:spPr>
          <a:xfrm>
            <a:off x="1234440" y="4389120"/>
            <a:ext cx="1920240" cy="457200"/>
          </a:xfrm>
          <a:prstGeom prst="rect">
            <a:avLst/>
          </a:prstGeom>
          <a:noFill/>
          <a:ln/>
        </p:spPr>
        <p:txBody>
          <a:bodyPr wrap="square" lIns="508" tIns="508" rIns="508" bIns="508" rtlCol="0" anchor="ctr"/>
          <a:lstStyle/>
          <a:p>
            <a:pPr algn="ctr" indent="0" marL="0">
              <a:buNone/>
            </a:pPr>
            <a:r>
              <a:rPr lang="en-US" sz="1300" b="1" dirty="0">
                <a:solidFill>
                  <a:schemeClr val="tx1"/>
                </a:solidFill>
              </a:rPr>
              <a:t>Workloads</a:t>
            </a:r>
            <a:endParaRPr lang="en-US" sz="1300" dirty="0"/>
          </a:p>
        </p:txBody>
      </p:sp>
      <p:sp>
        <p:nvSpPr>
          <p:cNvPr id="21" name="arrow-464"/>
          <p:cNvSpPr/>
          <p:nvPr/>
        </p:nvSpPr>
        <p:spPr>
          <a:xfrm flipH="1">
            <a:off x="1280160" y="4846320"/>
            <a:ext cx="914400" cy="320040"/>
          </a:xfrm>
          <a:prstGeom prst="line">
            <a:avLst/>
          </a:prstGeom>
          <a:noFill/>
          <a:ln w="22225">
            <a:solidFill>
              <a:schemeClr val="tx2"/>
            </a:solidFill>
            <a:prstDash val="solid"/>
          </a:ln>
        </p:spPr>
      </p:sp>
      <p:sp>
        <p:nvSpPr>
          <p:cNvPr id="22" name="arrow-465"/>
          <p:cNvSpPr/>
          <p:nvPr/>
        </p:nvSpPr>
        <p:spPr>
          <a:xfrm>
            <a:off x="2194560" y="4846320"/>
            <a:ext cx="914400" cy="320040"/>
          </a:xfrm>
          <a:prstGeom prst="line">
            <a:avLst/>
          </a:prstGeom>
          <a:noFill/>
          <a:ln w="22225">
            <a:solidFill>
              <a:schemeClr val="tx2"/>
            </a:solidFill>
            <a:prstDash val="solid"/>
          </a:ln>
        </p:spPr>
      </p:sp>
      <p:sp>
        <p:nvSpPr>
          <p:cNvPr id="23" name="box-466"/>
          <p:cNvSpPr/>
          <p:nvPr/>
        </p:nvSpPr>
        <p:spPr>
          <a:xfrm>
            <a:off x="548640" y="5166360"/>
            <a:ext cx="1463040" cy="457200"/>
          </a:xfrm>
          <a:prstGeom prst="roundRect">
            <a:avLst>
              <a:gd name="adj" fmla="val 16000"/>
            </a:avLst>
          </a:prstGeom>
          <a:solidFill>
            <a:schemeClr val="accent5"/>
          </a:solidFill>
          <a:ln w="9525">
            <a:solidFill>
              <a:schemeClr val="accent5"/>
            </a:solidFill>
            <a:prstDash val="solid"/>
          </a:ln>
        </p:spPr>
      </p:sp>
      <p:sp>
        <p:nvSpPr>
          <p:cNvPr id="24" name="box-t-467"/>
          <p:cNvSpPr txBox="1"/>
          <p:nvPr/>
        </p:nvSpPr>
        <p:spPr>
          <a:xfrm>
            <a:off x="594360" y="5166360"/>
            <a:ext cx="1371600" cy="457200"/>
          </a:xfrm>
          <a:prstGeom prst="rect">
            <a:avLst/>
          </a:prstGeom>
          <a:noFill/>
          <a:ln/>
        </p:spPr>
        <p:txBody>
          <a:bodyPr wrap="square" lIns="508" tIns="508" rIns="508" bIns="508" rtlCol="0" anchor="ctr"/>
          <a:lstStyle/>
          <a:p>
            <a:pPr algn="ctr" indent="0" marL="0">
              <a:buNone/>
            </a:pPr>
            <a:r>
              <a:rPr lang="en-US" sz="1300" b="1" dirty="0">
                <a:solidFill>
                  <a:schemeClr val="tx1"/>
                </a:solidFill>
              </a:rPr>
              <a:t>NonProd</a:t>
            </a:r>
            <a:endParaRPr lang="en-US" sz="1300" dirty="0"/>
          </a:p>
        </p:txBody>
      </p:sp>
      <p:sp>
        <p:nvSpPr>
          <p:cNvPr id="25" name="box-468"/>
          <p:cNvSpPr/>
          <p:nvPr/>
        </p:nvSpPr>
        <p:spPr>
          <a:xfrm>
            <a:off x="2377440" y="5166360"/>
            <a:ext cx="1463040" cy="457200"/>
          </a:xfrm>
          <a:prstGeom prst="roundRect">
            <a:avLst>
              <a:gd name="adj" fmla="val 16000"/>
            </a:avLst>
          </a:prstGeom>
          <a:solidFill>
            <a:schemeClr val="accent5"/>
          </a:solidFill>
          <a:ln w="9525">
            <a:solidFill>
              <a:schemeClr val="accent5"/>
            </a:solidFill>
            <a:prstDash val="solid"/>
          </a:ln>
        </p:spPr>
      </p:sp>
      <p:sp>
        <p:nvSpPr>
          <p:cNvPr id="26" name="box-t-469"/>
          <p:cNvSpPr txBox="1"/>
          <p:nvPr/>
        </p:nvSpPr>
        <p:spPr>
          <a:xfrm>
            <a:off x="2423160" y="5166360"/>
            <a:ext cx="1371600" cy="457200"/>
          </a:xfrm>
          <a:prstGeom prst="rect">
            <a:avLst/>
          </a:prstGeom>
          <a:noFill/>
          <a:ln/>
        </p:spPr>
        <p:txBody>
          <a:bodyPr wrap="square" lIns="508" tIns="508" rIns="508" bIns="508" rtlCol="0" anchor="ctr"/>
          <a:lstStyle/>
          <a:p>
            <a:pPr algn="ctr" indent="0" marL="0">
              <a:buNone/>
            </a:pPr>
            <a:r>
              <a:rPr lang="en-US" sz="1300" b="1" dirty="0">
                <a:solidFill>
                  <a:schemeClr val="tx1"/>
                </a:solidFill>
              </a:rPr>
              <a:t>Prod</a:t>
            </a:r>
            <a:endParaRPr lang="en-US" sz="1300" dirty="0"/>
          </a:p>
        </p:txBody>
      </p:sp>
      <p:sp>
        <p:nvSpPr>
          <p:cNvPr id="27" name="text-470"/>
          <p:cNvSpPr txBox="1"/>
          <p:nvPr/>
        </p:nvSpPr>
        <p:spPr>
          <a:xfrm>
            <a:off x="4480560" y="4206240"/>
            <a:ext cx="3291840" cy="1097280"/>
          </a:xfrm>
          <a:prstGeom prst="rect">
            <a:avLst/>
          </a:prstGeom>
          <a:noFill/>
          <a:ln/>
        </p:spPr>
        <p:txBody>
          <a:bodyPr wrap="square" lIns="0" tIns="0" rIns="0" bIns="0" rtlCol="0" anchor="t"/>
          <a:lstStyle/>
          <a:p>
            <a:pPr indent="0" marL="0">
              <a:buNone/>
            </a:pPr>
            <a:r>
              <a:rPr lang="en-US" sz="1500" dirty="0">
                <a:solidFill>
                  <a:schemeClr val="tx2"/>
                </a:solidFill>
              </a:rPr>
              <a:t>Also created the same way: Security, Infrastructure, and Suspended.</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Five accounts from one map</a:t>
            </a:r>
            <a:endParaRPr lang="en-US" sz="3400" dirty="0"/>
          </a:p>
        </p:txBody>
      </p:sp>
      <p:sp>
        <p:nvSpPr>
          <p:cNvPr id="3" name="code-label-471"/>
          <p:cNvSpPr txBox="1"/>
          <p:nvPr/>
        </p:nvSpPr>
        <p:spPr>
          <a:xfrm>
            <a:off x="868680" y="1280160"/>
            <a:ext cx="6949440" cy="274320"/>
          </a:xfrm>
          <a:prstGeom prst="rect">
            <a:avLst/>
          </a:prstGeom>
          <a:noFill/>
          <a:ln/>
        </p:spPr>
        <p:txBody>
          <a:bodyPr wrap="square" lIns="0" tIns="0" rIns="0" bIns="0" rtlCol="0" anchor="ctr"/>
          <a:lstStyle/>
          <a:p>
            <a:pPr indent="0" marL="0">
              <a:buNone/>
            </a:pPr>
            <a:r>
              <a:rPr lang="en-US" sz="1100" b="1" dirty="0">
                <a:solidFill>
                  <a:schemeClr val="tx2"/>
                </a:solidFill>
              </a:rPr>
              <a:t>layers/01-organization/main.tf</a:t>
            </a:r>
            <a:endParaRPr lang="en-US" sz="1100" dirty="0"/>
          </a:p>
        </p:txBody>
      </p:sp>
      <p:sp>
        <p:nvSpPr>
          <p:cNvPr id="4" name="code-bg-472"/>
          <p:cNvSpPr/>
          <p:nvPr/>
        </p:nvSpPr>
        <p:spPr>
          <a:xfrm>
            <a:off x="868680" y="1572768"/>
            <a:ext cx="6949440" cy="4596384"/>
          </a:xfrm>
          <a:prstGeom prst="roundRect">
            <a:avLst>
              <a:gd name="adj" fmla="val 1592"/>
            </a:avLst>
          </a:prstGeom>
          <a:solidFill>
            <a:schemeClr val="tx1"/>
          </a:solidFill>
          <a:ln w="12700">
            <a:solidFill>
              <a:schemeClr val="tx1"/>
            </a:solidFill>
            <a:prstDash val="solid"/>
          </a:ln>
        </p:spPr>
      </p:sp>
      <p:sp>
        <p:nvSpPr>
          <p:cNvPr id="5" name="code-473"/>
          <p:cNvSpPr txBox="1"/>
          <p:nvPr/>
        </p:nvSpPr>
        <p:spPr>
          <a:xfrm>
            <a:off x="1051560" y="1737360"/>
            <a:ext cx="6629400" cy="4285488"/>
          </a:xfrm>
          <a:prstGeom prst="rect">
            <a:avLst/>
          </a:prstGeom>
          <a:noFill/>
          <a:ln/>
        </p:spPr>
        <p:txBody>
          <a:bodyPr wrap="square" lIns="0" tIns="0" rIns="0" bIns="0" rtlCol="0" anchor="t"/>
          <a:lstStyle/>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locals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accounts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dev</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name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"lz-dev"</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email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var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account_emails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dev</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parent_id</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aws_organizations_organizational_unit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workloads_nonprod</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i="1" dirty="0">
                <a:solidFill>
                  <a:schemeClr val="tx2"/>
                </a:solidFill>
                <a:latin typeface="Courier New" pitchFamily="34" charset="0"/>
                <a:ea typeface="Courier New" pitchFamily="34" charset="-122"/>
                <a:cs typeface="Courier New" pitchFamily="34" charset="-120"/>
              </a:rPr>
              <a:t># log_archive, security, network, prod ...</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"aws_organizations_account"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"this"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for_each</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local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accounts</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name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each</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value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name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email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each</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value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email</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parent_id</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each</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value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parent_id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role_name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"OrganizationAccountAccessRole"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close_on_deletion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var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close_accounts_on_destroy</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lifecycle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ignore_changes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role_name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6" name="marker-474"/>
          <p:cNvSpPr/>
          <p:nvPr/>
        </p:nvSpPr>
        <p:spPr>
          <a:xfrm>
            <a:off x="484632" y="1857756"/>
            <a:ext cx="292608" cy="292608"/>
          </a:xfrm>
          <a:prstGeom prst="ellipse">
            <a:avLst/>
          </a:prstGeom>
          <a:solidFill>
            <a:schemeClr val="accent2"/>
          </a:solidFill>
          <a:ln w="12700">
            <a:solidFill>
              <a:schemeClr val="accent2"/>
            </a:solidFill>
            <a:prstDash val="solid"/>
          </a:ln>
        </p:spPr>
      </p:sp>
      <p:sp>
        <p:nvSpPr>
          <p:cNvPr id="7" name="marker-n-475"/>
          <p:cNvSpPr txBox="1"/>
          <p:nvPr/>
        </p:nvSpPr>
        <p:spPr>
          <a:xfrm>
            <a:off x="484632" y="18577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476"/>
          <p:cNvSpPr/>
          <p:nvPr/>
        </p:nvSpPr>
        <p:spPr>
          <a:xfrm>
            <a:off x="484632" y="3813556"/>
            <a:ext cx="292608" cy="292608"/>
          </a:xfrm>
          <a:prstGeom prst="ellipse">
            <a:avLst/>
          </a:prstGeom>
          <a:solidFill>
            <a:schemeClr val="accent2"/>
          </a:solidFill>
          <a:ln w="12700">
            <a:solidFill>
              <a:schemeClr val="accent2"/>
            </a:solidFill>
            <a:prstDash val="solid"/>
          </a:ln>
        </p:spPr>
      </p:sp>
      <p:sp>
        <p:nvSpPr>
          <p:cNvPr id="9" name="marker-n-477"/>
          <p:cNvSpPr txBox="1"/>
          <p:nvPr/>
        </p:nvSpPr>
        <p:spPr>
          <a:xfrm>
            <a:off x="484632" y="38135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478"/>
          <p:cNvSpPr/>
          <p:nvPr/>
        </p:nvSpPr>
        <p:spPr>
          <a:xfrm>
            <a:off x="484632" y="4702556"/>
            <a:ext cx="292608" cy="292608"/>
          </a:xfrm>
          <a:prstGeom prst="ellipse">
            <a:avLst/>
          </a:prstGeom>
          <a:solidFill>
            <a:schemeClr val="accent2"/>
          </a:solidFill>
          <a:ln w="12700">
            <a:solidFill>
              <a:schemeClr val="accent2"/>
            </a:solidFill>
            <a:prstDash val="solid"/>
          </a:ln>
        </p:spPr>
      </p:sp>
      <p:sp>
        <p:nvSpPr>
          <p:cNvPr id="11" name="marker-n-479"/>
          <p:cNvSpPr txBox="1"/>
          <p:nvPr/>
        </p:nvSpPr>
        <p:spPr>
          <a:xfrm>
            <a:off x="484632" y="47025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480"/>
          <p:cNvSpPr/>
          <p:nvPr/>
        </p:nvSpPr>
        <p:spPr>
          <a:xfrm>
            <a:off x="484632" y="5413756"/>
            <a:ext cx="292608" cy="292608"/>
          </a:xfrm>
          <a:prstGeom prst="ellipse">
            <a:avLst/>
          </a:prstGeom>
          <a:solidFill>
            <a:schemeClr val="accent2"/>
          </a:solidFill>
          <a:ln w="12700">
            <a:solidFill>
              <a:schemeClr val="accent2"/>
            </a:solidFill>
            <a:prstDash val="solid"/>
          </a:ln>
        </p:spPr>
      </p:sp>
      <p:sp>
        <p:nvSpPr>
          <p:cNvPr id="13" name="marker-n-481"/>
          <p:cNvSpPr txBox="1"/>
          <p:nvPr/>
        </p:nvSpPr>
        <p:spPr>
          <a:xfrm>
            <a:off x="484632" y="54137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14" name="marker-482"/>
          <p:cNvSpPr/>
          <p:nvPr/>
        </p:nvSpPr>
        <p:spPr>
          <a:xfrm>
            <a:off x="8183880" y="1325880"/>
            <a:ext cx="329184" cy="329184"/>
          </a:xfrm>
          <a:prstGeom prst="ellipse">
            <a:avLst/>
          </a:prstGeom>
          <a:solidFill>
            <a:schemeClr val="accent2"/>
          </a:solidFill>
          <a:ln w="12700">
            <a:solidFill>
              <a:schemeClr val="accent2"/>
            </a:solidFill>
            <a:prstDash val="solid"/>
          </a:ln>
        </p:spPr>
      </p:sp>
      <p:sp>
        <p:nvSpPr>
          <p:cNvPr id="15" name="marker-n-483"/>
          <p:cNvSpPr txBox="1"/>
          <p:nvPr/>
        </p:nvSpPr>
        <p:spPr>
          <a:xfrm>
            <a:off x="818388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6" name="callout-484"/>
          <p:cNvSpPr txBox="1"/>
          <p:nvPr/>
        </p:nvSpPr>
        <p:spPr>
          <a:xfrm>
            <a:off x="8641080" y="1307592"/>
            <a:ext cx="306324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Data drives resources</a:t>
            </a:r>
            <a:endParaRPr lang="en-US" sz="1500" dirty="0"/>
          </a:p>
          <a:p>
            <a:pPr indent="0" marL="0">
              <a:spcAft>
                <a:spcPts val="200"/>
              </a:spcAft>
              <a:buNone/>
            </a:pPr>
            <a:r>
              <a:rPr lang="en-US" sz="1400" dirty="0">
                <a:solidFill>
                  <a:schemeClr val="tx1"/>
                </a:solidFill>
              </a:rPr>
              <a:t>A map of account settings, keyed by role.</a:t>
            </a:r>
            <a:endParaRPr lang="en-US" sz="1500" dirty="0"/>
          </a:p>
        </p:txBody>
      </p:sp>
      <p:sp>
        <p:nvSpPr>
          <p:cNvPr id="17" name="marker-485"/>
          <p:cNvSpPr/>
          <p:nvPr/>
        </p:nvSpPr>
        <p:spPr>
          <a:xfrm>
            <a:off x="8183880" y="2255520"/>
            <a:ext cx="329184" cy="329184"/>
          </a:xfrm>
          <a:prstGeom prst="ellipse">
            <a:avLst/>
          </a:prstGeom>
          <a:solidFill>
            <a:schemeClr val="accent2"/>
          </a:solidFill>
          <a:ln w="12700">
            <a:solidFill>
              <a:schemeClr val="accent2"/>
            </a:solidFill>
            <a:prstDash val="solid"/>
          </a:ln>
        </p:spPr>
      </p:sp>
      <p:sp>
        <p:nvSpPr>
          <p:cNvPr id="18" name="marker-n-486"/>
          <p:cNvSpPr txBox="1"/>
          <p:nvPr/>
        </p:nvSpPr>
        <p:spPr>
          <a:xfrm>
            <a:off x="8183880" y="2255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9" name="callout-487"/>
          <p:cNvSpPr txBox="1"/>
          <p:nvPr/>
        </p:nvSpPr>
        <p:spPr>
          <a:xfrm>
            <a:off x="8641080" y="2237232"/>
            <a:ext cx="306324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for_each</a:t>
            </a:r>
            <a:endParaRPr lang="en-US" sz="1500" dirty="0"/>
          </a:p>
          <a:p>
            <a:pPr indent="0" marL="0">
              <a:spcAft>
                <a:spcPts val="200"/>
              </a:spcAft>
              <a:buNone/>
            </a:pPr>
            <a:r>
              <a:rPr lang="en-US" sz="1400" dirty="0">
                <a:solidFill>
                  <a:schemeClr val="tx1"/>
                </a:solidFill>
              </a:rPr>
              <a:t>One account per map entry. each.key is "dev", each.value is its settings.</a:t>
            </a:r>
            <a:endParaRPr lang="en-US" sz="1500" dirty="0"/>
          </a:p>
        </p:txBody>
      </p:sp>
      <p:sp>
        <p:nvSpPr>
          <p:cNvPr id="20" name="marker-488"/>
          <p:cNvSpPr/>
          <p:nvPr/>
        </p:nvSpPr>
        <p:spPr>
          <a:xfrm>
            <a:off x="8183880" y="3398520"/>
            <a:ext cx="329184" cy="329184"/>
          </a:xfrm>
          <a:prstGeom prst="ellipse">
            <a:avLst/>
          </a:prstGeom>
          <a:solidFill>
            <a:schemeClr val="accent2"/>
          </a:solidFill>
          <a:ln w="12700">
            <a:solidFill>
              <a:schemeClr val="accent2"/>
            </a:solidFill>
            <a:prstDash val="solid"/>
          </a:ln>
        </p:spPr>
      </p:sp>
      <p:sp>
        <p:nvSpPr>
          <p:cNvPr id="21" name="marker-n-489"/>
          <p:cNvSpPr txBox="1"/>
          <p:nvPr/>
        </p:nvSpPr>
        <p:spPr>
          <a:xfrm>
            <a:off x="8183880" y="3398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2" name="callout-490"/>
          <p:cNvSpPr txBox="1"/>
          <p:nvPr/>
        </p:nvSpPr>
        <p:spPr>
          <a:xfrm>
            <a:off x="8641080" y="3380232"/>
            <a:ext cx="306324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The break-glass role</a:t>
            </a:r>
            <a:endParaRPr lang="en-US" sz="1500" dirty="0"/>
          </a:p>
          <a:p>
            <a:pPr indent="0" marL="0">
              <a:spcAft>
                <a:spcPts val="200"/>
              </a:spcAft>
              <a:buNone/>
            </a:pPr>
            <a:r>
              <a:rPr lang="en-US" sz="1400" dirty="0">
                <a:solidFill>
                  <a:schemeClr val="tx1"/>
                </a:solidFill>
              </a:rPr>
              <a:t>Created in every new account, assumable from management.</a:t>
            </a:r>
            <a:endParaRPr lang="en-US" sz="1500" dirty="0"/>
          </a:p>
        </p:txBody>
      </p:sp>
      <p:sp>
        <p:nvSpPr>
          <p:cNvPr id="23" name="marker-491"/>
          <p:cNvSpPr/>
          <p:nvPr/>
        </p:nvSpPr>
        <p:spPr>
          <a:xfrm>
            <a:off x="8183880" y="4328160"/>
            <a:ext cx="329184" cy="329184"/>
          </a:xfrm>
          <a:prstGeom prst="ellipse">
            <a:avLst/>
          </a:prstGeom>
          <a:solidFill>
            <a:schemeClr val="accent2"/>
          </a:solidFill>
          <a:ln w="12700">
            <a:solidFill>
              <a:schemeClr val="accent2"/>
            </a:solidFill>
            <a:prstDash val="solid"/>
          </a:ln>
        </p:spPr>
      </p:sp>
      <p:sp>
        <p:nvSpPr>
          <p:cNvPr id="24" name="marker-n-492"/>
          <p:cNvSpPr txBox="1"/>
          <p:nvPr/>
        </p:nvSpPr>
        <p:spPr>
          <a:xfrm>
            <a:off x="8183880" y="432816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5" name="callout-493"/>
          <p:cNvSpPr txBox="1"/>
          <p:nvPr/>
        </p:nvSpPr>
        <p:spPr>
          <a:xfrm>
            <a:off x="8641080" y="4309872"/>
            <a:ext cx="306324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ignore_changes</a:t>
            </a:r>
            <a:endParaRPr lang="en-US" sz="1500" dirty="0"/>
          </a:p>
          <a:p>
            <a:pPr indent="0" marL="0">
              <a:spcAft>
                <a:spcPts val="200"/>
              </a:spcAft>
              <a:buNone/>
            </a:pPr>
            <a:r>
              <a:rPr lang="en-US" sz="1400" dirty="0">
                <a:solidFill>
                  <a:schemeClr val="tx1"/>
                </a:solidFill>
              </a:rPr>
              <a:t>AWS never returns this value, so Terraform would otherwise rebuild the account.</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How service control policies work</a:t>
            </a:r>
            <a:endParaRPr lang="en-US" sz="3400" dirty="0"/>
          </a:p>
        </p:txBody>
      </p:sp>
      <p:sp>
        <p:nvSpPr>
          <p:cNvPr id="3" name="venn-494"/>
          <p:cNvSpPr/>
          <p:nvPr/>
        </p:nvSpPr>
        <p:spPr>
          <a:xfrm>
            <a:off x="822960" y="1463040"/>
            <a:ext cx="3657600" cy="3657600"/>
          </a:xfrm>
          <a:prstGeom prst="ellipse">
            <a:avLst/>
          </a:prstGeom>
          <a:solidFill>
            <a:schemeClr val="accent1">
              <a:alpha val="65000"/>
            </a:schemeClr>
          </a:solidFill>
          <a:ln w="19050">
            <a:solidFill>
              <a:schemeClr val="accent1"/>
            </a:solidFill>
            <a:prstDash val="solid"/>
          </a:ln>
        </p:spPr>
      </p:sp>
      <p:sp>
        <p:nvSpPr>
          <p:cNvPr id="4" name="venn-495"/>
          <p:cNvSpPr/>
          <p:nvPr/>
        </p:nvSpPr>
        <p:spPr>
          <a:xfrm>
            <a:off x="3108960" y="1463040"/>
            <a:ext cx="3657600" cy="3657600"/>
          </a:xfrm>
          <a:prstGeom prst="ellipse">
            <a:avLst/>
          </a:prstGeom>
          <a:solidFill>
            <a:schemeClr val="accent3">
              <a:alpha val="65000"/>
            </a:schemeClr>
          </a:solidFill>
          <a:ln w="19050">
            <a:solidFill>
              <a:schemeClr val="accent3"/>
            </a:solidFill>
            <a:prstDash val="solid"/>
          </a:ln>
        </p:spPr>
      </p:sp>
      <p:sp>
        <p:nvSpPr>
          <p:cNvPr id="5" name="text-496"/>
          <p:cNvSpPr txBox="1"/>
          <p:nvPr/>
        </p:nvSpPr>
        <p:spPr>
          <a:xfrm>
            <a:off x="1097280" y="2834640"/>
            <a:ext cx="1645920" cy="914400"/>
          </a:xfrm>
          <a:prstGeom prst="rect">
            <a:avLst/>
          </a:prstGeom>
          <a:noFill/>
          <a:ln/>
        </p:spPr>
        <p:txBody>
          <a:bodyPr wrap="square" lIns="0" tIns="0" rIns="0" bIns="0" rtlCol="0" anchor="t"/>
          <a:lstStyle/>
          <a:p>
            <a:pPr algn="ctr" indent="0" marL="0">
              <a:buNone/>
            </a:pPr>
            <a:r>
              <a:rPr lang="en-US" sz="1600" b="1" dirty="0">
                <a:solidFill>
                  <a:schemeClr val="bg1"/>
                </a:solidFill>
              </a:rPr>
              <a:t>IAM policy</a:t>
            </a:r>
            <a:endParaRPr lang="en-US" sz="1600" dirty="0"/>
          </a:p>
          <a:p>
            <a:pPr algn="ctr" indent="0" marL="0">
              <a:buNone/>
            </a:pPr>
            <a:r>
              <a:rPr lang="en-US" sz="1600" b="1" dirty="0">
                <a:solidFill>
                  <a:schemeClr val="bg1"/>
                </a:solidFill>
              </a:rPr>
              <a:t>allows</a:t>
            </a:r>
            <a:endParaRPr lang="en-US" sz="1600" dirty="0"/>
          </a:p>
        </p:txBody>
      </p:sp>
      <p:sp>
        <p:nvSpPr>
          <p:cNvPr id="6" name="text-497"/>
          <p:cNvSpPr txBox="1"/>
          <p:nvPr/>
        </p:nvSpPr>
        <p:spPr>
          <a:xfrm>
            <a:off x="4846320" y="2834640"/>
            <a:ext cx="1645920" cy="914400"/>
          </a:xfrm>
          <a:prstGeom prst="rect">
            <a:avLst/>
          </a:prstGeom>
          <a:noFill/>
          <a:ln/>
        </p:spPr>
        <p:txBody>
          <a:bodyPr wrap="square" lIns="0" tIns="0" rIns="0" bIns="0" rtlCol="0" anchor="t"/>
          <a:lstStyle/>
          <a:p>
            <a:pPr algn="ctr" indent="0" marL="0">
              <a:buNone/>
            </a:pPr>
            <a:r>
              <a:rPr lang="en-US" sz="1600" b="1" dirty="0">
                <a:solidFill>
                  <a:schemeClr val="bg1"/>
                </a:solidFill>
              </a:rPr>
              <a:t>SCP</a:t>
            </a:r>
            <a:endParaRPr lang="en-US" sz="1600" dirty="0"/>
          </a:p>
          <a:p>
            <a:pPr algn="ctr" indent="0" marL="0">
              <a:buNone/>
            </a:pPr>
            <a:r>
              <a:rPr lang="en-US" sz="1600" b="1" dirty="0">
                <a:solidFill>
                  <a:schemeClr val="bg1"/>
                </a:solidFill>
              </a:rPr>
              <a:t>allows</a:t>
            </a:r>
            <a:endParaRPr lang="en-US" sz="1600" dirty="0"/>
          </a:p>
        </p:txBody>
      </p:sp>
      <p:sp>
        <p:nvSpPr>
          <p:cNvPr id="7" name="text-498"/>
          <p:cNvSpPr txBox="1"/>
          <p:nvPr/>
        </p:nvSpPr>
        <p:spPr>
          <a:xfrm>
            <a:off x="3154680" y="2788920"/>
            <a:ext cx="1280160" cy="1097280"/>
          </a:xfrm>
          <a:prstGeom prst="rect">
            <a:avLst/>
          </a:prstGeom>
          <a:noFill/>
          <a:ln/>
        </p:spPr>
        <p:txBody>
          <a:bodyPr wrap="square" lIns="0" tIns="0" rIns="0" bIns="0" rtlCol="0" anchor="ctr"/>
          <a:lstStyle/>
          <a:p>
            <a:pPr algn="ctr" indent="0" marL="0">
              <a:buNone/>
            </a:pPr>
            <a:r>
              <a:rPr lang="en-US" sz="1300" b="1" dirty="0">
                <a:solidFill>
                  <a:schemeClr val="bg1"/>
                </a:solidFill>
              </a:rPr>
              <a:t>What a user can actually do</a:t>
            </a:r>
            <a:endParaRPr lang="en-US" sz="1300" dirty="0"/>
          </a:p>
        </p:txBody>
      </p:sp>
      <p:sp>
        <p:nvSpPr>
          <p:cNvPr id="8" name="text-499"/>
          <p:cNvSpPr txBox="1"/>
          <p:nvPr/>
        </p:nvSpPr>
        <p:spPr>
          <a:xfrm>
            <a:off x="822960" y="5349240"/>
            <a:ext cx="5943600" cy="365760"/>
          </a:xfrm>
          <a:prstGeom prst="rect">
            <a:avLst/>
          </a:prstGeom>
          <a:noFill/>
          <a:ln/>
        </p:spPr>
        <p:txBody>
          <a:bodyPr wrap="square" lIns="0" tIns="0" rIns="0" bIns="0" rtlCol="0" anchor="t"/>
          <a:lstStyle/>
          <a:p>
            <a:pPr algn="ctr" indent="0" marL="0">
              <a:buNone/>
            </a:pPr>
            <a:r>
              <a:rPr lang="en-US" sz="1500" dirty="0">
                <a:solidFill>
                  <a:schemeClr val="tx2"/>
                </a:solidFill>
              </a:rPr>
              <a:t>Effective permissions are the overlap</a:t>
            </a:r>
            <a:endParaRPr lang="en-US" sz="1500" dirty="0"/>
          </a:p>
        </p:txBody>
      </p:sp>
      <p:sp>
        <p:nvSpPr>
          <p:cNvPr id="9" name="marker-500"/>
          <p:cNvSpPr/>
          <p:nvPr/>
        </p:nvSpPr>
        <p:spPr>
          <a:xfrm>
            <a:off x="7223760" y="1371600"/>
            <a:ext cx="329184" cy="329184"/>
          </a:xfrm>
          <a:prstGeom prst="ellipse">
            <a:avLst/>
          </a:prstGeom>
          <a:solidFill>
            <a:schemeClr val="accent2"/>
          </a:solidFill>
          <a:ln w="12700">
            <a:solidFill>
              <a:schemeClr val="accent2"/>
            </a:solidFill>
            <a:prstDash val="solid"/>
          </a:ln>
        </p:spPr>
      </p:sp>
      <p:sp>
        <p:nvSpPr>
          <p:cNvPr id="10" name="marker-n-501"/>
          <p:cNvSpPr txBox="1"/>
          <p:nvPr/>
        </p:nvSpPr>
        <p:spPr>
          <a:xfrm>
            <a:off x="7223760" y="137160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1" name="callout-502"/>
          <p:cNvSpPr txBox="1"/>
          <p:nvPr/>
        </p:nvSpPr>
        <p:spPr>
          <a:xfrm>
            <a:off x="7680960" y="1353312"/>
            <a:ext cx="402336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SCPs never grant anything</a:t>
            </a:r>
            <a:endParaRPr lang="en-US" sz="1500" dirty="0"/>
          </a:p>
          <a:p>
            <a:pPr indent="0" marL="0">
              <a:spcAft>
                <a:spcPts val="200"/>
              </a:spcAft>
              <a:buNone/>
            </a:pPr>
            <a:r>
              <a:rPr lang="en-US" sz="1400" dirty="0">
                <a:solidFill>
                  <a:schemeClr val="tx1"/>
                </a:solidFill>
              </a:rPr>
              <a:t>They set the ceiling. IAM still has to allow the action.</a:t>
            </a:r>
            <a:endParaRPr lang="en-US" sz="1500" dirty="0"/>
          </a:p>
        </p:txBody>
      </p:sp>
      <p:sp>
        <p:nvSpPr>
          <p:cNvPr id="12" name="marker-503"/>
          <p:cNvSpPr/>
          <p:nvPr/>
        </p:nvSpPr>
        <p:spPr>
          <a:xfrm>
            <a:off x="7223760" y="2301240"/>
            <a:ext cx="329184" cy="329184"/>
          </a:xfrm>
          <a:prstGeom prst="ellipse">
            <a:avLst/>
          </a:prstGeom>
          <a:solidFill>
            <a:schemeClr val="accent2"/>
          </a:solidFill>
          <a:ln w="12700">
            <a:solidFill>
              <a:schemeClr val="accent2"/>
            </a:solidFill>
            <a:prstDash val="solid"/>
          </a:ln>
        </p:spPr>
      </p:sp>
      <p:sp>
        <p:nvSpPr>
          <p:cNvPr id="13" name="marker-n-504"/>
          <p:cNvSpPr txBox="1"/>
          <p:nvPr/>
        </p:nvSpPr>
        <p:spPr>
          <a:xfrm>
            <a:off x="7223760" y="230124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4" name="callout-505"/>
          <p:cNvSpPr txBox="1"/>
          <p:nvPr/>
        </p:nvSpPr>
        <p:spPr>
          <a:xfrm>
            <a:off x="7680960" y="2282952"/>
            <a:ext cx="402336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 Deny cannot be overridden</a:t>
            </a:r>
            <a:endParaRPr lang="en-US" sz="1500" dirty="0"/>
          </a:p>
          <a:p>
            <a:pPr indent="0" marL="0">
              <a:spcAft>
                <a:spcPts val="200"/>
              </a:spcAft>
              <a:buNone/>
            </a:pPr>
            <a:r>
              <a:rPr lang="en-US" sz="1400" dirty="0">
                <a:solidFill>
                  <a:schemeClr val="tx1"/>
                </a:solidFill>
              </a:rPr>
              <a:t>Not by AdministratorAccess, not by the account's root user.</a:t>
            </a:r>
            <a:endParaRPr lang="en-US" sz="1500" dirty="0"/>
          </a:p>
        </p:txBody>
      </p:sp>
      <p:sp>
        <p:nvSpPr>
          <p:cNvPr id="15" name="marker-506"/>
          <p:cNvSpPr/>
          <p:nvPr/>
        </p:nvSpPr>
        <p:spPr>
          <a:xfrm>
            <a:off x="7223760" y="3230880"/>
            <a:ext cx="329184" cy="329184"/>
          </a:xfrm>
          <a:prstGeom prst="ellipse">
            <a:avLst/>
          </a:prstGeom>
          <a:solidFill>
            <a:schemeClr val="accent2"/>
          </a:solidFill>
          <a:ln w="12700">
            <a:solidFill>
              <a:schemeClr val="accent2"/>
            </a:solidFill>
            <a:prstDash val="solid"/>
          </a:ln>
        </p:spPr>
      </p:sp>
      <p:sp>
        <p:nvSpPr>
          <p:cNvPr id="16" name="marker-n-507"/>
          <p:cNvSpPr txBox="1"/>
          <p:nvPr/>
        </p:nvSpPr>
        <p:spPr>
          <a:xfrm>
            <a:off x="7223760" y="3230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7" name="callout-508"/>
          <p:cNvSpPr txBox="1"/>
          <p:nvPr/>
        </p:nvSpPr>
        <p:spPr>
          <a:xfrm>
            <a:off x="7680960" y="3212592"/>
            <a:ext cx="402336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Inherited down the tree</a:t>
            </a:r>
            <a:endParaRPr lang="en-US" sz="1500" dirty="0"/>
          </a:p>
          <a:p>
            <a:pPr indent="0" marL="0">
              <a:spcAft>
                <a:spcPts val="200"/>
              </a:spcAft>
              <a:buNone/>
            </a:pPr>
            <a:r>
              <a:rPr lang="en-US" sz="1400" dirty="0">
                <a:solidFill>
                  <a:schemeClr val="tx1"/>
                </a:solidFill>
              </a:rPr>
              <a:t>Attach to the root or an OU and every account below is covered.</a:t>
            </a:r>
            <a:endParaRPr lang="en-US" sz="1500" dirty="0"/>
          </a:p>
        </p:txBody>
      </p:sp>
      <p:sp>
        <p:nvSpPr>
          <p:cNvPr id="18" name="marker-509"/>
          <p:cNvSpPr/>
          <p:nvPr/>
        </p:nvSpPr>
        <p:spPr>
          <a:xfrm>
            <a:off x="7223760" y="4160520"/>
            <a:ext cx="329184" cy="329184"/>
          </a:xfrm>
          <a:prstGeom prst="ellipse">
            <a:avLst/>
          </a:prstGeom>
          <a:solidFill>
            <a:schemeClr val="accent2"/>
          </a:solidFill>
          <a:ln w="12700">
            <a:solidFill>
              <a:schemeClr val="accent2"/>
            </a:solidFill>
            <a:prstDash val="solid"/>
          </a:ln>
        </p:spPr>
      </p:sp>
      <p:sp>
        <p:nvSpPr>
          <p:cNvPr id="19" name="marker-n-510"/>
          <p:cNvSpPr txBox="1"/>
          <p:nvPr/>
        </p:nvSpPr>
        <p:spPr>
          <a:xfrm>
            <a:off x="7223760" y="4160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0" name="callout-511"/>
          <p:cNvSpPr txBox="1"/>
          <p:nvPr/>
        </p:nvSpPr>
        <p:spPr>
          <a:xfrm>
            <a:off x="7680960" y="4142232"/>
            <a:ext cx="402336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Management account is exempt</a:t>
            </a:r>
            <a:endParaRPr lang="en-US" sz="1500" dirty="0"/>
          </a:p>
          <a:p>
            <a:pPr indent="0" marL="0">
              <a:spcAft>
                <a:spcPts val="200"/>
              </a:spcAft>
              <a:buNone/>
            </a:pPr>
            <a:r>
              <a:rPr lang="en-US" sz="1400" dirty="0">
                <a:solidFill>
                  <a:schemeClr val="tx1"/>
                </a:solidFill>
              </a:rPr>
              <a:t>SCPs never apply there, so it stays empty of workloads.</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An SCP as a JSON template</a:t>
            </a:r>
            <a:endParaRPr lang="en-US" sz="3400" dirty="0"/>
          </a:p>
        </p:txBody>
      </p:sp>
      <p:sp>
        <p:nvSpPr>
          <p:cNvPr id="3" name="code-label-512"/>
          <p:cNvSpPr txBox="1"/>
          <p:nvPr/>
        </p:nvSpPr>
        <p:spPr>
          <a:xfrm>
            <a:off x="868680" y="1280160"/>
            <a:ext cx="6949440" cy="274320"/>
          </a:xfrm>
          <a:prstGeom prst="rect">
            <a:avLst/>
          </a:prstGeom>
          <a:noFill/>
          <a:ln/>
        </p:spPr>
        <p:txBody>
          <a:bodyPr wrap="square" lIns="0" tIns="0" rIns="0" bIns="0" rtlCol="0" anchor="ctr"/>
          <a:lstStyle/>
          <a:p>
            <a:pPr indent="0" marL="0">
              <a:buNone/>
            </a:pPr>
            <a:r>
              <a:rPr lang="en-US" sz="1100" b="1" dirty="0">
                <a:solidFill>
                  <a:schemeClr val="tx2"/>
                </a:solidFill>
              </a:rPr>
              <a:t>policies/scp/baseline-guardrails.json.tftpl (excerpt)</a:t>
            </a:r>
            <a:endParaRPr lang="en-US" sz="1100" dirty="0"/>
          </a:p>
        </p:txBody>
      </p:sp>
      <p:sp>
        <p:nvSpPr>
          <p:cNvPr id="4" name="code-bg-513"/>
          <p:cNvSpPr/>
          <p:nvPr/>
        </p:nvSpPr>
        <p:spPr>
          <a:xfrm>
            <a:off x="868680" y="1572768"/>
            <a:ext cx="6949440" cy="4774184"/>
          </a:xfrm>
          <a:prstGeom prst="roundRect">
            <a:avLst>
              <a:gd name="adj" fmla="val 1532"/>
            </a:avLst>
          </a:prstGeom>
          <a:solidFill>
            <a:schemeClr val="tx1"/>
          </a:solidFill>
          <a:ln w="12700">
            <a:solidFill>
              <a:schemeClr val="tx1"/>
            </a:solidFill>
            <a:prstDash val="solid"/>
          </a:ln>
        </p:spPr>
      </p:sp>
      <p:sp>
        <p:nvSpPr>
          <p:cNvPr id="5" name="code-514"/>
          <p:cNvSpPr txBox="1"/>
          <p:nvPr/>
        </p:nvSpPr>
        <p:spPr>
          <a:xfrm>
            <a:off x="1051560" y="1737360"/>
            <a:ext cx="6629400" cy="4463288"/>
          </a:xfrm>
          <a:prstGeom prst="rect">
            <a:avLst/>
          </a:prstGeom>
          <a:noFill/>
          <a:ln/>
        </p:spPr>
        <p:txBody>
          <a:bodyPr wrap="square" lIns="0" tIns="0" rIns="0" bIns="0" rtlCol="0" anchor="t"/>
          <a:lstStyle/>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"Sid"</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"DenyRootUser"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"Effect"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"Deny"</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"Action"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"Condition"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"StringLike"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"aws:PrincipalArn"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"arn:aws:iam::*:root"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"Sid"</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"ProtectSecurityBaseline"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"Effect"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"Deny"</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"Action"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"cloudtrail:StopLogging"</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"config:StopConfigurationRecorder"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"guardduty:DeleteDetector"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"securityhub:DisableSecurityHub"</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"Condition"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"ArnNotLike"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"aws:PrincipalArn"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jsonencode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exempt_principal_arns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6" name="marker-515"/>
          <p:cNvSpPr/>
          <p:nvPr/>
        </p:nvSpPr>
        <p:spPr>
          <a:xfrm>
            <a:off x="484632" y="2746756"/>
            <a:ext cx="292608" cy="292608"/>
          </a:xfrm>
          <a:prstGeom prst="ellipse">
            <a:avLst/>
          </a:prstGeom>
          <a:solidFill>
            <a:schemeClr val="accent2"/>
          </a:solidFill>
          <a:ln w="12700">
            <a:solidFill>
              <a:schemeClr val="accent2"/>
            </a:solidFill>
            <a:prstDash val="solid"/>
          </a:ln>
        </p:spPr>
      </p:sp>
      <p:sp>
        <p:nvSpPr>
          <p:cNvPr id="7" name="marker-n-516"/>
          <p:cNvSpPr txBox="1"/>
          <p:nvPr/>
        </p:nvSpPr>
        <p:spPr>
          <a:xfrm>
            <a:off x="484632" y="27467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517"/>
          <p:cNvSpPr/>
          <p:nvPr/>
        </p:nvSpPr>
        <p:spPr>
          <a:xfrm>
            <a:off x="484632" y="3991356"/>
            <a:ext cx="292608" cy="292608"/>
          </a:xfrm>
          <a:prstGeom prst="ellipse">
            <a:avLst/>
          </a:prstGeom>
          <a:solidFill>
            <a:schemeClr val="accent2"/>
          </a:solidFill>
          <a:ln w="12700">
            <a:solidFill>
              <a:schemeClr val="accent2"/>
            </a:solidFill>
            <a:prstDash val="solid"/>
          </a:ln>
        </p:spPr>
      </p:sp>
      <p:sp>
        <p:nvSpPr>
          <p:cNvPr id="9" name="marker-n-518"/>
          <p:cNvSpPr txBox="1"/>
          <p:nvPr/>
        </p:nvSpPr>
        <p:spPr>
          <a:xfrm>
            <a:off x="484632" y="39913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519"/>
          <p:cNvSpPr/>
          <p:nvPr/>
        </p:nvSpPr>
        <p:spPr>
          <a:xfrm>
            <a:off x="484632" y="5058156"/>
            <a:ext cx="292608" cy="292608"/>
          </a:xfrm>
          <a:prstGeom prst="ellipse">
            <a:avLst/>
          </a:prstGeom>
          <a:solidFill>
            <a:schemeClr val="accent2"/>
          </a:solidFill>
          <a:ln w="12700">
            <a:solidFill>
              <a:schemeClr val="accent2"/>
            </a:solidFill>
            <a:prstDash val="solid"/>
          </a:ln>
        </p:spPr>
      </p:sp>
      <p:sp>
        <p:nvSpPr>
          <p:cNvPr id="11" name="marker-n-520"/>
          <p:cNvSpPr txBox="1"/>
          <p:nvPr/>
        </p:nvSpPr>
        <p:spPr>
          <a:xfrm>
            <a:off x="484632" y="50581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521"/>
          <p:cNvSpPr/>
          <p:nvPr/>
        </p:nvSpPr>
        <p:spPr>
          <a:xfrm>
            <a:off x="484632" y="5413756"/>
            <a:ext cx="292608" cy="292608"/>
          </a:xfrm>
          <a:prstGeom prst="ellipse">
            <a:avLst/>
          </a:prstGeom>
          <a:solidFill>
            <a:schemeClr val="accent2"/>
          </a:solidFill>
          <a:ln w="12700">
            <a:solidFill>
              <a:schemeClr val="accent2"/>
            </a:solidFill>
            <a:prstDash val="solid"/>
          </a:ln>
        </p:spPr>
      </p:sp>
      <p:sp>
        <p:nvSpPr>
          <p:cNvPr id="13" name="marker-n-522"/>
          <p:cNvSpPr txBox="1"/>
          <p:nvPr/>
        </p:nvSpPr>
        <p:spPr>
          <a:xfrm>
            <a:off x="484632" y="54137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14" name="marker-523"/>
          <p:cNvSpPr/>
          <p:nvPr/>
        </p:nvSpPr>
        <p:spPr>
          <a:xfrm>
            <a:off x="8183880" y="1325880"/>
            <a:ext cx="329184" cy="329184"/>
          </a:xfrm>
          <a:prstGeom prst="ellipse">
            <a:avLst/>
          </a:prstGeom>
          <a:solidFill>
            <a:schemeClr val="accent2"/>
          </a:solidFill>
          <a:ln w="12700">
            <a:solidFill>
              <a:schemeClr val="accent2"/>
            </a:solidFill>
            <a:prstDash val="solid"/>
          </a:ln>
        </p:spPr>
      </p:sp>
      <p:sp>
        <p:nvSpPr>
          <p:cNvPr id="15" name="marker-n-524"/>
          <p:cNvSpPr txBox="1"/>
          <p:nvPr/>
        </p:nvSpPr>
        <p:spPr>
          <a:xfrm>
            <a:off x="818388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6" name="callout-525"/>
          <p:cNvSpPr txBox="1"/>
          <p:nvPr/>
        </p:nvSpPr>
        <p:spPr>
          <a:xfrm>
            <a:off x="8641080" y="1307592"/>
            <a:ext cx="306324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No root user activity</a:t>
            </a:r>
            <a:endParaRPr lang="en-US" sz="1500" dirty="0"/>
          </a:p>
          <a:p>
            <a:pPr indent="0" marL="0">
              <a:spcAft>
                <a:spcPts val="200"/>
              </a:spcAft>
              <a:buNone/>
            </a:pPr>
            <a:r>
              <a:rPr lang="en-US" sz="1400" dirty="0">
                <a:solidFill>
                  <a:schemeClr val="tx1"/>
                </a:solidFill>
              </a:rPr>
              <a:t>Root sign-ins are for emergencies only, so member accounts deny them entirely.</a:t>
            </a:r>
            <a:endParaRPr lang="en-US" sz="1500" dirty="0"/>
          </a:p>
        </p:txBody>
      </p:sp>
      <p:sp>
        <p:nvSpPr>
          <p:cNvPr id="17" name="marker-526"/>
          <p:cNvSpPr/>
          <p:nvPr/>
        </p:nvSpPr>
        <p:spPr>
          <a:xfrm>
            <a:off x="8183880" y="2468880"/>
            <a:ext cx="329184" cy="329184"/>
          </a:xfrm>
          <a:prstGeom prst="ellipse">
            <a:avLst/>
          </a:prstGeom>
          <a:solidFill>
            <a:schemeClr val="accent2"/>
          </a:solidFill>
          <a:ln w="12700">
            <a:solidFill>
              <a:schemeClr val="accent2"/>
            </a:solidFill>
            <a:prstDash val="solid"/>
          </a:ln>
        </p:spPr>
      </p:sp>
      <p:sp>
        <p:nvSpPr>
          <p:cNvPr id="18" name="marker-n-527"/>
          <p:cNvSpPr txBox="1"/>
          <p:nvPr/>
        </p:nvSpPr>
        <p:spPr>
          <a:xfrm>
            <a:off x="8183880" y="2468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9" name="callout-528"/>
          <p:cNvSpPr txBox="1"/>
          <p:nvPr/>
        </p:nvSpPr>
        <p:spPr>
          <a:xfrm>
            <a:off x="8641080" y="2450592"/>
            <a:ext cx="306324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Security tools stay on</a:t>
            </a:r>
            <a:endParaRPr lang="en-US" sz="1500" dirty="0"/>
          </a:p>
          <a:p>
            <a:pPr indent="0" marL="0">
              <a:spcAft>
                <a:spcPts val="200"/>
              </a:spcAft>
              <a:buNone/>
            </a:pPr>
            <a:r>
              <a:rPr lang="en-US" sz="1400" dirty="0">
                <a:solidFill>
                  <a:schemeClr val="tx1"/>
                </a:solidFill>
              </a:rPr>
              <a:t>Nobody in a member account can switch off logging or detection.</a:t>
            </a:r>
            <a:endParaRPr lang="en-US" sz="1500" dirty="0"/>
          </a:p>
        </p:txBody>
      </p:sp>
      <p:sp>
        <p:nvSpPr>
          <p:cNvPr id="20" name="marker-529"/>
          <p:cNvSpPr/>
          <p:nvPr/>
        </p:nvSpPr>
        <p:spPr>
          <a:xfrm>
            <a:off x="8183880" y="3398520"/>
            <a:ext cx="329184" cy="329184"/>
          </a:xfrm>
          <a:prstGeom prst="ellipse">
            <a:avLst/>
          </a:prstGeom>
          <a:solidFill>
            <a:schemeClr val="accent2"/>
          </a:solidFill>
          <a:ln w="12700">
            <a:solidFill>
              <a:schemeClr val="accent2"/>
            </a:solidFill>
            <a:prstDash val="solid"/>
          </a:ln>
        </p:spPr>
      </p:sp>
      <p:sp>
        <p:nvSpPr>
          <p:cNvPr id="21" name="marker-n-530"/>
          <p:cNvSpPr txBox="1"/>
          <p:nvPr/>
        </p:nvSpPr>
        <p:spPr>
          <a:xfrm>
            <a:off x="8183880" y="3398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2" name="callout-531"/>
          <p:cNvSpPr txBox="1"/>
          <p:nvPr/>
        </p:nvSpPr>
        <p:spPr>
          <a:xfrm>
            <a:off x="8641080" y="3380232"/>
            <a:ext cx="306324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One exemption</a:t>
            </a:r>
            <a:endParaRPr lang="en-US" sz="1500" dirty="0"/>
          </a:p>
          <a:p>
            <a:pPr indent="0" marL="0">
              <a:spcAft>
                <a:spcPts val="200"/>
              </a:spcAft>
              <a:buNone/>
            </a:pPr>
            <a:r>
              <a:rPr lang="en-US" sz="1400" dirty="0">
                <a:solidFill>
                  <a:schemeClr val="tx1"/>
                </a:solidFill>
              </a:rPr>
              <a:t>Only the automation role may change these, or Terraform could not configure them.</a:t>
            </a:r>
            <a:endParaRPr lang="en-US" sz="1500" dirty="0"/>
          </a:p>
        </p:txBody>
      </p:sp>
      <p:sp>
        <p:nvSpPr>
          <p:cNvPr id="23" name="marker-532"/>
          <p:cNvSpPr/>
          <p:nvPr/>
        </p:nvSpPr>
        <p:spPr>
          <a:xfrm>
            <a:off x="8183880" y="4541520"/>
            <a:ext cx="329184" cy="329184"/>
          </a:xfrm>
          <a:prstGeom prst="ellipse">
            <a:avLst/>
          </a:prstGeom>
          <a:solidFill>
            <a:schemeClr val="accent2"/>
          </a:solidFill>
          <a:ln w="12700">
            <a:solidFill>
              <a:schemeClr val="accent2"/>
            </a:solidFill>
            <a:prstDash val="solid"/>
          </a:ln>
        </p:spPr>
      </p:sp>
      <p:sp>
        <p:nvSpPr>
          <p:cNvPr id="24" name="marker-n-533"/>
          <p:cNvSpPr txBox="1"/>
          <p:nvPr/>
        </p:nvSpPr>
        <p:spPr>
          <a:xfrm>
            <a:off x="8183880" y="4541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5" name="callout-534"/>
          <p:cNvSpPr txBox="1"/>
          <p:nvPr/>
        </p:nvSpPr>
        <p:spPr>
          <a:xfrm>
            <a:off x="8641080" y="4523232"/>
            <a:ext cx="306324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Template placeholder</a:t>
            </a:r>
            <a:endParaRPr lang="en-US" sz="1500" dirty="0"/>
          </a:p>
          <a:p>
            <a:pPr indent="0" marL="0">
              <a:spcAft>
                <a:spcPts val="200"/>
              </a:spcAft>
              <a:buNone/>
            </a:pPr>
            <a:r>
              <a:rPr lang="en-US" sz="1400" dirty="0">
                <a:solidFill>
                  <a:schemeClr val="tx1"/>
                </a:solidFill>
              </a:rPr>
              <a:t>templatefile() fills this in. jsonencode turns a list into valid JSON.</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Loading and attaching the policies</a:t>
            </a:r>
            <a:endParaRPr lang="en-US" sz="3400" dirty="0"/>
          </a:p>
        </p:txBody>
      </p:sp>
      <p:sp>
        <p:nvSpPr>
          <p:cNvPr id="3" name="code-label-535"/>
          <p:cNvSpPr txBox="1"/>
          <p:nvPr/>
        </p:nvSpPr>
        <p:spPr>
          <a:xfrm>
            <a:off x="868680" y="1280160"/>
            <a:ext cx="6949440" cy="274320"/>
          </a:xfrm>
          <a:prstGeom prst="rect">
            <a:avLst/>
          </a:prstGeom>
          <a:noFill/>
          <a:ln/>
        </p:spPr>
        <p:txBody>
          <a:bodyPr wrap="square" lIns="0" tIns="0" rIns="0" bIns="0" rtlCol="0" anchor="ctr"/>
          <a:lstStyle/>
          <a:p>
            <a:pPr indent="0" marL="0">
              <a:buNone/>
            </a:pPr>
            <a:r>
              <a:rPr lang="en-US" sz="1100" b="1" dirty="0">
                <a:solidFill>
                  <a:schemeClr val="tx2"/>
                </a:solidFill>
              </a:rPr>
              <a:t>layers/01-organization/scps.tf</a:t>
            </a:r>
            <a:endParaRPr lang="en-US" sz="1100" dirty="0"/>
          </a:p>
        </p:txBody>
      </p:sp>
      <p:sp>
        <p:nvSpPr>
          <p:cNvPr id="4" name="code-bg-536"/>
          <p:cNvSpPr/>
          <p:nvPr/>
        </p:nvSpPr>
        <p:spPr>
          <a:xfrm>
            <a:off x="868680" y="1572768"/>
            <a:ext cx="6949440" cy="4240784"/>
          </a:xfrm>
          <a:prstGeom prst="roundRect">
            <a:avLst>
              <a:gd name="adj" fmla="val 1725"/>
            </a:avLst>
          </a:prstGeom>
          <a:solidFill>
            <a:schemeClr val="tx1"/>
          </a:solidFill>
          <a:ln w="12700">
            <a:solidFill>
              <a:schemeClr val="tx1"/>
            </a:solidFill>
            <a:prstDash val="solid"/>
          </a:ln>
        </p:spPr>
      </p:sp>
      <p:sp>
        <p:nvSpPr>
          <p:cNvPr id="5" name="code-537"/>
          <p:cNvSpPr txBox="1"/>
          <p:nvPr/>
        </p:nvSpPr>
        <p:spPr>
          <a:xfrm>
            <a:off x="1051560" y="1737360"/>
            <a:ext cx="6629400" cy="3929888"/>
          </a:xfrm>
          <a:prstGeom prst="rect">
            <a:avLst/>
          </a:prstGeom>
          <a:noFill/>
          <a:ln/>
        </p:spPr>
        <p:txBody>
          <a:bodyPr wrap="square" lIns="0" tIns="0" rIns="0" bIns="0" rtlCol="0" anchor="t"/>
          <a:lstStyle/>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locals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scp_documents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baseline-guardrails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templatefile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"${local.scp_dir}/baseline-guardrails.json.tftpl"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exempt_principal_arns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var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scp_exempt_principal_arns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deny-all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file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"${local.scp_dir}/deny-all.json"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"aws_organizations_policy"</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"scp"</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for_each</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local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scp_documents</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name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"lz-${each.key}"</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type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"SERVICE_CONTROL_POLICY"</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content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jsonencode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jsondecode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each</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value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"aws_organizations_policy_attachment"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"scp"</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for_each</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local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scp_attachments</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policy_id</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aws_organizations_policy</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scp</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each</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value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policy</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target_id</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each</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value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target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depends_on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aws_organizations_account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this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6" name="marker-538"/>
          <p:cNvSpPr/>
          <p:nvPr/>
        </p:nvSpPr>
        <p:spPr>
          <a:xfrm>
            <a:off x="484632" y="2035556"/>
            <a:ext cx="292608" cy="292608"/>
          </a:xfrm>
          <a:prstGeom prst="ellipse">
            <a:avLst/>
          </a:prstGeom>
          <a:solidFill>
            <a:schemeClr val="accent2"/>
          </a:solidFill>
          <a:ln w="12700">
            <a:solidFill>
              <a:schemeClr val="accent2"/>
            </a:solidFill>
            <a:prstDash val="solid"/>
          </a:ln>
        </p:spPr>
      </p:sp>
      <p:sp>
        <p:nvSpPr>
          <p:cNvPr id="7" name="marker-n-539"/>
          <p:cNvSpPr txBox="1"/>
          <p:nvPr/>
        </p:nvSpPr>
        <p:spPr>
          <a:xfrm>
            <a:off x="484632" y="20355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540"/>
          <p:cNvSpPr/>
          <p:nvPr/>
        </p:nvSpPr>
        <p:spPr>
          <a:xfrm>
            <a:off x="484632" y="3991356"/>
            <a:ext cx="292608" cy="292608"/>
          </a:xfrm>
          <a:prstGeom prst="ellipse">
            <a:avLst/>
          </a:prstGeom>
          <a:solidFill>
            <a:schemeClr val="accent2"/>
          </a:solidFill>
          <a:ln w="12700">
            <a:solidFill>
              <a:schemeClr val="accent2"/>
            </a:solidFill>
            <a:prstDash val="solid"/>
          </a:ln>
        </p:spPr>
      </p:sp>
      <p:sp>
        <p:nvSpPr>
          <p:cNvPr id="9" name="marker-n-541"/>
          <p:cNvSpPr txBox="1"/>
          <p:nvPr/>
        </p:nvSpPr>
        <p:spPr>
          <a:xfrm>
            <a:off x="484632" y="39913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542"/>
          <p:cNvSpPr/>
          <p:nvPr/>
        </p:nvSpPr>
        <p:spPr>
          <a:xfrm>
            <a:off x="484632" y="4880356"/>
            <a:ext cx="292608" cy="292608"/>
          </a:xfrm>
          <a:prstGeom prst="ellipse">
            <a:avLst/>
          </a:prstGeom>
          <a:solidFill>
            <a:schemeClr val="accent2"/>
          </a:solidFill>
          <a:ln w="12700">
            <a:solidFill>
              <a:schemeClr val="accent2"/>
            </a:solidFill>
            <a:prstDash val="solid"/>
          </a:ln>
        </p:spPr>
      </p:sp>
      <p:sp>
        <p:nvSpPr>
          <p:cNvPr id="11" name="marker-n-543"/>
          <p:cNvSpPr txBox="1"/>
          <p:nvPr/>
        </p:nvSpPr>
        <p:spPr>
          <a:xfrm>
            <a:off x="484632" y="48803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544"/>
          <p:cNvSpPr/>
          <p:nvPr/>
        </p:nvSpPr>
        <p:spPr>
          <a:xfrm>
            <a:off x="484632" y="5235956"/>
            <a:ext cx="292608" cy="292608"/>
          </a:xfrm>
          <a:prstGeom prst="ellipse">
            <a:avLst/>
          </a:prstGeom>
          <a:solidFill>
            <a:schemeClr val="accent2"/>
          </a:solidFill>
          <a:ln w="12700">
            <a:solidFill>
              <a:schemeClr val="accent2"/>
            </a:solidFill>
            <a:prstDash val="solid"/>
          </a:ln>
        </p:spPr>
      </p:sp>
      <p:sp>
        <p:nvSpPr>
          <p:cNvPr id="13" name="marker-n-545"/>
          <p:cNvSpPr txBox="1"/>
          <p:nvPr/>
        </p:nvSpPr>
        <p:spPr>
          <a:xfrm>
            <a:off x="484632" y="52359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14" name="marker-546"/>
          <p:cNvSpPr/>
          <p:nvPr/>
        </p:nvSpPr>
        <p:spPr>
          <a:xfrm>
            <a:off x="8183880" y="1325880"/>
            <a:ext cx="329184" cy="329184"/>
          </a:xfrm>
          <a:prstGeom prst="ellipse">
            <a:avLst/>
          </a:prstGeom>
          <a:solidFill>
            <a:schemeClr val="accent2"/>
          </a:solidFill>
          <a:ln w="12700">
            <a:solidFill>
              <a:schemeClr val="accent2"/>
            </a:solidFill>
            <a:prstDash val="solid"/>
          </a:ln>
        </p:spPr>
      </p:sp>
      <p:sp>
        <p:nvSpPr>
          <p:cNvPr id="15" name="marker-n-547"/>
          <p:cNvSpPr txBox="1"/>
          <p:nvPr/>
        </p:nvSpPr>
        <p:spPr>
          <a:xfrm>
            <a:off x="818388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6" name="callout-548"/>
          <p:cNvSpPr txBox="1"/>
          <p:nvPr/>
        </p:nvSpPr>
        <p:spPr>
          <a:xfrm>
            <a:off x="8641080" y="1307592"/>
            <a:ext cx="306324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templatefile vs file</a:t>
            </a:r>
            <a:endParaRPr lang="en-US" sz="1500" dirty="0"/>
          </a:p>
          <a:p>
            <a:pPr indent="0" marL="0">
              <a:spcAft>
                <a:spcPts val="200"/>
              </a:spcAft>
              <a:buNone/>
            </a:pPr>
            <a:r>
              <a:rPr lang="en-US" sz="1400" dirty="0">
                <a:solidFill>
                  <a:schemeClr val="tx1"/>
                </a:solidFill>
              </a:rPr>
              <a:t>templatefile fills placeholders. file reads a static document as-is.</a:t>
            </a:r>
            <a:endParaRPr lang="en-US" sz="1500" dirty="0"/>
          </a:p>
        </p:txBody>
      </p:sp>
      <p:sp>
        <p:nvSpPr>
          <p:cNvPr id="17" name="marker-549"/>
          <p:cNvSpPr/>
          <p:nvPr/>
        </p:nvSpPr>
        <p:spPr>
          <a:xfrm>
            <a:off x="8183880" y="2255520"/>
            <a:ext cx="329184" cy="329184"/>
          </a:xfrm>
          <a:prstGeom prst="ellipse">
            <a:avLst/>
          </a:prstGeom>
          <a:solidFill>
            <a:schemeClr val="accent2"/>
          </a:solidFill>
          <a:ln w="12700">
            <a:solidFill>
              <a:schemeClr val="accent2"/>
            </a:solidFill>
            <a:prstDash val="solid"/>
          </a:ln>
        </p:spPr>
      </p:sp>
      <p:sp>
        <p:nvSpPr>
          <p:cNvPr id="18" name="marker-n-550"/>
          <p:cNvSpPr txBox="1"/>
          <p:nvPr/>
        </p:nvSpPr>
        <p:spPr>
          <a:xfrm>
            <a:off x="8183880" y="2255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9" name="callout-551"/>
          <p:cNvSpPr txBox="1"/>
          <p:nvPr/>
        </p:nvSpPr>
        <p:spPr>
          <a:xfrm>
            <a:off x="8641080" y="2237232"/>
            <a:ext cx="306324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Decode, then encode</a:t>
            </a:r>
            <a:endParaRPr lang="en-US" sz="1500" dirty="0"/>
          </a:p>
          <a:p>
            <a:pPr indent="0" marL="0">
              <a:spcAft>
                <a:spcPts val="200"/>
              </a:spcAft>
              <a:buNone/>
            </a:pPr>
            <a:r>
              <a:rPr lang="en-US" sz="1400" dirty="0">
                <a:solidFill>
                  <a:schemeClr val="tx1"/>
                </a:solidFill>
              </a:rPr>
              <a:t>Fails the plan on a JSON typo, and minifies under the 5,120 character SCP limit.</a:t>
            </a:r>
            <a:endParaRPr lang="en-US" sz="1500" dirty="0"/>
          </a:p>
        </p:txBody>
      </p:sp>
      <p:sp>
        <p:nvSpPr>
          <p:cNvPr id="20" name="marker-552"/>
          <p:cNvSpPr/>
          <p:nvPr/>
        </p:nvSpPr>
        <p:spPr>
          <a:xfrm>
            <a:off x="8183880" y="3398520"/>
            <a:ext cx="329184" cy="329184"/>
          </a:xfrm>
          <a:prstGeom prst="ellipse">
            <a:avLst/>
          </a:prstGeom>
          <a:solidFill>
            <a:schemeClr val="accent2"/>
          </a:solidFill>
          <a:ln w="12700">
            <a:solidFill>
              <a:schemeClr val="accent2"/>
            </a:solidFill>
            <a:prstDash val="solid"/>
          </a:ln>
        </p:spPr>
      </p:sp>
      <p:sp>
        <p:nvSpPr>
          <p:cNvPr id="21" name="marker-n-553"/>
          <p:cNvSpPr txBox="1"/>
          <p:nvPr/>
        </p:nvSpPr>
        <p:spPr>
          <a:xfrm>
            <a:off x="8183880" y="3398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2" name="callout-554"/>
          <p:cNvSpPr txBox="1"/>
          <p:nvPr/>
        </p:nvSpPr>
        <p:spPr>
          <a:xfrm>
            <a:off x="8641080" y="3380232"/>
            <a:ext cx="306324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Indexing for_each resources</a:t>
            </a:r>
            <a:endParaRPr lang="en-US" sz="1500" dirty="0"/>
          </a:p>
          <a:p>
            <a:pPr indent="0" marL="0">
              <a:spcAft>
                <a:spcPts val="200"/>
              </a:spcAft>
              <a:buNone/>
            </a:pPr>
            <a:r>
              <a:rPr lang="en-US" sz="1400" dirty="0">
                <a:solidFill>
                  <a:schemeClr val="tx1"/>
                </a:solidFill>
              </a:rPr>
              <a:t>scp["deny-all"] picks one policy by its map key.</a:t>
            </a:r>
            <a:endParaRPr lang="en-US" sz="1500" dirty="0"/>
          </a:p>
        </p:txBody>
      </p:sp>
      <p:sp>
        <p:nvSpPr>
          <p:cNvPr id="23" name="marker-555"/>
          <p:cNvSpPr/>
          <p:nvPr/>
        </p:nvSpPr>
        <p:spPr>
          <a:xfrm>
            <a:off x="8183880" y="4328160"/>
            <a:ext cx="329184" cy="329184"/>
          </a:xfrm>
          <a:prstGeom prst="ellipse">
            <a:avLst/>
          </a:prstGeom>
          <a:solidFill>
            <a:schemeClr val="accent2"/>
          </a:solidFill>
          <a:ln w="12700">
            <a:solidFill>
              <a:schemeClr val="accent2"/>
            </a:solidFill>
            <a:prstDash val="solid"/>
          </a:ln>
        </p:spPr>
      </p:sp>
      <p:sp>
        <p:nvSpPr>
          <p:cNvPr id="24" name="marker-n-556"/>
          <p:cNvSpPr txBox="1"/>
          <p:nvPr/>
        </p:nvSpPr>
        <p:spPr>
          <a:xfrm>
            <a:off x="8183880" y="432816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5" name="callout-557"/>
          <p:cNvSpPr txBox="1"/>
          <p:nvPr/>
        </p:nvSpPr>
        <p:spPr>
          <a:xfrm>
            <a:off x="8641080" y="4309872"/>
            <a:ext cx="306324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Accounts first</a:t>
            </a:r>
            <a:endParaRPr lang="en-US" sz="1500" dirty="0"/>
          </a:p>
          <a:p>
            <a:pPr indent="0" marL="0">
              <a:spcAft>
                <a:spcPts val="200"/>
              </a:spcAft>
              <a:buNone/>
            </a:pPr>
            <a:r>
              <a:rPr lang="en-US" sz="1400" dirty="0">
                <a:solidFill>
                  <a:schemeClr val="tx1"/>
                </a:solidFill>
              </a:rPr>
              <a:t>Guardrails attach only after every account exists.</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The guardrail map</a:t>
            </a:r>
            <a:endParaRPr lang="en-US" sz="3400" dirty="0"/>
          </a:p>
        </p:txBody>
      </p:sp>
      <p:graphicFrame>
        <p:nvGraphicFramePr>
          <p:cNvPr id="29" name="table-558"/>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743200"/>
                <a:gridCol w="2011680"/>
                <a:gridCol w="6400800"/>
              </a:tblGrid>
              <a:tr h="502920">
                <a:tc>
                  <a:txBody>
                    <a:bodyPr/>
                    <a:lstStyle/>
                    <a:p>
                      <a:pPr indent="0" marL="0">
                        <a:buNone/>
                      </a:pPr>
                      <a:r>
                        <a:rPr lang="en-US" sz="1500" b="1" dirty="0">
                          <a:solidFill>
                            <a:schemeClr val="bg1"/>
                          </a:solidFill>
                        </a:rPr>
                        <a:t>Policy</a:t>
                      </a:r>
                      <a:endParaRPr lang="en-US" sz="1500" dirty="0"/>
                    </a:p>
                  </a:txBody>
                  <a:tcPr marL="91440" marR="91440" marT="91440" marB="91440"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Attached to</a:t>
                      </a:r>
                      <a:endParaRPr lang="en-US" sz="1500" dirty="0"/>
                    </a:p>
                  </a:txBody>
                  <a:tcPr marL="91440" marR="91440" marT="91440" marB="91440"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What it blocks</a:t>
                      </a:r>
                      <a:endParaRPr lang="en-US" sz="1500" dirty="0"/>
                    </a:p>
                  </a:txBody>
                  <a:tcPr marL="91440" marR="91440" marT="91440" marB="91440"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accent1"/>
                    </a:solidFill>
                  </a:tcPr>
                </a:tc>
              </a:tr>
              <a:tr h="914400">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baseline-guardrails</a:t>
                      </a:r>
                      <a:endParaRPr lang="en-US" sz="1400" dirty="0">
                        <a:latin typeface="Courier New" charset="0"/>
                        <a:ea typeface="Courier New" charset="0"/>
                        <a:cs typeface="Courier New" charset="0"/>
                      </a:endParaRPr>
                    </a:p>
                  </a:txBody>
                  <a:tcPr marL="91440" marR="91440" marT="91440" marB="91440"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rPr>
                        <a:t>Root</a:t>
                      </a:r>
                      <a:endParaRPr lang="en-US" sz="1500" dirty="0"/>
                    </a:p>
                  </a:txBody>
                  <a:tcPr marL="91440" marR="91440" marT="91440" marB="91440"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Leaving the org, root user actions, turning off CloudTrail, Config, GuardDuty, Security Hub or default EBS encryption, editing the break-glass role</a:t>
                      </a:r>
                      <a:endParaRPr lang="en-US" sz="1400" dirty="0"/>
                    </a:p>
                  </a:txBody>
                  <a:tcPr marL="91440" marR="91440" marT="91440" marB="91440"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r>
              <a:tr h="731520">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region-restrict</a:t>
                      </a:r>
                      <a:endParaRPr lang="en-US" sz="1400" dirty="0">
                        <a:latin typeface="Courier New" charset="0"/>
                        <a:ea typeface="Courier New" charset="0"/>
                        <a:cs typeface="Courier New" charset="0"/>
                      </a:endParaRPr>
                    </a:p>
                  </a:txBody>
                  <a:tcPr marL="91440" marR="91440" marT="91440" marB="91440"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rPr>
                        <a:t>Root</a:t>
                      </a:r>
                      <a:endParaRPr lang="en-US" sz="1500" dirty="0"/>
                    </a:p>
                  </a:txBody>
                  <a:tcPr marL="91440" marR="91440" marT="91440" marB="91440"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Any regional service outside the allowed regions. Global services like IAM are exempt</a:t>
                      </a:r>
                      <a:endParaRPr lang="en-US" sz="1400" dirty="0"/>
                    </a:p>
                  </a:txBody>
                  <a:tcPr marL="91440" marR="91440" marT="91440" marB="91440"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2"/>
                    </a:solidFill>
                  </a:tcPr>
                </a:tc>
              </a:tr>
              <a:tr h="731520">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workload-guardrails</a:t>
                      </a:r>
                      <a:endParaRPr lang="en-US" sz="1400" dirty="0">
                        <a:latin typeface="Courier New" charset="0"/>
                        <a:ea typeface="Courier New" charset="0"/>
                        <a:cs typeface="Courier New" charset="0"/>
                      </a:endParaRPr>
                    </a:p>
                  </a:txBody>
                  <a:tcPr marL="91440" marR="91440" marT="91440" marB="91440"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c>
                  <a:txBody>
                    <a:bodyPr/>
                    <a:lstStyle/>
                    <a:p>
                      <a:pPr indent="0" marL="0">
                        <a:buNone/>
                      </a:pPr>
                      <a:r>
                        <a:rPr lang="en-US" sz="1500" b="1" dirty="0">
                          <a:solidFill>
                            <a:schemeClr val="tx1"/>
                          </a:solidFill>
                        </a:rPr>
                        <a:t>Workloads OU</a:t>
                      </a:r>
                      <a:endParaRPr lang="en-US" sz="1500" dirty="0"/>
                    </a:p>
                  </a:txBody>
                  <a:tcPr marL="91440" marR="91440" marT="91440" marB="91440"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Creating IAM users or access keys, internet gateways, VPC peering, or default VPCs</a:t>
                      </a:r>
                      <a:endParaRPr lang="en-US" sz="1400" dirty="0"/>
                    </a:p>
                  </a:txBody>
                  <a:tcPr marL="91440" marR="91440" marT="91440" marB="91440"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deny-all</a:t>
                      </a:r>
                      <a:endParaRPr lang="en-US" sz="1400" dirty="0">
                        <a:latin typeface="Courier New" charset="0"/>
                        <a:ea typeface="Courier New" charset="0"/>
                        <a:cs typeface="Courier New" charset="0"/>
                      </a:endParaRPr>
                    </a:p>
                  </a:txBody>
                  <a:tcPr marL="91440" marR="91440" marT="91440" marB="91440"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rPr>
                        <a:t>Suspended OU</a:t>
                      </a:r>
                      <a:endParaRPr lang="en-US" sz="1500" dirty="0"/>
                    </a:p>
                  </a:txBody>
                  <a:tcPr marL="91440" marR="91440" marT="91440" marB="91440"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Everything. Accounts being closed land here</a:t>
                      </a:r>
                      <a:endParaRPr lang="en-US" sz="1400" dirty="0"/>
                    </a:p>
                  </a:txBody>
                  <a:tcPr marL="91440" marR="91440" marT="91440" marB="91440" anchor="ctr">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2"/>
                    </a:solidFill>
                  </a:tcPr>
                </a:tc>
              </a:tr>
            </a:tbl>
          </a:graphicData>
        </a:graphic>
      </p:graphicFrame>
      <p:sp>
        <p:nvSpPr>
          <p:cNvPr id="4" name="card-559"/>
          <p:cNvSpPr/>
          <p:nvPr/>
        </p:nvSpPr>
        <p:spPr>
          <a:xfrm>
            <a:off x="502920" y="5074920"/>
            <a:ext cx="11155680" cy="1143000"/>
          </a:xfrm>
          <a:prstGeom prst="roundRect">
            <a:avLst>
              <a:gd name="adj" fmla="val 8000"/>
            </a:avLst>
          </a:prstGeom>
          <a:solidFill>
            <a:schemeClr val="bg2"/>
          </a:solidFill>
          <a:ln w="12700">
            <a:solidFill>
              <a:schemeClr val="bg2"/>
            </a:solidFill>
            <a:prstDash val="solid"/>
          </a:ln>
        </p:spPr>
      </p:sp>
      <p:pic>
        <p:nvPicPr>
          <p:cNvPr id="5" name="icon-560" descr="preencoded.png">    </p:cNvPr>
          <p:cNvPicPr>
            <a:picLocks noChangeAspect="1"/>
          </p:cNvPicPr>
          <p:nvPr/>
        </p:nvPicPr>
        <p:blipFill>
          <a:blip r:embed="rId1"/>
          <a:stretch>
            <a:fillRect/>
          </a:stretch>
        </p:blipFill>
        <p:spPr>
          <a:xfrm>
            <a:off x="777240" y="5303520"/>
            <a:ext cx="685800" cy="685800"/>
          </a:xfrm>
          <a:prstGeom prst="rect">
            <a:avLst/>
          </a:prstGeom>
        </p:spPr>
      </p:pic>
      <p:sp>
        <p:nvSpPr>
          <p:cNvPr id="6" name="text-561"/>
          <p:cNvSpPr txBox="1"/>
          <p:nvPr/>
        </p:nvSpPr>
        <p:spPr>
          <a:xfrm>
            <a:off x="1737360" y="5212080"/>
            <a:ext cx="9692640" cy="868680"/>
          </a:xfrm>
          <a:prstGeom prst="rect">
            <a:avLst/>
          </a:prstGeom>
          <a:noFill/>
          <a:ln/>
        </p:spPr>
        <p:txBody>
          <a:bodyPr wrap="square" lIns="0" tIns="0" rIns="0" bIns="0" rtlCol="0" anchor="ctr"/>
          <a:lstStyle/>
          <a:p>
            <a:pPr indent="0" marL="0">
              <a:buNone/>
            </a:pPr>
            <a:r>
              <a:rPr lang="en-US" sz="1600" dirty="0">
                <a:solidFill>
                  <a:schemeClr val="tx1"/>
                </a:solidFill>
              </a:rPr>
              <a:t>Every row is tested later by verify-guardrails.sh, which tries each blocked action as an admin in the dev account and expects AccessDenied.</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Cost and root-credential guardrails</a:t>
            </a:r>
            <a:endParaRPr lang="en-US" sz="3400" dirty="0"/>
          </a:p>
        </p:txBody>
      </p:sp>
      <p:sp>
        <p:nvSpPr>
          <p:cNvPr id="3" name="code-label-562"/>
          <p:cNvSpPr txBox="1"/>
          <p:nvPr/>
        </p:nvSpPr>
        <p:spPr>
          <a:xfrm>
            <a:off x="868680" y="1280160"/>
            <a:ext cx="6583680" cy="274320"/>
          </a:xfrm>
          <a:prstGeom prst="rect">
            <a:avLst/>
          </a:prstGeom>
          <a:noFill/>
          <a:ln/>
        </p:spPr>
        <p:txBody>
          <a:bodyPr wrap="square" lIns="0" tIns="0" rIns="0" bIns="0" rtlCol="0" anchor="ctr"/>
          <a:lstStyle/>
          <a:p>
            <a:pPr indent="0" marL="0">
              <a:buNone/>
            </a:pPr>
            <a:r>
              <a:rPr lang="en-US" sz="1100" b="1" dirty="0">
                <a:solidFill>
                  <a:schemeClr val="tx2"/>
                </a:solidFill>
              </a:rPr>
              <a:t>layers/01-organization/budget.tf and main.tf</a:t>
            </a:r>
            <a:endParaRPr lang="en-US" sz="1100" dirty="0"/>
          </a:p>
        </p:txBody>
      </p:sp>
      <p:sp>
        <p:nvSpPr>
          <p:cNvPr id="4" name="code-bg-563"/>
          <p:cNvSpPr/>
          <p:nvPr/>
        </p:nvSpPr>
        <p:spPr>
          <a:xfrm>
            <a:off x="868680" y="1572768"/>
            <a:ext cx="6583680" cy="3529584"/>
          </a:xfrm>
          <a:prstGeom prst="roundRect">
            <a:avLst>
              <a:gd name="adj" fmla="val 2073"/>
            </a:avLst>
          </a:prstGeom>
          <a:solidFill>
            <a:schemeClr val="tx1"/>
          </a:solidFill>
          <a:ln w="12700">
            <a:solidFill>
              <a:schemeClr val="tx1"/>
            </a:solidFill>
            <a:prstDash val="solid"/>
          </a:ln>
        </p:spPr>
      </p:sp>
      <p:sp>
        <p:nvSpPr>
          <p:cNvPr id="5" name="code-564"/>
          <p:cNvSpPr txBox="1"/>
          <p:nvPr/>
        </p:nvSpPr>
        <p:spPr>
          <a:xfrm>
            <a:off x="1051560" y="1737360"/>
            <a:ext cx="6263640" cy="3218688"/>
          </a:xfrm>
          <a:prstGeom prst="rect">
            <a:avLst/>
          </a:prstGeom>
          <a:noFill/>
          <a:ln/>
        </p:spPr>
        <p:txBody>
          <a:bodyPr wrap="square" lIns="0" tIns="0" rIns="0" bIns="0" rtlCol="0" anchor="t"/>
          <a:lstStyle/>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"aws_budgets_budget"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"monthly"</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budget_type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"COST"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limit_amount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tostring</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var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monthly_budget_usd</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time_unit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"MONTHLY"</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notification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threshold</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80</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threshold_type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"PERCENTAGE"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notification_type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"ACTUAL"</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subscriber_email_addresses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var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budget_alert_email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i="1" dirty="0">
                <a:solidFill>
                  <a:schemeClr val="tx2"/>
                </a:solidFill>
                <a:latin typeface="Courier New" pitchFamily="34" charset="0"/>
                <a:ea typeface="Courier New" pitchFamily="34" charset="-122"/>
                <a:cs typeface="Courier New" pitchFamily="34" charset="-120"/>
              </a:rPr>
              <a:t># plus 50% actual and 100% forecasted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"aws_iam_organizations_features"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"root_access"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enabled_features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"RootCredentialsManagement"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"RootSessions"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6" name="marker-565"/>
          <p:cNvSpPr/>
          <p:nvPr/>
        </p:nvSpPr>
        <p:spPr>
          <a:xfrm>
            <a:off x="484632" y="2035556"/>
            <a:ext cx="292608" cy="292608"/>
          </a:xfrm>
          <a:prstGeom prst="ellipse">
            <a:avLst/>
          </a:prstGeom>
          <a:solidFill>
            <a:schemeClr val="accent2"/>
          </a:solidFill>
          <a:ln w="12700">
            <a:solidFill>
              <a:schemeClr val="accent2"/>
            </a:solidFill>
            <a:prstDash val="solid"/>
          </a:ln>
        </p:spPr>
      </p:sp>
      <p:sp>
        <p:nvSpPr>
          <p:cNvPr id="7" name="marker-n-566"/>
          <p:cNvSpPr txBox="1"/>
          <p:nvPr/>
        </p:nvSpPr>
        <p:spPr>
          <a:xfrm>
            <a:off x="484632" y="20355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567"/>
          <p:cNvSpPr/>
          <p:nvPr/>
        </p:nvSpPr>
        <p:spPr>
          <a:xfrm>
            <a:off x="484632" y="2568956"/>
            <a:ext cx="292608" cy="292608"/>
          </a:xfrm>
          <a:prstGeom prst="ellipse">
            <a:avLst/>
          </a:prstGeom>
          <a:solidFill>
            <a:schemeClr val="accent2"/>
          </a:solidFill>
          <a:ln w="12700">
            <a:solidFill>
              <a:schemeClr val="accent2"/>
            </a:solidFill>
            <a:prstDash val="solid"/>
          </a:ln>
        </p:spPr>
      </p:sp>
      <p:sp>
        <p:nvSpPr>
          <p:cNvPr id="9" name="marker-n-568"/>
          <p:cNvSpPr txBox="1"/>
          <p:nvPr/>
        </p:nvSpPr>
        <p:spPr>
          <a:xfrm>
            <a:off x="484632" y="25689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569"/>
          <p:cNvSpPr/>
          <p:nvPr/>
        </p:nvSpPr>
        <p:spPr>
          <a:xfrm>
            <a:off x="484632" y="4169156"/>
            <a:ext cx="292608" cy="292608"/>
          </a:xfrm>
          <a:prstGeom prst="ellipse">
            <a:avLst/>
          </a:prstGeom>
          <a:solidFill>
            <a:schemeClr val="accent2"/>
          </a:solidFill>
          <a:ln w="12700">
            <a:solidFill>
              <a:schemeClr val="accent2"/>
            </a:solidFill>
            <a:prstDash val="solid"/>
          </a:ln>
        </p:spPr>
      </p:sp>
      <p:sp>
        <p:nvSpPr>
          <p:cNvPr id="11" name="marker-n-570"/>
          <p:cNvSpPr txBox="1"/>
          <p:nvPr/>
        </p:nvSpPr>
        <p:spPr>
          <a:xfrm>
            <a:off x="484632" y="41691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571"/>
          <p:cNvSpPr/>
          <p:nvPr/>
        </p:nvSpPr>
        <p:spPr>
          <a:xfrm>
            <a:off x="7818120" y="1325880"/>
            <a:ext cx="329184" cy="329184"/>
          </a:xfrm>
          <a:prstGeom prst="ellipse">
            <a:avLst/>
          </a:prstGeom>
          <a:solidFill>
            <a:schemeClr val="accent2"/>
          </a:solidFill>
          <a:ln w="12700">
            <a:solidFill>
              <a:schemeClr val="accent2"/>
            </a:solidFill>
            <a:prstDash val="solid"/>
          </a:ln>
        </p:spPr>
      </p:sp>
      <p:sp>
        <p:nvSpPr>
          <p:cNvPr id="13" name="marker-n-572"/>
          <p:cNvSpPr txBox="1"/>
          <p:nvPr/>
        </p:nvSpPr>
        <p:spPr>
          <a:xfrm>
            <a:off x="781812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4" name="callout-573"/>
          <p:cNvSpPr txBox="1"/>
          <p:nvPr/>
        </p:nvSpPr>
        <p:spPr>
          <a:xfrm>
            <a:off x="8275320" y="130759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Type conversion</a:t>
            </a:r>
            <a:endParaRPr lang="en-US" sz="1500" dirty="0"/>
          </a:p>
          <a:p>
            <a:pPr indent="0" marL="0">
              <a:spcAft>
                <a:spcPts val="200"/>
              </a:spcAft>
              <a:buNone/>
            </a:pPr>
            <a:r>
              <a:rPr lang="en-US" sz="1400" dirty="0">
                <a:solidFill>
                  <a:schemeClr val="tx1"/>
                </a:solidFill>
              </a:rPr>
              <a:t>The API wants a string, so tostring() converts the number.</a:t>
            </a:r>
            <a:endParaRPr lang="en-US" sz="1500" dirty="0"/>
          </a:p>
        </p:txBody>
      </p:sp>
      <p:sp>
        <p:nvSpPr>
          <p:cNvPr id="15" name="marker-574"/>
          <p:cNvSpPr/>
          <p:nvPr/>
        </p:nvSpPr>
        <p:spPr>
          <a:xfrm>
            <a:off x="7818120" y="2255520"/>
            <a:ext cx="329184" cy="329184"/>
          </a:xfrm>
          <a:prstGeom prst="ellipse">
            <a:avLst/>
          </a:prstGeom>
          <a:solidFill>
            <a:schemeClr val="accent2"/>
          </a:solidFill>
          <a:ln w="12700">
            <a:solidFill>
              <a:schemeClr val="accent2"/>
            </a:solidFill>
            <a:prstDash val="solid"/>
          </a:ln>
        </p:spPr>
      </p:sp>
      <p:sp>
        <p:nvSpPr>
          <p:cNvPr id="16" name="marker-n-575"/>
          <p:cNvSpPr txBox="1"/>
          <p:nvPr/>
        </p:nvSpPr>
        <p:spPr>
          <a:xfrm>
            <a:off x="7818120" y="2255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7" name="callout-576"/>
          <p:cNvSpPr txBox="1"/>
          <p:nvPr/>
        </p:nvSpPr>
        <p:spPr>
          <a:xfrm>
            <a:off x="8275320" y="223723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Repeated nested blocks</a:t>
            </a:r>
            <a:endParaRPr lang="en-US" sz="1500" dirty="0"/>
          </a:p>
          <a:p>
            <a:pPr indent="0" marL="0">
              <a:spcAft>
                <a:spcPts val="200"/>
              </a:spcAft>
              <a:buNone/>
            </a:pPr>
            <a:r>
              <a:rPr lang="en-US" sz="1400" dirty="0">
                <a:solidFill>
                  <a:schemeClr val="tx1"/>
                </a:solidFill>
              </a:rPr>
              <a:t>Three notification blocks give three alerts: 50%, 80%, and a forecast.</a:t>
            </a:r>
            <a:endParaRPr lang="en-US" sz="1500" dirty="0"/>
          </a:p>
        </p:txBody>
      </p:sp>
      <p:sp>
        <p:nvSpPr>
          <p:cNvPr id="18" name="marker-577"/>
          <p:cNvSpPr/>
          <p:nvPr/>
        </p:nvSpPr>
        <p:spPr>
          <a:xfrm>
            <a:off x="7818120" y="3185160"/>
            <a:ext cx="329184" cy="329184"/>
          </a:xfrm>
          <a:prstGeom prst="ellipse">
            <a:avLst/>
          </a:prstGeom>
          <a:solidFill>
            <a:schemeClr val="accent2"/>
          </a:solidFill>
          <a:ln w="12700">
            <a:solidFill>
              <a:schemeClr val="accent2"/>
            </a:solidFill>
            <a:prstDash val="solid"/>
          </a:ln>
        </p:spPr>
      </p:sp>
      <p:sp>
        <p:nvSpPr>
          <p:cNvPr id="19" name="marker-n-578"/>
          <p:cNvSpPr txBox="1"/>
          <p:nvPr/>
        </p:nvSpPr>
        <p:spPr>
          <a:xfrm>
            <a:off x="7818120" y="318516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0" name="callout-579"/>
          <p:cNvSpPr txBox="1"/>
          <p:nvPr/>
        </p:nvSpPr>
        <p:spPr>
          <a:xfrm>
            <a:off x="8275320" y="3166872"/>
            <a:ext cx="342900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No standing root passwords</a:t>
            </a:r>
            <a:endParaRPr lang="en-US" sz="1500" dirty="0"/>
          </a:p>
          <a:p>
            <a:pPr indent="0" marL="0">
              <a:spcAft>
                <a:spcPts val="200"/>
              </a:spcAft>
              <a:buNone/>
            </a:pPr>
            <a:r>
              <a:rPr lang="en-US" sz="1400" dirty="0">
                <a:solidFill>
                  <a:schemeClr val="tx1"/>
                </a:solidFill>
              </a:rPr>
              <a:t>Member accounts get no root credentials at all. Rare root tasks use short-lived sessions.</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580"/>
          <p:cNvSpPr txBox="1"/>
          <p:nvPr/>
        </p:nvSpPr>
        <p:spPr>
          <a:xfrm>
            <a:off x="731520" y="1463040"/>
            <a:ext cx="2743200" cy="1005840"/>
          </a:xfrm>
          <a:prstGeom prst="rect">
            <a:avLst/>
          </a:prstGeom>
          <a:noFill/>
          <a:ln/>
        </p:spPr>
        <p:txBody>
          <a:bodyPr wrap="square" lIns="0" tIns="0" rIns="0" bIns="0" rtlCol="0" anchor="t"/>
          <a:lstStyle/>
          <a:p>
            <a:pPr indent="0" marL="0">
              <a:buNone/>
            </a:pPr>
            <a:r>
              <a:rPr lang="en-US" sz="6000" b="1" dirty="0">
                <a:solidFill>
                  <a:schemeClr val="accent2"/>
                </a:solidFill>
                <a:latin typeface="Arial" pitchFamily="34" charset="0"/>
                <a:ea typeface="Arial" pitchFamily="34" charset="-122"/>
                <a:cs typeface="Arial" pitchFamily="34" charset="-120"/>
              </a:rPr>
              <a:t>04</a:t>
            </a:r>
            <a:endParaRPr lang="en-US" sz="6000" dirty="0"/>
          </a:p>
        </p:txBody>
      </p:sp>
      <p:sp>
        <p:nvSpPr>
          <p:cNvPr id="3" name="Text 0"/>
          <p:cNvSpPr/>
          <p:nvPr>
            <p:ph idx="100" type="title" hasCustomPrompt="1"/>
          </p:nvPr>
        </p:nvSpPr>
        <p:spPr>
          <a:xfrm>
            <a:off x="731520" y="2651760"/>
            <a:ext cx="8046720" cy="1097280"/>
          </a:xfrm>
          <a:prstGeom prst="rect">
            <a:avLst/>
          </a:prstGeom>
          <a:noFill/>
          <a:ln/>
        </p:spPr>
        <p:txBody>
          <a:bodyPr wrap="square" lIns="0" tIns="0" rIns="0" bIns="0" rtlCol="0" anchor="t"/>
          <a:lstStyle/>
          <a:p>
            <a:pPr algn="l" indent="0" marL="0">
              <a:buNone/>
            </a:pPr>
            <a:r>
              <a:rPr lang="en-US" sz="4400" b="1" dirty="0">
                <a:solidFill>
                  <a:schemeClr val="bg1"/>
                </a:solidFill>
              </a:rPr>
              <a:t>Layer 02: Identity</a:t>
            </a:r>
            <a:endParaRPr lang="en-US" sz="4400" dirty="0"/>
          </a:p>
        </p:txBody>
      </p:sp>
      <p:sp>
        <p:nvSpPr>
          <p:cNvPr id="4" name="Text 0"/>
          <p:cNvSpPr/>
          <p:nvPr>
            <p:ph idx="101" type="body" hasCustomPrompt="1"/>
          </p:nvPr>
        </p:nvSpPr>
        <p:spPr>
          <a:xfrm>
            <a:off x="731520" y="3840480"/>
            <a:ext cx="7863840" cy="1371600"/>
          </a:xfrm>
          <a:prstGeom prst="rect">
            <a:avLst/>
          </a:prstGeom>
          <a:noFill/>
          <a:ln/>
        </p:spPr>
        <p:txBody>
          <a:bodyPr wrap="square" lIns="0" tIns="0" rIns="0" bIns="0" rtlCol="0" anchor="t"/>
          <a:lstStyle/>
          <a:p>
            <a:pPr algn="l" indent="0" marL="0">
              <a:buNone/>
            </a:pPr>
            <a:r>
              <a:rPr lang="en-US" sz="2000" dirty="0">
                <a:solidFill>
                  <a:schemeClr val="bg2"/>
                </a:solidFill>
              </a:rPr>
              <a:t>One sign-in, short sessions, and no IAM users</a:t>
            </a:r>
            <a:endParaRPr lang="en-US" sz="2000" dirty="0"/>
          </a:p>
        </p:txBody>
      </p:sp>
      <p:sp>
        <p:nvSpPr>
          <p:cNvPr id="5" name="icon-circle-581"/>
          <p:cNvSpPr/>
          <p:nvPr/>
        </p:nvSpPr>
        <p:spPr>
          <a:xfrm>
            <a:off x="9052560" y="2011680"/>
            <a:ext cx="2377440" cy="2377440"/>
          </a:xfrm>
          <a:prstGeom prst="ellipse">
            <a:avLst/>
          </a:prstGeom>
          <a:solidFill>
            <a:schemeClr val="tx1"/>
          </a:solidFill>
          <a:ln w="12700">
            <a:solidFill>
              <a:schemeClr val="tx1"/>
            </a:solidFill>
            <a:prstDash val="solid"/>
          </a:ln>
        </p:spPr>
      </p:sp>
      <p:pic>
        <p:nvPicPr>
          <p:cNvPr id="6" name="icon-582" descr="preencoded.png">    </p:cNvPr>
          <p:cNvPicPr>
            <a:picLocks noChangeAspect="1"/>
          </p:cNvPicPr>
          <p:nvPr/>
        </p:nvPicPr>
        <p:blipFill>
          <a:blip r:embed="rId1"/>
          <a:stretch>
            <a:fillRect/>
          </a:stretch>
        </p:blipFill>
        <p:spPr>
          <a:xfrm>
            <a:off x="9646920" y="2606040"/>
            <a:ext cx="1188720" cy="118872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Identity Center: who gets what, where</a:t>
            </a:r>
            <a:endParaRPr lang="en-US" sz="3400" dirty="0"/>
          </a:p>
        </p:txBody>
      </p:sp>
      <p:sp>
        <p:nvSpPr>
          <p:cNvPr id="3" name="text-583"/>
          <p:cNvSpPr txBox="1"/>
          <p:nvPr/>
        </p:nvSpPr>
        <p:spPr>
          <a:xfrm>
            <a:off x="502920" y="1234440"/>
            <a:ext cx="2560320" cy="365760"/>
          </a:xfrm>
          <a:prstGeom prst="rect">
            <a:avLst/>
          </a:prstGeom>
          <a:noFill/>
          <a:ln/>
        </p:spPr>
        <p:txBody>
          <a:bodyPr wrap="square" lIns="0" tIns="0" rIns="0" bIns="0" rtlCol="0" anchor="t"/>
          <a:lstStyle/>
          <a:p>
            <a:pPr algn="ctr" indent="0" marL="0">
              <a:buNone/>
            </a:pPr>
            <a:r>
              <a:rPr lang="en-US" sz="1800" b="1" dirty="0">
                <a:solidFill>
                  <a:schemeClr val="tx1"/>
                </a:solidFill>
              </a:rPr>
              <a:t>Users</a:t>
            </a:r>
            <a:endParaRPr lang="en-US" sz="1800" dirty="0"/>
          </a:p>
        </p:txBody>
      </p:sp>
      <p:sp>
        <p:nvSpPr>
          <p:cNvPr id="4" name="box-584"/>
          <p:cNvSpPr/>
          <p:nvPr/>
        </p:nvSpPr>
        <p:spPr>
          <a:xfrm>
            <a:off x="502920" y="1737360"/>
            <a:ext cx="2560320" cy="548640"/>
          </a:xfrm>
          <a:prstGeom prst="roundRect">
            <a:avLst>
              <a:gd name="adj" fmla="val 13333"/>
            </a:avLst>
          </a:prstGeom>
          <a:solidFill>
            <a:schemeClr val="tx1"/>
          </a:solidFill>
          <a:ln w="9525">
            <a:solidFill>
              <a:schemeClr val="tx1"/>
            </a:solidFill>
            <a:prstDash val="solid"/>
          </a:ln>
        </p:spPr>
      </p:sp>
      <p:sp>
        <p:nvSpPr>
          <p:cNvPr id="5" name="box-t-585"/>
          <p:cNvSpPr txBox="1"/>
          <p:nvPr/>
        </p:nvSpPr>
        <p:spPr>
          <a:xfrm>
            <a:off x="548640" y="1737360"/>
            <a:ext cx="2468880" cy="548640"/>
          </a:xfrm>
          <a:prstGeom prst="rect">
            <a:avLst/>
          </a:prstGeom>
          <a:noFill/>
          <a:ln/>
        </p:spPr>
        <p:txBody>
          <a:bodyPr wrap="square" lIns="508" tIns="508" rIns="508" bIns="508" rtlCol="0" anchor="ctr"/>
          <a:lstStyle/>
          <a:p>
            <a:pPr algn="ctr" indent="0" marL="0">
              <a:buNone/>
            </a:pPr>
            <a:r>
              <a:rPr lang="en-US" sz="1400" b="1" dirty="0">
                <a:solidFill>
                  <a:schemeClr val="bg1"/>
                </a:solidFill>
              </a:rPr>
              <a:t>taylor</a:t>
            </a:r>
            <a:endParaRPr lang="en-US" sz="1400" dirty="0"/>
          </a:p>
        </p:txBody>
      </p:sp>
      <p:sp>
        <p:nvSpPr>
          <p:cNvPr id="6" name="box-586"/>
          <p:cNvSpPr/>
          <p:nvPr/>
        </p:nvSpPr>
        <p:spPr>
          <a:xfrm>
            <a:off x="502920" y="2450592"/>
            <a:ext cx="2560320" cy="548640"/>
          </a:xfrm>
          <a:prstGeom prst="roundRect">
            <a:avLst>
              <a:gd name="adj" fmla="val 13333"/>
            </a:avLst>
          </a:prstGeom>
          <a:solidFill>
            <a:schemeClr val="tx1"/>
          </a:solidFill>
          <a:ln w="9525">
            <a:solidFill>
              <a:schemeClr val="tx1"/>
            </a:solidFill>
            <a:prstDash val="solid"/>
          </a:ln>
        </p:spPr>
      </p:sp>
      <p:sp>
        <p:nvSpPr>
          <p:cNvPr id="7" name="box-t-587"/>
          <p:cNvSpPr txBox="1"/>
          <p:nvPr/>
        </p:nvSpPr>
        <p:spPr>
          <a:xfrm>
            <a:off x="548640" y="2450592"/>
            <a:ext cx="2468880" cy="548640"/>
          </a:xfrm>
          <a:prstGeom prst="rect">
            <a:avLst/>
          </a:prstGeom>
          <a:noFill/>
          <a:ln/>
        </p:spPr>
        <p:txBody>
          <a:bodyPr wrap="square" lIns="508" tIns="508" rIns="508" bIns="508" rtlCol="0" anchor="ctr"/>
          <a:lstStyle/>
          <a:p>
            <a:pPr algn="ctr" indent="0" marL="0">
              <a:buNone/>
            </a:pPr>
            <a:r>
              <a:rPr lang="en-US" sz="1400" b="1" dirty="0">
                <a:solidFill>
                  <a:schemeClr val="bg1"/>
                </a:solidFill>
              </a:rPr>
              <a:t>dev-test</a:t>
            </a:r>
            <a:endParaRPr lang="en-US" sz="1400" dirty="0"/>
          </a:p>
        </p:txBody>
      </p:sp>
      <p:sp>
        <p:nvSpPr>
          <p:cNvPr id="8" name="text-588"/>
          <p:cNvSpPr txBox="1"/>
          <p:nvPr/>
        </p:nvSpPr>
        <p:spPr>
          <a:xfrm>
            <a:off x="3383280" y="1234440"/>
            <a:ext cx="2560320" cy="365760"/>
          </a:xfrm>
          <a:prstGeom prst="rect">
            <a:avLst/>
          </a:prstGeom>
          <a:noFill/>
          <a:ln/>
        </p:spPr>
        <p:txBody>
          <a:bodyPr wrap="square" lIns="0" tIns="0" rIns="0" bIns="0" rtlCol="0" anchor="t"/>
          <a:lstStyle/>
          <a:p>
            <a:pPr algn="ctr" indent="0" marL="0">
              <a:buNone/>
            </a:pPr>
            <a:r>
              <a:rPr lang="en-US" sz="1800" b="1" dirty="0">
                <a:solidFill>
                  <a:schemeClr val="tx1"/>
                </a:solidFill>
              </a:rPr>
              <a:t>Groups</a:t>
            </a:r>
            <a:endParaRPr lang="en-US" sz="1800" dirty="0"/>
          </a:p>
        </p:txBody>
      </p:sp>
      <p:sp>
        <p:nvSpPr>
          <p:cNvPr id="9" name="box-589"/>
          <p:cNvSpPr/>
          <p:nvPr/>
        </p:nvSpPr>
        <p:spPr>
          <a:xfrm>
            <a:off x="3383280" y="1737360"/>
            <a:ext cx="2560320" cy="548640"/>
          </a:xfrm>
          <a:prstGeom prst="roundRect">
            <a:avLst>
              <a:gd name="adj" fmla="val 13333"/>
            </a:avLst>
          </a:prstGeom>
          <a:solidFill>
            <a:schemeClr val="accent1"/>
          </a:solidFill>
          <a:ln w="9525">
            <a:solidFill>
              <a:schemeClr val="accent1"/>
            </a:solidFill>
            <a:prstDash val="solid"/>
          </a:ln>
        </p:spPr>
      </p:sp>
      <p:sp>
        <p:nvSpPr>
          <p:cNvPr id="10" name="box-t-590"/>
          <p:cNvSpPr txBox="1"/>
          <p:nvPr/>
        </p:nvSpPr>
        <p:spPr>
          <a:xfrm>
            <a:off x="3429000" y="1737360"/>
            <a:ext cx="2468880" cy="548640"/>
          </a:xfrm>
          <a:prstGeom prst="rect">
            <a:avLst/>
          </a:prstGeom>
          <a:noFill/>
          <a:ln/>
        </p:spPr>
        <p:txBody>
          <a:bodyPr wrap="square" lIns="508" tIns="508" rIns="508" bIns="508" rtlCol="0" anchor="ctr"/>
          <a:lstStyle/>
          <a:p>
            <a:pPr algn="ctr" indent="0" marL="0">
              <a:buNone/>
            </a:pPr>
            <a:r>
              <a:rPr lang="en-US" sz="1400" b="1" dirty="0">
                <a:solidFill>
                  <a:schemeClr val="bg1"/>
                </a:solidFill>
              </a:rPr>
              <a:t>platform-admins</a:t>
            </a:r>
            <a:endParaRPr lang="en-US" sz="1400" dirty="0"/>
          </a:p>
        </p:txBody>
      </p:sp>
      <p:sp>
        <p:nvSpPr>
          <p:cNvPr id="11" name="box-591"/>
          <p:cNvSpPr/>
          <p:nvPr/>
        </p:nvSpPr>
        <p:spPr>
          <a:xfrm>
            <a:off x="3383280" y="2450592"/>
            <a:ext cx="2560320" cy="548640"/>
          </a:xfrm>
          <a:prstGeom prst="roundRect">
            <a:avLst>
              <a:gd name="adj" fmla="val 13333"/>
            </a:avLst>
          </a:prstGeom>
          <a:solidFill>
            <a:schemeClr val="accent1"/>
          </a:solidFill>
          <a:ln w="9525">
            <a:solidFill>
              <a:schemeClr val="accent1"/>
            </a:solidFill>
            <a:prstDash val="solid"/>
          </a:ln>
        </p:spPr>
      </p:sp>
      <p:sp>
        <p:nvSpPr>
          <p:cNvPr id="12" name="box-t-592"/>
          <p:cNvSpPr txBox="1"/>
          <p:nvPr/>
        </p:nvSpPr>
        <p:spPr>
          <a:xfrm>
            <a:off x="3429000" y="2450592"/>
            <a:ext cx="2468880" cy="548640"/>
          </a:xfrm>
          <a:prstGeom prst="rect">
            <a:avLst/>
          </a:prstGeom>
          <a:noFill/>
          <a:ln/>
        </p:spPr>
        <p:txBody>
          <a:bodyPr wrap="square" lIns="508" tIns="508" rIns="508" bIns="508" rtlCol="0" anchor="ctr"/>
          <a:lstStyle/>
          <a:p>
            <a:pPr algn="ctr" indent="0" marL="0">
              <a:buNone/>
            </a:pPr>
            <a:r>
              <a:rPr lang="en-US" sz="1400" b="1" dirty="0">
                <a:solidFill>
                  <a:schemeClr val="bg1"/>
                </a:solidFill>
              </a:rPr>
              <a:t>security-auditors</a:t>
            </a:r>
            <a:endParaRPr lang="en-US" sz="1400" dirty="0"/>
          </a:p>
        </p:txBody>
      </p:sp>
      <p:sp>
        <p:nvSpPr>
          <p:cNvPr id="13" name="box-593"/>
          <p:cNvSpPr/>
          <p:nvPr/>
        </p:nvSpPr>
        <p:spPr>
          <a:xfrm>
            <a:off x="3383280" y="3163824"/>
            <a:ext cx="2560320" cy="548640"/>
          </a:xfrm>
          <a:prstGeom prst="roundRect">
            <a:avLst>
              <a:gd name="adj" fmla="val 13333"/>
            </a:avLst>
          </a:prstGeom>
          <a:solidFill>
            <a:schemeClr val="accent1"/>
          </a:solidFill>
          <a:ln w="9525">
            <a:solidFill>
              <a:schemeClr val="accent1"/>
            </a:solidFill>
            <a:prstDash val="solid"/>
          </a:ln>
        </p:spPr>
      </p:sp>
      <p:sp>
        <p:nvSpPr>
          <p:cNvPr id="14" name="box-t-594"/>
          <p:cNvSpPr txBox="1"/>
          <p:nvPr/>
        </p:nvSpPr>
        <p:spPr>
          <a:xfrm>
            <a:off x="3429000" y="3163824"/>
            <a:ext cx="2468880" cy="548640"/>
          </a:xfrm>
          <a:prstGeom prst="rect">
            <a:avLst/>
          </a:prstGeom>
          <a:noFill/>
          <a:ln/>
        </p:spPr>
        <p:txBody>
          <a:bodyPr wrap="square" lIns="508" tIns="508" rIns="508" bIns="508" rtlCol="0" anchor="ctr"/>
          <a:lstStyle/>
          <a:p>
            <a:pPr algn="ctr" indent="0" marL="0">
              <a:buNone/>
            </a:pPr>
            <a:r>
              <a:rPr lang="en-US" sz="1400" b="1" dirty="0">
                <a:solidFill>
                  <a:schemeClr val="bg1"/>
                </a:solidFill>
              </a:rPr>
              <a:t>developers</a:t>
            </a:r>
            <a:endParaRPr lang="en-US" sz="1400" dirty="0"/>
          </a:p>
        </p:txBody>
      </p:sp>
      <p:sp>
        <p:nvSpPr>
          <p:cNvPr id="15" name="text-595"/>
          <p:cNvSpPr txBox="1"/>
          <p:nvPr/>
        </p:nvSpPr>
        <p:spPr>
          <a:xfrm>
            <a:off x="6263640" y="1234440"/>
            <a:ext cx="2560320" cy="365760"/>
          </a:xfrm>
          <a:prstGeom prst="rect">
            <a:avLst/>
          </a:prstGeom>
          <a:noFill/>
          <a:ln/>
        </p:spPr>
        <p:txBody>
          <a:bodyPr wrap="square" lIns="0" tIns="0" rIns="0" bIns="0" rtlCol="0" anchor="t"/>
          <a:lstStyle/>
          <a:p>
            <a:pPr algn="ctr" indent="0" marL="0">
              <a:buNone/>
            </a:pPr>
            <a:r>
              <a:rPr lang="en-US" sz="1800" b="1" dirty="0">
                <a:solidFill>
                  <a:schemeClr val="tx1"/>
                </a:solidFill>
              </a:rPr>
              <a:t>Permission sets</a:t>
            </a:r>
            <a:endParaRPr lang="en-US" sz="1800" dirty="0"/>
          </a:p>
        </p:txBody>
      </p:sp>
      <p:sp>
        <p:nvSpPr>
          <p:cNvPr id="16" name="box-596"/>
          <p:cNvSpPr/>
          <p:nvPr/>
        </p:nvSpPr>
        <p:spPr>
          <a:xfrm>
            <a:off x="6263640" y="1737360"/>
            <a:ext cx="2560320" cy="548640"/>
          </a:xfrm>
          <a:prstGeom prst="roundRect">
            <a:avLst>
              <a:gd name="adj" fmla="val 13333"/>
            </a:avLst>
          </a:prstGeom>
          <a:solidFill>
            <a:schemeClr val="accent3"/>
          </a:solidFill>
          <a:ln w="9525">
            <a:solidFill>
              <a:schemeClr val="accent3"/>
            </a:solidFill>
            <a:prstDash val="solid"/>
          </a:ln>
        </p:spPr>
      </p:sp>
      <p:sp>
        <p:nvSpPr>
          <p:cNvPr id="17" name="box-t-597"/>
          <p:cNvSpPr txBox="1"/>
          <p:nvPr/>
        </p:nvSpPr>
        <p:spPr>
          <a:xfrm>
            <a:off x="6309360" y="1737360"/>
            <a:ext cx="2468880" cy="548640"/>
          </a:xfrm>
          <a:prstGeom prst="rect">
            <a:avLst/>
          </a:prstGeom>
          <a:noFill/>
          <a:ln/>
        </p:spPr>
        <p:txBody>
          <a:bodyPr wrap="square" lIns="508" tIns="508" rIns="508" bIns="508" rtlCol="0" anchor="ctr"/>
          <a:lstStyle/>
          <a:p>
            <a:pPr algn="ctr" indent="0" marL="0">
              <a:buNone/>
            </a:pPr>
            <a:r>
              <a:rPr lang="en-US" sz="1400" b="1" dirty="0">
                <a:solidFill>
                  <a:schemeClr val="bg1"/>
                </a:solidFill>
              </a:rPr>
              <a:t>PlatformAdmin</a:t>
            </a:r>
            <a:endParaRPr lang="en-US" sz="1400" dirty="0"/>
          </a:p>
        </p:txBody>
      </p:sp>
      <p:sp>
        <p:nvSpPr>
          <p:cNvPr id="18" name="box-598"/>
          <p:cNvSpPr/>
          <p:nvPr/>
        </p:nvSpPr>
        <p:spPr>
          <a:xfrm>
            <a:off x="6263640" y="2450592"/>
            <a:ext cx="2560320" cy="548640"/>
          </a:xfrm>
          <a:prstGeom prst="roundRect">
            <a:avLst>
              <a:gd name="adj" fmla="val 13333"/>
            </a:avLst>
          </a:prstGeom>
          <a:solidFill>
            <a:schemeClr val="accent3"/>
          </a:solidFill>
          <a:ln w="9525">
            <a:solidFill>
              <a:schemeClr val="accent3"/>
            </a:solidFill>
            <a:prstDash val="solid"/>
          </a:ln>
        </p:spPr>
      </p:sp>
      <p:sp>
        <p:nvSpPr>
          <p:cNvPr id="19" name="box-t-599"/>
          <p:cNvSpPr txBox="1"/>
          <p:nvPr/>
        </p:nvSpPr>
        <p:spPr>
          <a:xfrm>
            <a:off x="6309360" y="2450592"/>
            <a:ext cx="2468880" cy="548640"/>
          </a:xfrm>
          <a:prstGeom prst="rect">
            <a:avLst/>
          </a:prstGeom>
          <a:noFill/>
          <a:ln/>
        </p:spPr>
        <p:txBody>
          <a:bodyPr wrap="square" lIns="508" tIns="508" rIns="508" bIns="508" rtlCol="0" anchor="ctr"/>
          <a:lstStyle/>
          <a:p>
            <a:pPr algn="ctr" indent="0" marL="0">
              <a:buNone/>
            </a:pPr>
            <a:r>
              <a:rPr lang="en-US" sz="1400" b="1" dirty="0">
                <a:solidFill>
                  <a:schemeClr val="bg1"/>
                </a:solidFill>
              </a:rPr>
              <a:t>SecurityAudit</a:t>
            </a:r>
            <a:endParaRPr lang="en-US" sz="1400" dirty="0"/>
          </a:p>
        </p:txBody>
      </p:sp>
      <p:sp>
        <p:nvSpPr>
          <p:cNvPr id="20" name="box-600"/>
          <p:cNvSpPr/>
          <p:nvPr/>
        </p:nvSpPr>
        <p:spPr>
          <a:xfrm>
            <a:off x="6263640" y="3163824"/>
            <a:ext cx="2560320" cy="548640"/>
          </a:xfrm>
          <a:prstGeom prst="roundRect">
            <a:avLst>
              <a:gd name="adj" fmla="val 13333"/>
            </a:avLst>
          </a:prstGeom>
          <a:solidFill>
            <a:schemeClr val="accent3"/>
          </a:solidFill>
          <a:ln w="9525">
            <a:solidFill>
              <a:schemeClr val="accent3"/>
            </a:solidFill>
            <a:prstDash val="solid"/>
          </a:ln>
        </p:spPr>
      </p:sp>
      <p:sp>
        <p:nvSpPr>
          <p:cNvPr id="21" name="box-t-601"/>
          <p:cNvSpPr txBox="1"/>
          <p:nvPr/>
        </p:nvSpPr>
        <p:spPr>
          <a:xfrm>
            <a:off x="6309360" y="3163824"/>
            <a:ext cx="2468880" cy="548640"/>
          </a:xfrm>
          <a:prstGeom prst="rect">
            <a:avLst/>
          </a:prstGeom>
          <a:noFill/>
          <a:ln/>
        </p:spPr>
        <p:txBody>
          <a:bodyPr wrap="square" lIns="508" tIns="508" rIns="508" bIns="508" rtlCol="0" anchor="ctr"/>
          <a:lstStyle/>
          <a:p>
            <a:pPr algn="ctr" indent="0" marL="0">
              <a:buNone/>
            </a:pPr>
            <a:r>
              <a:rPr lang="en-US" sz="1400" b="1" dirty="0">
                <a:solidFill>
                  <a:schemeClr val="bg1"/>
                </a:solidFill>
              </a:rPr>
              <a:t>Developer</a:t>
            </a:r>
            <a:endParaRPr lang="en-US" sz="1400" dirty="0"/>
          </a:p>
        </p:txBody>
      </p:sp>
      <p:sp>
        <p:nvSpPr>
          <p:cNvPr id="22" name="box-602"/>
          <p:cNvSpPr/>
          <p:nvPr/>
        </p:nvSpPr>
        <p:spPr>
          <a:xfrm>
            <a:off x="6263640" y="3877056"/>
            <a:ext cx="2560320" cy="548640"/>
          </a:xfrm>
          <a:prstGeom prst="roundRect">
            <a:avLst>
              <a:gd name="adj" fmla="val 13333"/>
            </a:avLst>
          </a:prstGeom>
          <a:solidFill>
            <a:schemeClr val="accent3"/>
          </a:solidFill>
          <a:ln w="9525">
            <a:solidFill>
              <a:schemeClr val="accent3"/>
            </a:solidFill>
            <a:prstDash val="solid"/>
          </a:ln>
        </p:spPr>
      </p:sp>
      <p:sp>
        <p:nvSpPr>
          <p:cNvPr id="23" name="box-t-603"/>
          <p:cNvSpPr txBox="1"/>
          <p:nvPr/>
        </p:nvSpPr>
        <p:spPr>
          <a:xfrm>
            <a:off x="6309360" y="3877056"/>
            <a:ext cx="2468880" cy="548640"/>
          </a:xfrm>
          <a:prstGeom prst="rect">
            <a:avLst/>
          </a:prstGeom>
          <a:noFill/>
          <a:ln/>
        </p:spPr>
        <p:txBody>
          <a:bodyPr wrap="square" lIns="508" tIns="508" rIns="508" bIns="508" rtlCol="0" anchor="ctr"/>
          <a:lstStyle/>
          <a:p>
            <a:pPr algn="ctr" indent="0" marL="0">
              <a:buNone/>
            </a:pPr>
            <a:r>
              <a:rPr lang="en-US" sz="1400" b="1" dirty="0">
                <a:solidFill>
                  <a:schemeClr val="bg1"/>
                </a:solidFill>
              </a:rPr>
              <a:t>ReadOnly</a:t>
            </a:r>
            <a:endParaRPr lang="en-US" sz="1400" dirty="0"/>
          </a:p>
        </p:txBody>
      </p:sp>
      <p:sp>
        <p:nvSpPr>
          <p:cNvPr id="24" name="text-604"/>
          <p:cNvSpPr txBox="1"/>
          <p:nvPr/>
        </p:nvSpPr>
        <p:spPr>
          <a:xfrm>
            <a:off x="9144000" y="1234440"/>
            <a:ext cx="2560320" cy="365760"/>
          </a:xfrm>
          <a:prstGeom prst="rect">
            <a:avLst/>
          </a:prstGeom>
          <a:noFill/>
          <a:ln/>
        </p:spPr>
        <p:txBody>
          <a:bodyPr wrap="square" lIns="0" tIns="0" rIns="0" bIns="0" rtlCol="0" anchor="t"/>
          <a:lstStyle/>
          <a:p>
            <a:pPr algn="ctr" indent="0" marL="0">
              <a:buNone/>
            </a:pPr>
            <a:r>
              <a:rPr lang="en-US" sz="1800" b="1" dirty="0">
                <a:solidFill>
                  <a:schemeClr val="tx1"/>
                </a:solidFill>
              </a:rPr>
              <a:t>Accounts</a:t>
            </a:r>
            <a:endParaRPr lang="en-US" sz="1800" dirty="0"/>
          </a:p>
        </p:txBody>
      </p:sp>
      <p:sp>
        <p:nvSpPr>
          <p:cNvPr id="25" name="box-605"/>
          <p:cNvSpPr/>
          <p:nvPr/>
        </p:nvSpPr>
        <p:spPr>
          <a:xfrm>
            <a:off x="9144000" y="1737360"/>
            <a:ext cx="2560320" cy="548640"/>
          </a:xfrm>
          <a:prstGeom prst="roundRect">
            <a:avLst>
              <a:gd name="adj" fmla="val 13333"/>
            </a:avLst>
          </a:prstGeom>
          <a:solidFill>
            <a:schemeClr val="accent2"/>
          </a:solidFill>
          <a:ln w="9525">
            <a:solidFill>
              <a:schemeClr val="accent2"/>
            </a:solidFill>
            <a:prstDash val="solid"/>
          </a:ln>
        </p:spPr>
      </p:sp>
      <p:sp>
        <p:nvSpPr>
          <p:cNvPr id="26" name="box-t-606"/>
          <p:cNvSpPr txBox="1"/>
          <p:nvPr/>
        </p:nvSpPr>
        <p:spPr>
          <a:xfrm>
            <a:off x="9189720" y="1737360"/>
            <a:ext cx="2468880" cy="548640"/>
          </a:xfrm>
          <a:prstGeom prst="rect">
            <a:avLst/>
          </a:prstGeom>
          <a:noFill/>
          <a:ln/>
        </p:spPr>
        <p:txBody>
          <a:bodyPr wrap="square" lIns="508" tIns="508" rIns="508" bIns="508" rtlCol="0" anchor="ctr"/>
          <a:lstStyle/>
          <a:p>
            <a:pPr algn="ctr" indent="0" marL="0">
              <a:buNone/>
            </a:pPr>
            <a:r>
              <a:rPr lang="en-US" sz="1400" b="1" dirty="0">
                <a:solidFill>
                  <a:schemeClr val="tx1"/>
                </a:solidFill>
              </a:rPr>
              <a:t>all six</a:t>
            </a:r>
            <a:endParaRPr lang="en-US" sz="1400" dirty="0"/>
          </a:p>
        </p:txBody>
      </p:sp>
      <p:sp>
        <p:nvSpPr>
          <p:cNvPr id="27" name="box-607"/>
          <p:cNvSpPr/>
          <p:nvPr/>
        </p:nvSpPr>
        <p:spPr>
          <a:xfrm>
            <a:off x="9144000" y="2450592"/>
            <a:ext cx="2560320" cy="548640"/>
          </a:xfrm>
          <a:prstGeom prst="roundRect">
            <a:avLst>
              <a:gd name="adj" fmla="val 13333"/>
            </a:avLst>
          </a:prstGeom>
          <a:solidFill>
            <a:schemeClr val="accent2"/>
          </a:solidFill>
          <a:ln w="9525">
            <a:solidFill>
              <a:schemeClr val="accent2"/>
            </a:solidFill>
            <a:prstDash val="solid"/>
          </a:ln>
        </p:spPr>
      </p:sp>
      <p:sp>
        <p:nvSpPr>
          <p:cNvPr id="28" name="box-t-608"/>
          <p:cNvSpPr txBox="1"/>
          <p:nvPr/>
        </p:nvSpPr>
        <p:spPr>
          <a:xfrm>
            <a:off x="9189720" y="2450592"/>
            <a:ext cx="2468880" cy="548640"/>
          </a:xfrm>
          <a:prstGeom prst="rect">
            <a:avLst/>
          </a:prstGeom>
          <a:noFill/>
          <a:ln/>
        </p:spPr>
        <p:txBody>
          <a:bodyPr wrap="square" lIns="508" tIns="508" rIns="508" bIns="508" rtlCol="0" anchor="ctr"/>
          <a:lstStyle/>
          <a:p>
            <a:pPr algn="ctr" indent="0" marL="0">
              <a:buNone/>
            </a:pPr>
            <a:r>
              <a:rPr lang="en-US" sz="1400" b="1" dirty="0">
                <a:solidFill>
                  <a:schemeClr val="tx1"/>
                </a:solidFill>
              </a:rPr>
              <a:t>all six</a:t>
            </a:r>
            <a:endParaRPr lang="en-US" sz="1400" dirty="0"/>
          </a:p>
        </p:txBody>
      </p:sp>
      <p:sp>
        <p:nvSpPr>
          <p:cNvPr id="29" name="box-609"/>
          <p:cNvSpPr/>
          <p:nvPr/>
        </p:nvSpPr>
        <p:spPr>
          <a:xfrm>
            <a:off x="9144000" y="3163824"/>
            <a:ext cx="2560320" cy="548640"/>
          </a:xfrm>
          <a:prstGeom prst="roundRect">
            <a:avLst>
              <a:gd name="adj" fmla="val 13333"/>
            </a:avLst>
          </a:prstGeom>
          <a:solidFill>
            <a:schemeClr val="accent2"/>
          </a:solidFill>
          <a:ln w="9525">
            <a:solidFill>
              <a:schemeClr val="accent2"/>
            </a:solidFill>
            <a:prstDash val="solid"/>
          </a:ln>
        </p:spPr>
      </p:sp>
      <p:sp>
        <p:nvSpPr>
          <p:cNvPr id="30" name="box-t-610"/>
          <p:cNvSpPr txBox="1"/>
          <p:nvPr/>
        </p:nvSpPr>
        <p:spPr>
          <a:xfrm>
            <a:off x="9189720" y="3163824"/>
            <a:ext cx="2468880" cy="548640"/>
          </a:xfrm>
          <a:prstGeom prst="rect">
            <a:avLst/>
          </a:prstGeom>
          <a:noFill/>
          <a:ln/>
        </p:spPr>
        <p:txBody>
          <a:bodyPr wrap="square" lIns="508" tIns="508" rIns="508" bIns="508" rtlCol="0" anchor="ctr"/>
          <a:lstStyle/>
          <a:p>
            <a:pPr algn="ctr" indent="0" marL="0">
              <a:buNone/>
            </a:pPr>
            <a:r>
              <a:rPr lang="en-US" sz="1400" b="1" dirty="0">
                <a:solidFill>
                  <a:schemeClr val="tx1"/>
                </a:solidFill>
              </a:rPr>
              <a:t>dev</a:t>
            </a:r>
            <a:endParaRPr lang="en-US" sz="1400" dirty="0"/>
          </a:p>
        </p:txBody>
      </p:sp>
      <p:sp>
        <p:nvSpPr>
          <p:cNvPr id="31" name="box-611"/>
          <p:cNvSpPr/>
          <p:nvPr/>
        </p:nvSpPr>
        <p:spPr>
          <a:xfrm>
            <a:off x="9144000" y="3877056"/>
            <a:ext cx="2560320" cy="548640"/>
          </a:xfrm>
          <a:prstGeom prst="roundRect">
            <a:avLst>
              <a:gd name="adj" fmla="val 13333"/>
            </a:avLst>
          </a:prstGeom>
          <a:solidFill>
            <a:schemeClr val="accent2"/>
          </a:solidFill>
          <a:ln w="9525">
            <a:solidFill>
              <a:schemeClr val="accent2"/>
            </a:solidFill>
            <a:prstDash val="solid"/>
          </a:ln>
        </p:spPr>
      </p:sp>
      <p:sp>
        <p:nvSpPr>
          <p:cNvPr id="32" name="box-t-612"/>
          <p:cNvSpPr txBox="1"/>
          <p:nvPr/>
        </p:nvSpPr>
        <p:spPr>
          <a:xfrm>
            <a:off x="9189720" y="3877056"/>
            <a:ext cx="2468880" cy="548640"/>
          </a:xfrm>
          <a:prstGeom prst="rect">
            <a:avLst/>
          </a:prstGeom>
          <a:noFill/>
          <a:ln/>
        </p:spPr>
        <p:txBody>
          <a:bodyPr wrap="square" lIns="508" tIns="508" rIns="508" bIns="508" rtlCol="0" anchor="ctr"/>
          <a:lstStyle/>
          <a:p>
            <a:pPr algn="ctr" indent="0" marL="0">
              <a:buNone/>
            </a:pPr>
            <a:r>
              <a:rPr lang="en-US" sz="1400" b="1" dirty="0">
                <a:solidFill>
                  <a:schemeClr val="tx1"/>
                </a:solidFill>
              </a:rPr>
              <a:t>prod</a:t>
            </a:r>
            <a:endParaRPr lang="en-US" sz="1400" dirty="0"/>
          </a:p>
        </p:txBody>
      </p:sp>
      <p:sp>
        <p:nvSpPr>
          <p:cNvPr id="33" name="arrow-613"/>
          <p:cNvSpPr/>
          <p:nvPr/>
        </p:nvSpPr>
        <p:spPr>
          <a:xfrm>
            <a:off x="3063240" y="2011680"/>
            <a:ext cx="320040" cy="0"/>
          </a:xfrm>
          <a:prstGeom prst="line">
            <a:avLst/>
          </a:prstGeom>
          <a:noFill/>
          <a:ln w="15875">
            <a:solidFill>
              <a:schemeClr val="tx2"/>
            </a:solidFill>
            <a:prstDash val="solid"/>
            <a:tailEnd type="triangle"/>
          </a:ln>
        </p:spPr>
      </p:sp>
      <p:sp>
        <p:nvSpPr>
          <p:cNvPr id="34" name="arrow-614"/>
          <p:cNvSpPr/>
          <p:nvPr/>
        </p:nvSpPr>
        <p:spPr>
          <a:xfrm>
            <a:off x="3063240" y="2724912"/>
            <a:ext cx="320040" cy="713232"/>
          </a:xfrm>
          <a:prstGeom prst="line">
            <a:avLst/>
          </a:prstGeom>
          <a:noFill/>
          <a:ln w="15875">
            <a:solidFill>
              <a:schemeClr val="tx2"/>
            </a:solidFill>
            <a:prstDash val="solid"/>
            <a:tailEnd type="triangle"/>
          </a:ln>
        </p:spPr>
      </p:sp>
      <p:sp>
        <p:nvSpPr>
          <p:cNvPr id="35" name="arrow-615"/>
          <p:cNvSpPr/>
          <p:nvPr/>
        </p:nvSpPr>
        <p:spPr>
          <a:xfrm>
            <a:off x="5943600" y="2011680"/>
            <a:ext cx="320040" cy="0"/>
          </a:xfrm>
          <a:prstGeom prst="line">
            <a:avLst/>
          </a:prstGeom>
          <a:noFill/>
          <a:ln w="15875">
            <a:solidFill>
              <a:schemeClr val="tx2"/>
            </a:solidFill>
            <a:prstDash val="solid"/>
            <a:tailEnd type="triangle"/>
          </a:ln>
        </p:spPr>
      </p:sp>
      <p:sp>
        <p:nvSpPr>
          <p:cNvPr id="36" name="arrow-616"/>
          <p:cNvSpPr/>
          <p:nvPr/>
        </p:nvSpPr>
        <p:spPr>
          <a:xfrm>
            <a:off x="5943600" y="2724912"/>
            <a:ext cx="320040" cy="0"/>
          </a:xfrm>
          <a:prstGeom prst="line">
            <a:avLst/>
          </a:prstGeom>
          <a:noFill/>
          <a:ln w="15875">
            <a:solidFill>
              <a:schemeClr val="tx2"/>
            </a:solidFill>
            <a:prstDash val="solid"/>
            <a:tailEnd type="triangle"/>
          </a:ln>
        </p:spPr>
      </p:sp>
      <p:sp>
        <p:nvSpPr>
          <p:cNvPr id="37" name="arrow-617"/>
          <p:cNvSpPr/>
          <p:nvPr/>
        </p:nvSpPr>
        <p:spPr>
          <a:xfrm>
            <a:off x="5943600" y="3438144"/>
            <a:ext cx="320040" cy="0"/>
          </a:xfrm>
          <a:prstGeom prst="line">
            <a:avLst/>
          </a:prstGeom>
          <a:noFill/>
          <a:ln w="15875">
            <a:solidFill>
              <a:schemeClr val="tx2"/>
            </a:solidFill>
            <a:prstDash val="solid"/>
            <a:tailEnd type="triangle"/>
          </a:ln>
        </p:spPr>
      </p:sp>
      <p:sp>
        <p:nvSpPr>
          <p:cNvPr id="38" name="arrow-618"/>
          <p:cNvSpPr/>
          <p:nvPr/>
        </p:nvSpPr>
        <p:spPr>
          <a:xfrm>
            <a:off x="5943600" y="3438144"/>
            <a:ext cx="320040" cy="713232"/>
          </a:xfrm>
          <a:prstGeom prst="line">
            <a:avLst/>
          </a:prstGeom>
          <a:noFill/>
          <a:ln w="15875">
            <a:solidFill>
              <a:schemeClr val="tx2"/>
            </a:solidFill>
            <a:prstDash val="solid"/>
            <a:tailEnd type="triangle"/>
          </a:ln>
        </p:spPr>
      </p:sp>
      <p:sp>
        <p:nvSpPr>
          <p:cNvPr id="39" name="arrow-619"/>
          <p:cNvSpPr/>
          <p:nvPr/>
        </p:nvSpPr>
        <p:spPr>
          <a:xfrm>
            <a:off x="8823960" y="2011680"/>
            <a:ext cx="320040" cy="0"/>
          </a:xfrm>
          <a:prstGeom prst="line">
            <a:avLst/>
          </a:prstGeom>
          <a:noFill/>
          <a:ln w="15875">
            <a:solidFill>
              <a:schemeClr val="tx2"/>
            </a:solidFill>
            <a:prstDash val="solid"/>
            <a:tailEnd type="triangle"/>
          </a:ln>
        </p:spPr>
      </p:sp>
      <p:sp>
        <p:nvSpPr>
          <p:cNvPr id="40" name="arrow-620"/>
          <p:cNvSpPr/>
          <p:nvPr/>
        </p:nvSpPr>
        <p:spPr>
          <a:xfrm>
            <a:off x="8823960" y="2724912"/>
            <a:ext cx="320040" cy="0"/>
          </a:xfrm>
          <a:prstGeom prst="line">
            <a:avLst/>
          </a:prstGeom>
          <a:noFill/>
          <a:ln w="15875">
            <a:solidFill>
              <a:schemeClr val="tx2"/>
            </a:solidFill>
            <a:prstDash val="solid"/>
            <a:tailEnd type="triangle"/>
          </a:ln>
        </p:spPr>
      </p:sp>
      <p:sp>
        <p:nvSpPr>
          <p:cNvPr id="41" name="arrow-621"/>
          <p:cNvSpPr/>
          <p:nvPr/>
        </p:nvSpPr>
        <p:spPr>
          <a:xfrm>
            <a:off x="8823960" y="3438144"/>
            <a:ext cx="320040" cy="0"/>
          </a:xfrm>
          <a:prstGeom prst="line">
            <a:avLst/>
          </a:prstGeom>
          <a:noFill/>
          <a:ln w="15875">
            <a:solidFill>
              <a:schemeClr val="tx2"/>
            </a:solidFill>
            <a:prstDash val="solid"/>
            <a:tailEnd type="triangle"/>
          </a:ln>
        </p:spPr>
      </p:sp>
      <p:sp>
        <p:nvSpPr>
          <p:cNvPr id="42" name="arrow-622"/>
          <p:cNvSpPr/>
          <p:nvPr/>
        </p:nvSpPr>
        <p:spPr>
          <a:xfrm>
            <a:off x="8823960" y="4151376"/>
            <a:ext cx="320040" cy="0"/>
          </a:xfrm>
          <a:prstGeom prst="line">
            <a:avLst/>
          </a:prstGeom>
          <a:noFill/>
          <a:ln w="15875">
            <a:solidFill>
              <a:schemeClr val="tx2"/>
            </a:solidFill>
            <a:prstDash val="solid"/>
            <a:tailEnd type="triangle"/>
          </a:ln>
        </p:spPr>
      </p:sp>
      <p:sp>
        <p:nvSpPr>
          <p:cNvPr id="43" name="marker-623"/>
          <p:cNvSpPr/>
          <p:nvPr/>
        </p:nvSpPr>
        <p:spPr>
          <a:xfrm>
            <a:off x="502920" y="4892040"/>
            <a:ext cx="329184" cy="329184"/>
          </a:xfrm>
          <a:prstGeom prst="ellipse">
            <a:avLst/>
          </a:prstGeom>
          <a:solidFill>
            <a:schemeClr val="accent2"/>
          </a:solidFill>
          <a:ln w="12700">
            <a:solidFill>
              <a:schemeClr val="accent2"/>
            </a:solidFill>
            <a:prstDash val="solid"/>
          </a:ln>
        </p:spPr>
      </p:sp>
      <p:sp>
        <p:nvSpPr>
          <p:cNvPr id="44" name="marker-n-624"/>
          <p:cNvSpPr txBox="1"/>
          <p:nvPr/>
        </p:nvSpPr>
        <p:spPr>
          <a:xfrm>
            <a:off x="502920" y="489204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45" name="callout-625"/>
          <p:cNvSpPr txBox="1"/>
          <p:nvPr/>
        </p:nvSpPr>
        <p:spPr>
          <a:xfrm>
            <a:off x="960120" y="4873752"/>
            <a:ext cx="5029200" cy="533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Grant to groups, never people</a:t>
            </a:r>
            <a:endParaRPr lang="en-US" sz="1500" dirty="0"/>
          </a:p>
          <a:p>
            <a:pPr indent="0" marL="0">
              <a:spcAft>
                <a:spcPts val="200"/>
              </a:spcAft>
              <a:buNone/>
            </a:pPr>
            <a:r>
              <a:rPr lang="en-US" sz="1400" dirty="0">
                <a:solidFill>
                  <a:schemeClr val="tx1"/>
                </a:solidFill>
              </a:rPr>
              <a:t>Onboarding or offboarding is a group membership change.</a:t>
            </a:r>
            <a:endParaRPr lang="en-US" sz="1500" dirty="0"/>
          </a:p>
        </p:txBody>
      </p:sp>
      <p:sp>
        <p:nvSpPr>
          <p:cNvPr id="46" name="marker-626"/>
          <p:cNvSpPr/>
          <p:nvPr/>
        </p:nvSpPr>
        <p:spPr>
          <a:xfrm>
            <a:off x="6263640" y="4892040"/>
            <a:ext cx="329184" cy="329184"/>
          </a:xfrm>
          <a:prstGeom prst="ellipse">
            <a:avLst/>
          </a:prstGeom>
          <a:solidFill>
            <a:schemeClr val="accent2"/>
          </a:solidFill>
          <a:ln w="12700">
            <a:solidFill>
              <a:schemeClr val="accent2"/>
            </a:solidFill>
            <a:prstDash val="solid"/>
          </a:ln>
        </p:spPr>
      </p:sp>
      <p:sp>
        <p:nvSpPr>
          <p:cNvPr id="47" name="marker-n-627"/>
          <p:cNvSpPr txBox="1"/>
          <p:nvPr/>
        </p:nvSpPr>
        <p:spPr>
          <a:xfrm>
            <a:off x="6263640" y="489204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48" name="callout-628"/>
          <p:cNvSpPr txBox="1"/>
          <p:nvPr/>
        </p:nvSpPr>
        <p:spPr>
          <a:xfrm>
            <a:off x="6720840" y="4873752"/>
            <a:ext cx="50292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 permission set becomes a role</a:t>
            </a:r>
            <a:endParaRPr lang="en-US" sz="1500" dirty="0"/>
          </a:p>
          <a:p>
            <a:pPr indent="0" marL="0">
              <a:spcAft>
                <a:spcPts val="200"/>
              </a:spcAft>
              <a:buNone/>
            </a:pPr>
            <a:r>
              <a:rPr lang="en-US" sz="1400" dirty="0">
                <a:solidFill>
                  <a:schemeClr val="tx1"/>
                </a:solidFill>
              </a:rPr>
              <a:t>Identity Center creates a matching IAM role in each assigned account.</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Permission sets from a map</a:t>
            </a:r>
            <a:endParaRPr lang="en-US" sz="3400" dirty="0"/>
          </a:p>
        </p:txBody>
      </p:sp>
      <p:sp>
        <p:nvSpPr>
          <p:cNvPr id="3" name="code-label-629"/>
          <p:cNvSpPr txBox="1"/>
          <p:nvPr/>
        </p:nvSpPr>
        <p:spPr>
          <a:xfrm>
            <a:off x="868680" y="1280160"/>
            <a:ext cx="6766560" cy="274320"/>
          </a:xfrm>
          <a:prstGeom prst="rect">
            <a:avLst/>
          </a:prstGeom>
          <a:noFill/>
          <a:ln/>
        </p:spPr>
        <p:txBody>
          <a:bodyPr wrap="square" lIns="0" tIns="0" rIns="0" bIns="0" rtlCol="0" anchor="ctr"/>
          <a:lstStyle/>
          <a:p>
            <a:pPr indent="0" marL="0">
              <a:buNone/>
            </a:pPr>
            <a:r>
              <a:rPr lang="en-US" sz="1100" b="1" dirty="0">
                <a:solidFill>
                  <a:schemeClr val="tx2"/>
                </a:solidFill>
              </a:rPr>
              <a:t>layers/02-identity/main.tf</a:t>
            </a:r>
            <a:endParaRPr lang="en-US" sz="1100" dirty="0"/>
          </a:p>
        </p:txBody>
      </p:sp>
      <p:sp>
        <p:nvSpPr>
          <p:cNvPr id="4" name="code-bg-630"/>
          <p:cNvSpPr/>
          <p:nvPr/>
        </p:nvSpPr>
        <p:spPr>
          <a:xfrm>
            <a:off x="868680" y="1572768"/>
            <a:ext cx="6766560" cy="4774184"/>
          </a:xfrm>
          <a:prstGeom prst="roundRect">
            <a:avLst>
              <a:gd name="adj" fmla="val 1532"/>
            </a:avLst>
          </a:prstGeom>
          <a:solidFill>
            <a:schemeClr val="tx1"/>
          </a:solidFill>
          <a:ln w="12700">
            <a:solidFill>
              <a:schemeClr val="tx1"/>
            </a:solidFill>
            <a:prstDash val="solid"/>
          </a:ln>
        </p:spPr>
      </p:sp>
      <p:sp>
        <p:nvSpPr>
          <p:cNvPr id="5" name="code-631"/>
          <p:cNvSpPr txBox="1"/>
          <p:nvPr/>
        </p:nvSpPr>
        <p:spPr>
          <a:xfrm>
            <a:off x="1051560" y="1737360"/>
            <a:ext cx="6446520" cy="4463288"/>
          </a:xfrm>
          <a:prstGeom prst="rect">
            <a:avLst/>
          </a:prstGeom>
          <a:noFill/>
          <a:ln/>
        </p:spPr>
        <p:txBody>
          <a:bodyPr wrap="square" lIns="0" tIns="0" rIns="0" bIns="0" rtlCol="0" anchor="t"/>
          <a:lstStyle/>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data</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"aws_ssoadmin_instances"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"this"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locals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instance_arn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tolist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data</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aws_ssoadmin_instances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this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arns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)[0]</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permission_sets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PlatformAdmin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session_duration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"PT1H"</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managed_policies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"arn:aws:iam::aws:policy/AdministratorAccess"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Developer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session_duration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"PT4H"</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managed_policies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"arn:aws:iam::aws:policy/PowerUserAccess"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"aws_ssoadmin_permission_set"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"this"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for_each</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local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permission_sets</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name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each</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key</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instance_arn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local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instance_arn</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session_duration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each</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value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session_duration</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6" name="marker-632"/>
          <p:cNvSpPr/>
          <p:nvPr/>
        </p:nvSpPr>
        <p:spPr>
          <a:xfrm>
            <a:off x="484632" y="1679956"/>
            <a:ext cx="292608" cy="292608"/>
          </a:xfrm>
          <a:prstGeom prst="ellipse">
            <a:avLst/>
          </a:prstGeom>
          <a:solidFill>
            <a:schemeClr val="accent2"/>
          </a:solidFill>
          <a:ln w="12700">
            <a:solidFill>
              <a:schemeClr val="accent2"/>
            </a:solidFill>
            <a:prstDash val="solid"/>
          </a:ln>
        </p:spPr>
      </p:sp>
      <p:sp>
        <p:nvSpPr>
          <p:cNvPr id="7" name="marker-n-633"/>
          <p:cNvSpPr txBox="1"/>
          <p:nvPr/>
        </p:nvSpPr>
        <p:spPr>
          <a:xfrm>
            <a:off x="484632" y="16799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634"/>
          <p:cNvSpPr/>
          <p:nvPr/>
        </p:nvSpPr>
        <p:spPr>
          <a:xfrm>
            <a:off x="484632" y="2213356"/>
            <a:ext cx="292608" cy="292608"/>
          </a:xfrm>
          <a:prstGeom prst="ellipse">
            <a:avLst/>
          </a:prstGeom>
          <a:solidFill>
            <a:schemeClr val="accent2"/>
          </a:solidFill>
          <a:ln w="12700">
            <a:solidFill>
              <a:schemeClr val="accent2"/>
            </a:solidFill>
            <a:prstDash val="solid"/>
          </a:ln>
        </p:spPr>
      </p:sp>
      <p:sp>
        <p:nvSpPr>
          <p:cNvPr id="9" name="marker-n-635"/>
          <p:cNvSpPr txBox="1"/>
          <p:nvPr/>
        </p:nvSpPr>
        <p:spPr>
          <a:xfrm>
            <a:off x="484632" y="22133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636"/>
          <p:cNvSpPr/>
          <p:nvPr/>
        </p:nvSpPr>
        <p:spPr>
          <a:xfrm>
            <a:off x="484632" y="2924556"/>
            <a:ext cx="292608" cy="292608"/>
          </a:xfrm>
          <a:prstGeom prst="ellipse">
            <a:avLst/>
          </a:prstGeom>
          <a:solidFill>
            <a:schemeClr val="accent2"/>
          </a:solidFill>
          <a:ln w="12700">
            <a:solidFill>
              <a:schemeClr val="accent2"/>
            </a:solidFill>
            <a:prstDash val="solid"/>
          </a:ln>
        </p:spPr>
      </p:sp>
      <p:sp>
        <p:nvSpPr>
          <p:cNvPr id="11" name="marker-n-637"/>
          <p:cNvSpPr txBox="1"/>
          <p:nvPr/>
        </p:nvSpPr>
        <p:spPr>
          <a:xfrm>
            <a:off x="484632" y="29245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638"/>
          <p:cNvSpPr/>
          <p:nvPr/>
        </p:nvSpPr>
        <p:spPr>
          <a:xfrm>
            <a:off x="484632" y="5413756"/>
            <a:ext cx="292608" cy="292608"/>
          </a:xfrm>
          <a:prstGeom prst="ellipse">
            <a:avLst/>
          </a:prstGeom>
          <a:solidFill>
            <a:schemeClr val="accent2"/>
          </a:solidFill>
          <a:ln w="12700">
            <a:solidFill>
              <a:schemeClr val="accent2"/>
            </a:solidFill>
            <a:prstDash val="solid"/>
          </a:ln>
        </p:spPr>
      </p:sp>
      <p:sp>
        <p:nvSpPr>
          <p:cNvPr id="13" name="marker-n-639"/>
          <p:cNvSpPr txBox="1"/>
          <p:nvPr/>
        </p:nvSpPr>
        <p:spPr>
          <a:xfrm>
            <a:off x="484632" y="54137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14" name="marker-640"/>
          <p:cNvSpPr/>
          <p:nvPr/>
        </p:nvSpPr>
        <p:spPr>
          <a:xfrm>
            <a:off x="8001000" y="1325880"/>
            <a:ext cx="329184" cy="329184"/>
          </a:xfrm>
          <a:prstGeom prst="ellipse">
            <a:avLst/>
          </a:prstGeom>
          <a:solidFill>
            <a:schemeClr val="accent2"/>
          </a:solidFill>
          <a:ln w="12700">
            <a:solidFill>
              <a:schemeClr val="accent2"/>
            </a:solidFill>
            <a:prstDash val="solid"/>
          </a:ln>
        </p:spPr>
      </p:sp>
      <p:sp>
        <p:nvSpPr>
          <p:cNvPr id="15" name="marker-n-641"/>
          <p:cNvSpPr txBox="1"/>
          <p:nvPr/>
        </p:nvSpPr>
        <p:spPr>
          <a:xfrm>
            <a:off x="800100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6" name="callout-642"/>
          <p:cNvSpPr txBox="1"/>
          <p:nvPr/>
        </p:nvSpPr>
        <p:spPr>
          <a:xfrm>
            <a:off x="8458200" y="1307592"/>
            <a:ext cx="324612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Find the existing instance</a:t>
            </a:r>
            <a:endParaRPr lang="en-US" sz="1500" dirty="0"/>
          </a:p>
          <a:p>
            <a:pPr indent="0" marL="0">
              <a:spcAft>
                <a:spcPts val="200"/>
              </a:spcAft>
              <a:buNone/>
            </a:pPr>
            <a:r>
              <a:rPr lang="en-US" sz="1400" dirty="0">
                <a:solidFill>
                  <a:schemeClr val="tx1"/>
                </a:solidFill>
              </a:rPr>
              <a:t>Identity Center was turned on in the console, so Terraform looks it up.</a:t>
            </a:r>
            <a:endParaRPr lang="en-US" sz="1500" dirty="0"/>
          </a:p>
        </p:txBody>
      </p:sp>
      <p:sp>
        <p:nvSpPr>
          <p:cNvPr id="17" name="marker-643"/>
          <p:cNvSpPr/>
          <p:nvPr/>
        </p:nvSpPr>
        <p:spPr>
          <a:xfrm>
            <a:off x="8001000" y="2255520"/>
            <a:ext cx="329184" cy="329184"/>
          </a:xfrm>
          <a:prstGeom prst="ellipse">
            <a:avLst/>
          </a:prstGeom>
          <a:solidFill>
            <a:schemeClr val="accent2"/>
          </a:solidFill>
          <a:ln w="12700">
            <a:solidFill>
              <a:schemeClr val="accent2"/>
            </a:solidFill>
            <a:prstDash val="solid"/>
          </a:ln>
        </p:spPr>
      </p:sp>
      <p:sp>
        <p:nvSpPr>
          <p:cNvPr id="18" name="marker-n-644"/>
          <p:cNvSpPr txBox="1"/>
          <p:nvPr/>
        </p:nvSpPr>
        <p:spPr>
          <a:xfrm>
            <a:off x="8001000" y="2255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9" name="callout-645"/>
          <p:cNvSpPr txBox="1"/>
          <p:nvPr/>
        </p:nvSpPr>
        <p:spPr>
          <a:xfrm>
            <a:off x="8458200" y="2237232"/>
            <a:ext cx="324612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tolist(...)[0]</a:t>
            </a:r>
            <a:endParaRPr lang="en-US" sz="1500" dirty="0"/>
          </a:p>
          <a:p>
            <a:pPr indent="0" marL="0">
              <a:spcAft>
                <a:spcPts val="200"/>
              </a:spcAft>
              <a:buNone/>
            </a:pPr>
            <a:r>
              <a:rPr lang="en-US" sz="1400" dirty="0">
                <a:solidFill>
                  <a:schemeClr val="tx1"/>
                </a:solidFill>
              </a:rPr>
              <a:t>A set has no order, so convert it to a list before indexing.</a:t>
            </a:r>
            <a:endParaRPr lang="en-US" sz="1500" dirty="0"/>
          </a:p>
        </p:txBody>
      </p:sp>
      <p:sp>
        <p:nvSpPr>
          <p:cNvPr id="20" name="marker-646"/>
          <p:cNvSpPr/>
          <p:nvPr/>
        </p:nvSpPr>
        <p:spPr>
          <a:xfrm>
            <a:off x="8001000" y="3185160"/>
            <a:ext cx="329184" cy="329184"/>
          </a:xfrm>
          <a:prstGeom prst="ellipse">
            <a:avLst/>
          </a:prstGeom>
          <a:solidFill>
            <a:schemeClr val="accent2"/>
          </a:solidFill>
          <a:ln w="12700">
            <a:solidFill>
              <a:schemeClr val="accent2"/>
            </a:solidFill>
            <a:prstDash val="solid"/>
          </a:ln>
        </p:spPr>
      </p:sp>
      <p:sp>
        <p:nvSpPr>
          <p:cNvPr id="21" name="marker-n-647"/>
          <p:cNvSpPr txBox="1"/>
          <p:nvPr/>
        </p:nvSpPr>
        <p:spPr>
          <a:xfrm>
            <a:off x="8001000" y="318516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2" name="callout-648"/>
          <p:cNvSpPr txBox="1"/>
          <p:nvPr/>
        </p:nvSpPr>
        <p:spPr>
          <a:xfrm>
            <a:off x="8458200" y="3166872"/>
            <a:ext cx="324612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ISO 8601 durations</a:t>
            </a:r>
            <a:endParaRPr lang="en-US" sz="1500" dirty="0"/>
          </a:p>
          <a:p>
            <a:pPr indent="0" marL="0">
              <a:spcAft>
                <a:spcPts val="200"/>
              </a:spcAft>
              <a:buNone/>
            </a:pPr>
            <a:r>
              <a:rPr lang="en-US" sz="1400" dirty="0">
                <a:solidFill>
                  <a:schemeClr val="tx1"/>
                </a:solidFill>
              </a:rPr>
              <a:t>PT1H is one hour. Admin sessions are the shortest on purpose.</a:t>
            </a:r>
            <a:endParaRPr lang="en-US" sz="1500" dirty="0"/>
          </a:p>
        </p:txBody>
      </p:sp>
      <p:sp>
        <p:nvSpPr>
          <p:cNvPr id="23" name="marker-649"/>
          <p:cNvSpPr/>
          <p:nvPr/>
        </p:nvSpPr>
        <p:spPr>
          <a:xfrm>
            <a:off x="8001000" y="4114800"/>
            <a:ext cx="329184" cy="329184"/>
          </a:xfrm>
          <a:prstGeom prst="ellipse">
            <a:avLst/>
          </a:prstGeom>
          <a:solidFill>
            <a:schemeClr val="accent2"/>
          </a:solidFill>
          <a:ln w="12700">
            <a:solidFill>
              <a:schemeClr val="accent2"/>
            </a:solidFill>
            <a:prstDash val="solid"/>
          </a:ln>
        </p:spPr>
      </p:sp>
      <p:sp>
        <p:nvSpPr>
          <p:cNvPr id="24" name="marker-n-650"/>
          <p:cNvSpPr txBox="1"/>
          <p:nvPr/>
        </p:nvSpPr>
        <p:spPr>
          <a:xfrm>
            <a:off x="8001000" y="411480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5" name="callout-651"/>
          <p:cNvSpPr txBox="1"/>
          <p:nvPr/>
        </p:nvSpPr>
        <p:spPr>
          <a:xfrm>
            <a:off x="8458200" y="4096512"/>
            <a:ext cx="324612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each.key as a name</a:t>
            </a:r>
            <a:endParaRPr lang="en-US" sz="1500" dirty="0"/>
          </a:p>
          <a:p>
            <a:pPr indent="0" marL="0">
              <a:spcAft>
                <a:spcPts val="200"/>
              </a:spcAft>
              <a:buNone/>
            </a:pPr>
            <a:r>
              <a:rPr lang="en-US" sz="1400" dirty="0">
                <a:solidFill>
                  <a:schemeClr val="tx1"/>
                </a:solidFill>
              </a:rPr>
              <a:t>The map key becomes the role name users see at sign-in.</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Flattening nested data for for_each</a:t>
            </a:r>
            <a:endParaRPr lang="en-US" sz="3400" dirty="0"/>
          </a:p>
        </p:txBody>
      </p:sp>
      <p:sp>
        <p:nvSpPr>
          <p:cNvPr id="3" name="code-label-652"/>
          <p:cNvSpPr txBox="1"/>
          <p:nvPr/>
        </p:nvSpPr>
        <p:spPr>
          <a:xfrm>
            <a:off x="868680" y="1280160"/>
            <a:ext cx="6309360" cy="274320"/>
          </a:xfrm>
          <a:prstGeom prst="rect">
            <a:avLst/>
          </a:prstGeom>
          <a:noFill/>
          <a:ln/>
        </p:spPr>
        <p:txBody>
          <a:bodyPr wrap="square" lIns="0" tIns="0" rIns="0" bIns="0" rtlCol="0" anchor="ctr"/>
          <a:lstStyle/>
          <a:p>
            <a:pPr indent="0" marL="0">
              <a:buNone/>
            </a:pPr>
            <a:r>
              <a:rPr lang="en-US" sz="1100" b="1" dirty="0">
                <a:solidFill>
                  <a:schemeClr val="tx2"/>
                </a:solidFill>
              </a:rPr>
              <a:t>layers/02-identity/main.tf</a:t>
            </a:r>
            <a:endParaRPr lang="en-US" sz="1100" dirty="0"/>
          </a:p>
        </p:txBody>
      </p:sp>
      <p:sp>
        <p:nvSpPr>
          <p:cNvPr id="4" name="code-bg-653"/>
          <p:cNvSpPr/>
          <p:nvPr/>
        </p:nvSpPr>
        <p:spPr>
          <a:xfrm>
            <a:off x="868680" y="1572768"/>
            <a:ext cx="6309360" cy="2043684"/>
          </a:xfrm>
          <a:prstGeom prst="roundRect">
            <a:avLst>
              <a:gd name="adj" fmla="val 3579"/>
            </a:avLst>
          </a:prstGeom>
          <a:solidFill>
            <a:schemeClr val="tx1"/>
          </a:solidFill>
          <a:ln w="12700">
            <a:solidFill>
              <a:schemeClr val="tx1"/>
            </a:solidFill>
            <a:prstDash val="solid"/>
          </a:ln>
        </p:spPr>
      </p:sp>
      <p:sp>
        <p:nvSpPr>
          <p:cNvPr id="5" name="code-654"/>
          <p:cNvSpPr txBox="1"/>
          <p:nvPr/>
        </p:nvSpPr>
        <p:spPr>
          <a:xfrm>
            <a:off x="1051560" y="1737360"/>
            <a:ext cx="5989320" cy="1732788"/>
          </a:xfrm>
          <a:prstGeom prst="rect">
            <a:avLst/>
          </a:prstGeom>
          <a:noFill/>
          <a:ln/>
        </p:spPr>
        <p:txBody>
          <a:bodyPr wrap="square" lIns="0" tIns="0" rIns="0" bIns="0" rtlCol="0" anchor="t"/>
          <a:lstStyle/>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policy_attachments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merge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for</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ps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cfg</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in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local</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permission_sets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for</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arn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in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cfg</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managed_policies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"${ps}|${arn}"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=&gt;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permission_set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ps</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policy_arn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arn</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p:txBody>
      </p:sp>
      <p:sp>
        <p:nvSpPr>
          <p:cNvPr id="6" name="marker-655"/>
          <p:cNvSpPr/>
          <p:nvPr/>
        </p:nvSpPr>
        <p:spPr>
          <a:xfrm>
            <a:off x="484632" y="1876806"/>
            <a:ext cx="292608" cy="292608"/>
          </a:xfrm>
          <a:prstGeom prst="ellipse">
            <a:avLst/>
          </a:prstGeom>
          <a:solidFill>
            <a:schemeClr val="accent2"/>
          </a:solidFill>
          <a:ln w="12700">
            <a:solidFill>
              <a:schemeClr val="accent2"/>
            </a:solidFill>
            <a:prstDash val="solid"/>
          </a:ln>
        </p:spPr>
      </p:sp>
      <p:sp>
        <p:nvSpPr>
          <p:cNvPr id="7" name="marker-n-656"/>
          <p:cNvSpPr txBox="1"/>
          <p:nvPr/>
        </p:nvSpPr>
        <p:spPr>
          <a:xfrm>
            <a:off x="484632" y="1876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657"/>
          <p:cNvSpPr/>
          <p:nvPr/>
        </p:nvSpPr>
        <p:spPr>
          <a:xfrm>
            <a:off x="484632" y="2257806"/>
            <a:ext cx="292608" cy="292608"/>
          </a:xfrm>
          <a:prstGeom prst="ellipse">
            <a:avLst/>
          </a:prstGeom>
          <a:solidFill>
            <a:schemeClr val="accent2"/>
          </a:solidFill>
          <a:ln w="12700">
            <a:solidFill>
              <a:schemeClr val="accent2"/>
            </a:solidFill>
            <a:prstDash val="solid"/>
          </a:ln>
        </p:spPr>
      </p:sp>
      <p:sp>
        <p:nvSpPr>
          <p:cNvPr id="9" name="marker-n-658"/>
          <p:cNvSpPr txBox="1"/>
          <p:nvPr/>
        </p:nvSpPr>
        <p:spPr>
          <a:xfrm>
            <a:off x="484632" y="2257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659"/>
          <p:cNvSpPr/>
          <p:nvPr/>
        </p:nvSpPr>
        <p:spPr>
          <a:xfrm>
            <a:off x="484632" y="3210306"/>
            <a:ext cx="292608" cy="292608"/>
          </a:xfrm>
          <a:prstGeom prst="ellipse">
            <a:avLst/>
          </a:prstGeom>
          <a:solidFill>
            <a:schemeClr val="accent2"/>
          </a:solidFill>
          <a:ln w="12700">
            <a:solidFill>
              <a:schemeClr val="accent2"/>
            </a:solidFill>
            <a:prstDash val="solid"/>
          </a:ln>
        </p:spPr>
      </p:sp>
      <p:sp>
        <p:nvSpPr>
          <p:cNvPr id="11" name="marker-n-660"/>
          <p:cNvSpPr txBox="1"/>
          <p:nvPr/>
        </p:nvSpPr>
        <p:spPr>
          <a:xfrm>
            <a:off x="484632" y="32103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661"/>
          <p:cNvSpPr/>
          <p:nvPr/>
        </p:nvSpPr>
        <p:spPr>
          <a:xfrm>
            <a:off x="7543800" y="1325880"/>
            <a:ext cx="329184" cy="329184"/>
          </a:xfrm>
          <a:prstGeom prst="ellipse">
            <a:avLst/>
          </a:prstGeom>
          <a:solidFill>
            <a:schemeClr val="accent2"/>
          </a:solidFill>
          <a:ln w="12700">
            <a:solidFill>
              <a:schemeClr val="accent2"/>
            </a:solidFill>
            <a:prstDash val="solid"/>
          </a:ln>
        </p:spPr>
      </p:sp>
      <p:sp>
        <p:nvSpPr>
          <p:cNvPr id="13" name="marker-n-662"/>
          <p:cNvSpPr txBox="1"/>
          <p:nvPr/>
        </p:nvSpPr>
        <p:spPr>
          <a:xfrm>
            <a:off x="754380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4" name="callout-663"/>
          <p:cNvSpPr txBox="1"/>
          <p:nvPr/>
        </p:nvSpPr>
        <p:spPr>
          <a:xfrm>
            <a:off x="8001000" y="1307592"/>
            <a:ext cx="370332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Outer loop over a map</a:t>
            </a:r>
            <a:endParaRPr lang="en-US" sz="1500" dirty="0"/>
          </a:p>
          <a:p>
            <a:pPr indent="0" marL="0">
              <a:spcAft>
                <a:spcPts val="200"/>
              </a:spcAft>
              <a:buNone/>
            </a:pPr>
            <a:r>
              <a:rPr lang="en-US" sz="1400" dirty="0">
                <a:solidFill>
                  <a:schemeClr val="tx1"/>
                </a:solidFill>
              </a:rPr>
              <a:t>ps is the key, cfg is the value, like for k, v in d.items().</a:t>
            </a:r>
            <a:endParaRPr lang="en-US" sz="1500" dirty="0"/>
          </a:p>
        </p:txBody>
      </p:sp>
      <p:sp>
        <p:nvSpPr>
          <p:cNvPr id="15" name="marker-664"/>
          <p:cNvSpPr/>
          <p:nvPr/>
        </p:nvSpPr>
        <p:spPr>
          <a:xfrm>
            <a:off x="7543800" y="2255520"/>
            <a:ext cx="329184" cy="329184"/>
          </a:xfrm>
          <a:prstGeom prst="ellipse">
            <a:avLst/>
          </a:prstGeom>
          <a:solidFill>
            <a:schemeClr val="accent2"/>
          </a:solidFill>
          <a:ln w="12700">
            <a:solidFill>
              <a:schemeClr val="accent2"/>
            </a:solidFill>
            <a:prstDash val="solid"/>
          </a:ln>
        </p:spPr>
      </p:sp>
      <p:sp>
        <p:nvSpPr>
          <p:cNvPr id="16" name="marker-n-665"/>
          <p:cNvSpPr txBox="1"/>
          <p:nvPr/>
        </p:nvSpPr>
        <p:spPr>
          <a:xfrm>
            <a:off x="7543800" y="2255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7" name="callout-666"/>
          <p:cNvSpPr txBox="1"/>
          <p:nvPr/>
        </p:nvSpPr>
        <p:spPr>
          <a:xfrm>
            <a:off x="8001000" y="2237232"/>
            <a:ext cx="370332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Inner loop builds a map</a:t>
            </a:r>
            <a:endParaRPr lang="en-US" sz="1500" dirty="0"/>
          </a:p>
          <a:p>
            <a:pPr indent="0" marL="0">
              <a:spcAft>
                <a:spcPts val="200"/>
              </a:spcAft>
              <a:buNone/>
            </a:pPr>
            <a:r>
              <a:rPr lang="en-US" sz="1400" dirty="0">
                <a:solidFill>
                  <a:schemeClr val="tx1"/>
                </a:solidFill>
              </a:rPr>
              <a:t>One entry per policy, with a unique combined key.</a:t>
            </a:r>
            <a:endParaRPr lang="en-US" sz="1500" dirty="0"/>
          </a:p>
        </p:txBody>
      </p:sp>
      <p:sp>
        <p:nvSpPr>
          <p:cNvPr id="18" name="marker-667"/>
          <p:cNvSpPr/>
          <p:nvPr/>
        </p:nvSpPr>
        <p:spPr>
          <a:xfrm>
            <a:off x="7543800" y="3185160"/>
            <a:ext cx="329184" cy="329184"/>
          </a:xfrm>
          <a:prstGeom prst="ellipse">
            <a:avLst/>
          </a:prstGeom>
          <a:solidFill>
            <a:schemeClr val="accent2"/>
          </a:solidFill>
          <a:ln w="12700">
            <a:solidFill>
              <a:schemeClr val="accent2"/>
            </a:solidFill>
            <a:prstDash val="solid"/>
          </a:ln>
        </p:spPr>
      </p:sp>
      <p:sp>
        <p:nvSpPr>
          <p:cNvPr id="19" name="marker-n-668"/>
          <p:cNvSpPr txBox="1"/>
          <p:nvPr/>
        </p:nvSpPr>
        <p:spPr>
          <a:xfrm>
            <a:off x="7543800" y="318516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0" name="callout-669"/>
          <p:cNvSpPr txBox="1"/>
          <p:nvPr/>
        </p:nvSpPr>
        <p:spPr>
          <a:xfrm>
            <a:off x="8001000" y="3166872"/>
            <a:ext cx="370332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The ... spread</a:t>
            </a:r>
            <a:endParaRPr lang="en-US" sz="1500" dirty="0"/>
          </a:p>
          <a:p>
            <a:pPr indent="0" marL="0">
              <a:spcAft>
                <a:spcPts val="200"/>
              </a:spcAft>
              <a:buNone/>
            </a:pPr>
            <a:r>
              <a:rPr lang="en-US" sz="1400" dirty="0">
                <a:solidFill>
                  <a:schemeClr val="tx1"/>
                </a:solidFill>
              </a:rPr>
              <a:t>Passes the list of maps as separate arguments to merge, like *args.</a:t>
            </a:r>
            <a:endParaRPr lang="en-US" sz="1500" dirty="0"/>
          </a:p>
        </p:txBody>
      </p:sp>
      <p:sp>
        <p:nvSpPr>
          <p:cNvPr id="21" name="text-670"/>
          <p:cNvSpPr txBox="1"/>
          <p:nvPr/>
        </p:nvSpPr>
        <p:spPr>
          <a:xfrm>
            <a:off x="868680" y="3886200"/>
            <a:ext cx="2743200" cy="274320"/>
          </a:xfrm>
          <a:prstGeom prst="rect">
            <a:avLst/>
          </a:prstGeom>
          <a:noFill/>
          <a:ln/>
        </p:spPr>
        <p:txBody>
          <a:bodyPr wrap="square" lIns="0" tIns="0" rIns="0" bIns="0" rtlCol="0" anchor="t"/>
          <a:lstStyle/>
          <a:p>
            <a:pPr indent="0" marL="0">
              <a:buNone/>
            </a:pPr>
            <a:r>
              <a:rPr lang="en-US" sz="1300" b="1" dirty="0">
                <a:solidFill>
                  <a:schemeClr val="tx2"/>
                </a:solidFill>
              </a:rPr>
              <a:t>Input</a:t>
            </a:r>
            <a:endParaRPr lang="en-US" sz="1300" dirty="0"/>
          </a:p>
        </p:txBody>
      </p:sp>
      <p:sp>
        <p:nvSpPr>
          <p:cNvPr id="22" name="code-bg-671"/>
          <p:cNvSpPr/>
          <p:nvPr/>
        </p:nvSpPr>
        <p:spPr>
          <a:xfrm>
            <a:off x="868680" y="4206240"/>
            <a:ext cx="2926080" cy="1154684"/>
          </a:xfrm>
          <a:prstGeom prst="roundRect">
            <a:avLst>
              <a:gd name="adj" fmla="val 6335"/>
            </a:avLst>
          </a:prstGeom>
          <a:solidFill>
            <a:schemeClr val="tx1"/>
          </a:solidFill>
          <a:ln w="12700">
            <a:solidFill>
              <a:schemeClr val="tx1"/>
            </a:solidFill>
            <a:prstDash val="solid"/>
          </a:ln>
        </p:spPr>
      </p:sp>
      <p:sp>
        <p:nvSpPr>
          <p:cNvPr id="23" name="code-672"/>
          <p:cNvSpPr txBox="1"/>
          <p:nvPr/>
        </p:nvSpPr>
        <p:spPr>
          <a:xfrm>
            <a:off x="1051560" y="4370832"/>
            <a:ext cx="2606040" cy="843788"/>
          </a:xfrm>
          <a:prstGeom prst="rect">
            <a:avLst/>
          </a:prstGeom>
          <a:noFill/>
          <a:ln/>
        </p:spPr>
        <p:txBody>
          <a:bodyPr wrap="square" lIns="0" tIns="0" rIns="0" bIns="0" rtlCol="0" anchor="t"/>
          <a:lstStyle/>
          <a:p>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SecurityAudit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endParaRPr lang="en-US" sz="1000" dirty="0"/>
          </a:p>
          <a:p>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managed_policies</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endParaRPr lang="en-US" sz="1000" dirty="0"/>
          </a:p>
          <a:p>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accent6"/>
                </a:solidFill>
                <a:latin typeface="Courier New" pitchFamily="34" charset="0"/>
                <a:ea typeface="Courier New" pitchFamily="34" charset="-122"/>
                <a:cs typeface="Courier New" pitchFamily="34" charset="-120"/>
              </a:rPr>
              <a:t>"SecurityAudit"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endParaRPr lang="en-US" sz="1000" dirty="0"/>
          </a:p>
          <a:p>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accent6"/>
                </a:solidFill>
                <a:latin typeface="Courier New" pitchFamily="34" charset="0"/>
                <a:ea typeface="Courier New" pitchFamily="34" charset="-122"/>
                <a:cs typeface="Courier New" pitchFamily="34" charset="-120"/>
              </a:rPr>
              <a:t>"ViewOnlyAccess"</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endParaRPr lang="en-US" sz="1000" dirty="0"/>
          </a:p>
          <a:p>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endParaRPr lang="en-US" sz="1000" dirty="0"/>
          </a:p>
        </p:txBody>
      </p:sp>
      <p:sp>
        <p:nvSpPr>
          <p:cNvPr id="24" name="arrow-673"/>
          <p:cNvSpPr/>
          <p:nvPr/>
        </p:nvSpPr>
        <p:spPr>
          <a:xfrm>
            <a:off x="3886200" y="4800600"/>
            <a:ext cx="457200" cy="0"/>
          </a:xfrm>
          <a:prstGeom prst="line">
            <a:avLst/>
          </a:prstGeom>
          <a:noFill/>
          <a:ln w="31750">
            <a:solidFill>
              <a:schemeClr val="accent2"/>
            </a:solidFill>
            <a:prstDash val="solid"/>
            <a:tailEnd type="triangle"/>
          </a:ln>
        </p:spPr>
      </p:sp>
      <p:sp>
        <p:nvSpPr>
          <p:cNvPr id="25" name="text-674"/>
          <p:cNvSpPr txBox="1"/>
          <p:nvPr/>
        </p:nvSpPr>
        <p:spPr>
          <a:xfrm>
            <a:off x="4434840" y="3886200"/>
            <a:ext cx="3200400" cy="274320"/>
          </a:xfrm>
          <a:prstGeom prst="rect">
            <a:avLst/>
          </a:prstGeom>
          <a:noFill/>
          <a:ln/>
        </p:spPr>
        <p:txBody>
          <a:bodyPr wrap="square" lIns="0" tIns="0" rIns="0" bIns="0" rtlCol="0" anchor="t"/>
          <a:lstStyle/>
          <a:p>
            <a:pPr indent="0" marL="0">
              <a:buNone/>
            </a:pPr>
            <a:r>
              <a:rPr lang="en-US" sz="1300" b="1" dirty="0">
                <a:solidFill>
                  <a:schemeClr val="tx2"/>
                </a:solidFill>
              </a:rPr>
              <a:t>Output: one item per pair</a:t>
            </a:r>
            <a:endParaRPr lang="en-US" sz="1300" dirty="0"/>
          </a:p>
        </p:txBody>
      </p:sp>
      <p:sp>
        <p:nvSpPr>
          <p:cNvPr id="26" name="code-bg-675"/>
          <p:cNvSpPr/>
          <p:nvPr/>
        </p:nvSpPr>
        <p:spPr>
          <a:xfrm>
            <a:off x="4434840" y="4206240"/>
            <a:ext cx="2743200" cy="659384"/>
          </a:xfrm>
          <a:prstGeom prst="roundRect">
            <a:avLst>
              <a:gd name="adj" fmla="val 11094"/>
            </a:avLst>
          </a:prstGeom>
          <a:solidFill>
            <a:schemeClr val="tx1"/>
          </a:solidFill>
          <a:ln w="12700">
            <a:solidFill>
              <a:schemeClr val="tx1"/>
            </a:solidFill>
            <a:prstDash val="solid"/>
          </a:ln>
        </p:spPr>
      </p:sp>
      <p:sp>
        <p:nvSpPr>
          <p:cNvPr id="27" name="code-676"/>
          <p:cNvSpPr txBox="1"/>
          <p:nvPr/>
        </p:nvSpPr>
        <p:spPr>
          <a:xfrm>
            <a:off x="4617720" y="4370832"/>
            <a:ext cx="2423160" cy="348488"/>
          </a:xfrm>
          <a:prstGeom prst="rect">
            <a:avLst/>
          </a:prstGeom>
          <a:noFill/>
          <a:ln/>
        </p:spPr>
        <p:txBody>
          <a:bodyPr wrap="square" lIns="0" tIns="0" rIns="0" bIns="0" rtlCol="0" anchor="t"/>
          <a:lstStyle/>
          <a:p>
            <a:pPr indent="0" marL="0">
              <a:lnSpc>
                <a:spcPts val="1300"/>
              </a:lnSpc>
              <a:buNone/>
            </a:pPr>
            <a:r>
              <a:rPr lang="en-US" sz="1000" dirty="0">
                <a:solidFill>
                  <a:schemeClr val="accent6"/>
                </a:solidFill>
                <a:latin typeface="Courier New" pitchFamily="34" charset="0"/>
                <a:ea typeface="Courier New" pitchFamily="34" charset="-122"/>
                <a:cs typeface="Courier New" pitchFamily="34" charset="-120"/>
              </a:rPr>
              <a:t>"SecurityAudit|SecurityAudit"</a:t>
            </a:r>
            <a:endParaRPr lang="en-US" sz="1000" dirty="0"/>
          </a:p>
          <a:p>
            <a:pPr indent="0" marL="0">
              <a:lnSpc>
                <a:spcPts val="1300"/>
              </a:lnSpc>
              <a:buNone/>
            </a:pPr>
            <a:r>
              <a:rPr lang="en-US" sz="1000" dirty="0">
                <a:solidFill>
                  <a:schemeClr val="accent6"/>
                </a:solidFill>
                <a:latin typeface="Courier New" pitchFamily="34" charset="0"/>
                <a:ea typeface="Courier New" pitchFamily="34" charset="-122"/>
                <a:cs typeface="Courier New" pitchFamily="34" charset="-120"/>
              </a:rPr>
              <a:t>"SecurityAudit|ViewOnlyAccess"</a:t>
            </a:r>
            <a:endParaRPr lang="en-US" sz="1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Assignments: the whole access model</a:t>
            </a:r>
            <a:endParaRPr lang="en-US" sz="3400" dirty="0"/>
          </a:p>
        </p:txBody>
      </p:sp>
      <p:sp>
        <p:nvSpPr>
          <p:cNvPr id="3" name="code-label-677"/>
          <p:cNvSpPr txBox="1"/>
          <p:nvPr/>
        </p:nvSpPr>
        <p:spPr>
          <a:xfrm>
            <a:off x="868680" y="1280160"/>
            <a:ext cx="6309360" cy="274320"/>
          </a:xfrm>
          <a:prstGeom prst="rect">
            <a:avLst/>
          </a:prstGeom>
          <a:noFill/>
          <a:ln/>
        </p:spPr>
        <p:txBody>
          <a:bodyPr wrap="square" lIns="0" tIns="0" rIns="0" bIns="0" rtlCol="0" anchor="ctr"/>
          <a:lstStyle/>
          <a:p>
            <a:pPr indent="0" marL="0">
              <a:buNone/>
            </a:pPr>
            <a:r>
              <a:rPr lang="en-US" sz="1100" b="1" dirty="0">
                <a:solidFill>
                  <a:schemeClr val="tx2"/>
                </a:solidFill>
              </a:rPr>
              <a:t>layers/02-identity/main.tf</a:t>
            </a:r>
            <a:endParaRPr lang="en-US" sz="1100" dirty="0"/>
          </a:p>
        </p:txBody>
      </p:sp>
      <p:sp>
        <p:nvSpPr>
          <p:cNvPr id="4" name="code-bg-678"/>
          <p:cNvSpPr/>
          <p:nvPr/>
        </p:nvSpPr>
        <p:spPr>
          <a:xfrm>
            <a:off x="868680" y="1572768"/>
            <a:ext cx="6309360" cy="2615184"/>
          </a:xfrm>
          <a:prstGeom prst="roundRect">
            <a:avLst>
              <a:gd name="adj" fmla="val 2797"/>
            </a:avLst>
          </a:prstGeom>
          <a:solidFill>
            <a:schemeClr val="tx1"/>
          </a:solidFill>
          <a:ln w="12700">
            <a:solidFill>
              <a:schemeClr val="tx1"/>
            </a:solidFill>
            <a:prstDash val="solid"/>
          </a:ln>
        </p:spPr>
      </p:sp>
      <p:sp>
        <p:nvSpPr>
          <p:cNvPr id="5" name="code-679"/>
          <p:cNvSpPr txBox="1"/>
          <p:nvPr/>
        </p:nvSpPr>
        <p:spPr>
          <a:xfrm>
            <a:off x="1051560" y="1737360"/>
            <a:ext cx="5989320" cy="2304288"/>
          </a:xfrm>
          <a:prstGeom prst="rect">
            <a:avLst/>
          </a:prstGeom>
          <a:noFill/>
          <a:ln/>
        </p:spPr>
        <p:txBody>
          <a:bodyPr wrap="square" lIns="0" tIns="0" rIns="0" bIns="0" rtlCol="0" anchor="t"/>
          <a:lstStyle/>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assignments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concat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for</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acct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in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keys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local</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account_ids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group</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"platform-admins"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permission_set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"PlatformAdmin"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account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acct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group</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"developers"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permission_set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"Developer"</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account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"dev"</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group</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"developers"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permission_set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"ReadOnly"</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account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"prod"</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p:txBody>
      </p:sp>
      <p:sp>
        <p:nvSpPr>
          <p:cNvPr id="6" name="marker-680"/>
          <p:cNvSpPr/>
          <p:nvPr/>
        </p:nvSpPr>
        <p:spPr>
          <a:xfrm>
            <a:off x="484632" y="1876806"/>
            <a:ext cx="292608" cy="292608"/>
          </a:xfrm>
          <a:prstGeom prst="ellipse">
            <a:avLst/>
          </a:prstGeom>
          <a:solidFill>
            <a:schemeClr val="accent2"/>
          </a:solidFill>
          <a:ln w="12700">
            <a:solidFill>
              <a:schemeClr val="accent2"/>
            </a:solidFill>
            <a:prstDash val="solid"/>
          </a:ln>
        </p:spPr>
      </p:sp>
      <p:sp>
        <p:nvSpPr>
          <p:cNvPr id="7" name="marker-n-681"/>
          <p:cNvSpPr txBox="1"/>
          <p:nvPr/>
        </p:nvSpPr>
        <p:spPr>
          <a:xfrm>
            <a:off x="484632" y="1876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682"/>
          <p:cNvSpPr/>
          <p:nvPr/>
        </p:nvSpPr>
        <p:spPr>
          <a:xfrm>
            <a:off x="484632" y="2638806"/>
            <a:ext cx="292608" cy="292608"/>
          </a:xfrm>
          <a:prstGeom prst="ellipse">
            <a:avLst/>
          </a:prstGeom>
          <a:solidFill>
            <a:schemeClr val="accent2"/>
          </a:solidFill>
          <a:ln w="12700">
            <a:solidFill>
              <a:schemeClr val="accent2"/>
            </a:solidFill>
            <a:prstDash val="solid"/>
          </a:ln>
        </p:spPr>
      </p:sp>
      <p:sp>
        <p:nvSpPr>
          <p:cNvPr id="9" name="marker-n-683"/>
          <p:cNvSpPr txBox="1"/>
          <p:nvPr/>
        </p:nvSpPr>
        <p:spPr>
          <a:xfrm>
            <a:off x="484632" y="2638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684"/>
          <p:cNvSpPr/>
          <p:nvPr/>
        </p:nvSpPr>
        <p:spPr>
          <a:xfrm>
            <a:off x="484632" y="3019806"/>
            <a:ext cx="292608" cy="292608"/>
          </a:xfrm>
          <a:prstGeom prst="ellipse">
            <a:avLst/>
          </a:prstGeom>
          <a:solidFill>
            <a:schemeClr val="accent2"/>
          </a:solidFill>
          <a:ln w="12700">
            <a:solidFill>
              <a:schemeClr val="accent2"/>
            </a:solidFill>
            <a:prstDash val="solid"/>
          </a:ln>
        </p:spPr>
      </p:sp>
      <p:sp>
        <p:nvSpPr>
          <p:cNvPr id="11" name="marker-n-685"/>
          <p:cNvSpPr txBox="1"/>
          <p:nvPr/>
        </p:nvSpPr>
        <p:spPr>
          <a:xfrm>
            <a:off x="484632" y="3019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686"/>
          <p:cNvSpPr/>
          <p:nvPr/>
        </p:nvSpPr>
        <p:spPr>
          <a:xfrm>
            <a:off x="7543800" y="1325880"/>
            <a:ext cx="329184" cy="329184"/>
          </a:xfrm>
          <a:prstGeom prst="ellipse">
            <a:avLst/>
          </a:prstGeom>
          <a:solidFill>
            <a:schemeClr val="accent2"/>
          </a:solidFill>
          <a:ln w="12700">
            <a:solidFill>
              <a:schemeClr val="accent2"/>
            </a:solidFill>
            <a:prstDash val="solid"/>
          </a:ln>
        </p:spPr>
      </p:sp>
      <p:sp>
        <p:nvSpPr>
          <p:cNvPr id="13" name="marker-n-687"/>
          <p:cNvSpPr txBox="1"/>
          <p:nvPr/>
        </p:nvSpPr>
        <p:spPr>
          <a:xfrm>
            <a:off x="754380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4" name="callout-688"/>
          <p:cNvSpPr txBox="1"/>
          <p:nvPr/>
        </p:nvSpPr>
        <p:spPr>
          <a:xfrm>
            <a:off x="8001000" y="1307592"/>
            <a:ext cx="370332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Generated rows</a:t>
            </a:r>
            <a:endParaRPr lang="en-US" sz="1500" dirty="0"/>
          </a:p>
          <a:p>
            <a:pPr indent="0" marL="0">
              <a:spcAft>
                <a:spcPts val="200"/>
              </a:spcAft>
              <a:buNone/>
            </a:pPr>
            <a:r>
              <a:rPr lang="en-US" sz="1400" dirty="0">
                <a:solidFill>
                  <a:schemeClr val="tx1"/>
                </a:solidFill>
              </a:rPr>
              <a:t>keys() lists every account, so admins get a row for each one.</a:t>
            </a:r>
            <a:endParaRPr lang="en-US" sz="1500" dirty="0"/>
          </a:p>
        </p:txBody>
      </p:sp>
      <p:sp>
        <p:nvSpPr>
          <p:cNvPr id="15" name="marker-689"/>
          <p:cNvSpPr/>
          <p:nvPr/>
        </p:nvSpPr>
        <p:spPr>
          <a:xfrm>
            <a:off x="7543800" y="2255520"/>
            <a:ext cx="329184" cy="329184"/>
          </a:xfrm>
          <a:prstGeom prst="ellipse">
            <a:avLst/>
          </a:prstGeom>
          <a:solidFill>
            <a:schemeClr val="accent2"/>
          </a:solidFill>
          <a:ln w="12700">
            <a:solidFill>
              <a:schemeClr val="accent2"/>
            </a:solidFill>
            <a:prstDash val="solid"/>
          </a:ln>
        </p:spPr>
      </p:sp>
      <p:sp>
        <p:nvSpPr>
          <p:cNvPr id="16" name="marker-n-690"/>
          <p:cNvSpPr txBox="1"/>
          <p:nvPr/>
        </p:nvSpPr>
        <p:spPr>
          <a:xfrm>
            <a:off x="7543800" y="2255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7" name="callout-691"/>
          <p:cNvSpPr txBox="1"/>
          <p:nvPr/>
        </p:nvSpPr>
        <p:spPr>
          <a:xfrm>
            <a:off x="8001000" y="2237232"/>
            <a:ext cx="3703320" cy="533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concat adds hand-written rows</a:t>
            </a:r>
            <a:endParaRPr lang="en-US" sz="1500" dirty="0"/>
          </a:p>
          <a:p>
            <a:pPr indent="0" marL="0">
              <a:spcAft>
                <a:spcPts val="200"/>
              </a:spcAft>
              <a:buNone/>
            </a:pPr>
            <a:r>
              <a:rPr lang="en-US" sz="1400" dirty="0">
                <a:solidFill>
                  <a:schemeClr val="tx1"/>
                </a:solidFill>
              </a:rPr>
              <a:t>It joins two lists into one.</a:t>
            </a:r>
            <a:endParaRPr lang="en-US" sz="1500" dirty="0"/>
          </a:p>
        </p:txBody>
      </p:sp>
      <p:sp>
        <p:nvSpPr>
          <p:cNvPr id="18" name="marker-692"/>
          <p:cNvSpPr/>
          <p:nvPr/>
        </p:nvSpPr>
        <p:spPr>
          <a:xfrm>
            <a:off x="7543800" y="2971800"/>
            <a:ext cx="329184" cy="329184"/>
          </a:xfrm>
          <a:prstGeom prst="ellipse">
            <a:avLst/>
          </a:prstGeom>
          <a:solidFill>
            <a:schemeClr val="accent2"/>
          </a:solidFill>
          <a:ln w="12700">
            <a:solidFill>
              <a:schemeClr val="accent2"/>
            </a:solidFill>
            <a:prstDash val="solid"/>
          </a:ln>
        </p:spPr>
      </p:sp>
      <p:sp>
        <p:nvSpPr>
          <p:cNvPr id="19" name="marker-n-693"/>
          <p:cNvSpPr txBox="1"/>
          <p:nvPr/>
        </p:nvSpPr>
        <p:spPr>
          <a:xfrm>
            <a:off x="7543800" y="297180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0" name="callout-694"/>
          <p:cNvSpPr txBox="1"/>
          <p:nvPr/>
        </p:nvSpPr>
        <p:spPr>
          <a:xfrm>
            <a:off x="8001000" y="2953512"/>
            <a:ext cx="370332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Least privilege by account</a:t>
            </a:r>
            <a:endParaRPr lang="en-US" sz="1500" dirty="0"/>
          </a:p>
          <a:p>
            <a:pPr indent="0" marL="0">
              <a:spcAft>
                <a:spcPts val="200"/>
              </a:spcAft>
              <a:buNone/>
            </a:pPr>
            <a:r>
              <a:rPr lang="en-US" sz="1400" dirty="0">
                <a:solidFill>
                  <a:schemeClr val="tx1"/>
                </a:solidFill>
              </a:rPr>
              <a:t>Developers build in dev and can only look in prod.</a:t>
            </a:r>
            <a:endParaRPr lang="en-US" sz="1500" dirty="0"/>
          </a:p>
        </p:txBody>
      </p:sp>
      <p:graphicFrame>
        <p:nvGraphicFramePr>
          <p:cNvPr id="35" name="table-695"/>
          <p:cNvGraphicFramePr>
            <a:graphicFrameLocks noGrp="1"/>
          </p:cNvGraphicFramePr>
          <p:nvPr>
            <p:extLst>
              <p:ext uri="{D42A27DB-BD31-4B8C-83A1-F6EECF244321}">
                <p14:modId xmlns:p14="http://schemas.microsoft.com/office/powerpoint/2010/main" val="1579011935"/>
              </p:ext>
            </p:extLst>
          </p:nvPr>
        </p:nvGraphicFramePr>
        <p:xfrm>
          <a:off x="7543800" y="4343400"/>
          <a:ext cx="4160520" cy="914400"/>
        </p:xfrm>
        <a:graphic>
          <a:graphicData uri="http://schemas.openxmlformats.org/drawingml/2006/table">
            <a:tbl>
              <a:tblPr/>
              <a:tblGrid>
                <a:gridCol w="1965960"/>
                <a:gridCol w="1097280"/>
                <a:gridCol w="1097280"/>
              </a:tblGrid>
              <a:tr h="384048">
                <a:tc>
                  <a:txBody>
                    <a:bodyPr/>
                    <a:lstStyle/>
                    <a:p>
                      <a:pPr indent="0" marL="0">
                        <a:buNone/>
                      </a:pPr>
                      <a:r>
                        <a:rPr lang="en-US" sz="1300" b="1" dirty="0">
                          <a:solidFill>
                            <a:schemeClr val="bg1"/>
                          </a:solidFill>
                        </a:rPr>
                        <a:t>Group</a:t>
                      </a:r>
                      <a:endParaRPr lang="en-US" sz="1300" dirty="0"/>
                    </a:p>
                  </a:txBody>
                  <a:tcPr marL="54864" marR="54864" marT="54864" marB="54864">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dev</a:t>
                      </a:r>
                      <a:endParaRPr lang="en-US" sz="1300" dirty="0"/>
                    </a:p>
                  </a:txBody>
                  <a:tcPr marL="54864" marR="54864" marT="54864" marB="54864">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prod</a:t>
                      </a:r>
                      <a:endParaRPr lang="en-US" sz="1300" dirty="0"/>
                    </a:p>
                  </a:txBody>
                  <a:tcPr marL="54864" marR="54864" marT="54864" marB="54864">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accent1"/>
                    </a:solidFill>
                  </a:tcPr>
                </a:tc>
              </a:tr>
              <a:tr h="384048">
                <a:tc>
                  <a:txBody>
                    <a:bodyPr/>
                    <a:lstStyle/>
                    <a:p>
                      <a:pPr indent="0" marL="0">
                        <a:buNone/>
                      </a:pPr>
                      <a:r>
                        <a:rPr lang="en-US" sz="1300" b="1" dirty="0">
                          <a:solidFill>
                            <a:schemeClr val="tx1"/>
                          </a:solidFill>
                        </a:rPr>
                        <a:t>platform-admins</a:t>
                      </a:r>
                      <a:endParaRPr lang="en-US" sz="1300" dirty="0"/>
                    </a:p>
                  </a:txBody>
                  <a:tcPr marL="54864" marR="54864" marT="54864" marB="54864">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Admin</a:t>
                      </a:r>
                      <a:endParaRPr lang="en-US" sz="1300" dirty="0"/>
                    </a:p>
                  </a:txBody>
                  <a:tcPr marL="54864" marR="54864" marT="54864" marB="54864">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Admin</a:t>
                      </a:r>
                      <a:endParaRPr lang="en-US" sz="1300" dirty="0"/>
                    </a:p>
                  </a:txBody>
                  <a:tcPr marL="54864" marR="54864" marT="54864" marB="54864">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tx1"/>
                          </a:solidFill>
                        </a:rPr>
                        <a:t>security-auditors</a:t>
                      </a:r>
                      <a:endParaRPr lang="en-US" sz="1300" dirty="0"/>
                    </a:p>
                  </a:txBody>
                  <a:tcPr marL="54864" marR="54864" marT="54864" marB="54864">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Audit</a:t>
                      </a:r>
                      <a:endParaRPr lang="en-US" sz="1300" dirty="0"/>
                    </a:p>
                  </a:txBody>
                  <a:tcPr marL="54864" marR="54864" marT="54864" marB="54864">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Audit</a:t>
                      </a:r>
                      <a:endParaRPr lang="en-US" sz="1300" dirty="0"/>
                    </a:p>
                  </a:txBody>
                  <a:tcPr marL="54864" marR="54864" marT="54864" marB="54864">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2"/>
                    </a:solidFill>
                  </a:tcPr>
                </a:tc>
              </a:tr>
              <a:tr h="384048">
                <a:tc>
                  <a:txBody>
                    <a:bodyPr/>
                    <a:lstStyle/>
                    <a:p>
                      <a:pPr indent="0" marL="0">
                        <a:buNone/>
                      </a:pPr>
                      <a:r>
                        <a:rPr lang="en-US" sz="1300" b="1" dirty="0">
                          <a:solidFill>
                            <a:schemeClr val="tx1"/>
                          </a:solidFill>
                        </a:rPr>
                        <a:t>developers</a:t>
                      </a:r>
                      <a:endParaRPr lang="en-US" sz="1300" dirty="0"/>
                    </a:p>
                  </a:txBody>
                  <a:tcPr marL="54864" marR="54864" marT="54864" marB="54864">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Build</a:t>
                      </a:r>
                      <a:endParaRPr lang="en-US" sz="1300" dirty="0"/>
                    </a:p>
                  </a:txBody>
                  <a:tcPr marL="54864" marR="54864" marT="54864" marB="54864">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View</a:t>
                      </a:r>
                      <a:endParaRPr lang="en-US" sz="1300" dirty="0"/>
                    </a:p>
                  </a:txBody>
                  <a:tcPr marL="54864" marR="54864" marT="54864" marB="54864">
                    <a:lnL w="9525" cap="flat" cmpd="sng" algn="ctr">
                      <a:solidFill>
                        <a:srgbClr val="F4F2FA"/>
                      </a:solidFill>
                      <a:prstDash val="solid"/>
                      <a:round/>
                      <a:headEnd type="none" w="med" len="med"/>
                      <a:tailEnd type="none" w="med" len="med"/>
                    </a:lnL>
                    <a:lnR w="9525" cap="flat" cmpd="sng" algn="ctr">
                      <a:solidFill>
                        <a:srgbClr val="F4F2FA"/>
                      </a:solidFill>
                      <a:prstDash val="solid"/>
                      <a:round/>
                      <a:headEnd type="none" w="med" len="med"/>
                      <a:tailEnd type="none" w="med" len="med"/>
                    </a:lnR>
                    <a:lnT w="9525" cap="flat" cmpd="sng" algn="ctr">
                      <a:solidFill>
                        <a:srgbClr val="F4F2FA"/>
                      </a:solidFill>
                      <a:prstDash val="solid"/>
                      <a:round/>
                      <a:headEnd type="none" w="med" len="med"/>
                      <a:tailEnd type="none" w="med" len="med"/>
                    </a:lnT>
                    <a:lnB w="9525" cap="flat" cmpd="sng" algn="ctr">
                      <a:solidFill>
                        <a:srgbClr val="F4F2F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696"/>
          <p:cNvSpPr txBox="1"/>
          <p:nvPr/>
        </p:nvSpPr>
        <p:spPr>
          <a:xfrm>
            <a:off x="731520" y="1463040"/>
            <a:ext cx="2743200" cy="1005840"/>
          </a:xfrm>
          <a:prstGeom prst="rect">
            <a:avLst/>
          </a:prstGeom>
          <a:noFill/>
          <a:ln/>
        </p:spPr>
        <p:txBody>
          <a:bodyPr wrap="square" lIns="0" tIns="0" rIns="0" bIns="0" rtlCol="0" anchor="t"/>
          <a:lstStyle/>
          <a:p>
            <a:pPr indent="0" marL="0">
              <a:buNone/>
            </a:pPr>
            <a:r>
              <a:rPr lang="en-US" sz="6000" b="1" dirty="0">
                <a:solidFill>
                  <a:schemeClr val="accent2"/>
                </a:solidFill>
                <a:latin typeface="Arial" pitchFamily="34" charset="0"/>
                <a:ea typeface="Arial" pitchFamily="34" charset="-122"/>
                <a:cs typeface="Arial" pitchFamily="34" charset="-120"/>
              </a:rPr>
              <a:t>05</a:t>
            </a:r>
            <a:endParaRPr lang="en-US" sz="6000" dirty="0"/>
          </a:p>
        </p:txBody>
      </p:sp>
      <p:sp>
        <p:nvSpPr>
          <p:cNvPr id="3" name="Text 0"/>
          <p:cNvSpPr/>
          <p:nvPr>
            <p:ph idx="100" type="title" hasCustomPrompt="1"/>
          </p:nvPr>
        </p:nvSpPr>
        <p:spPr>
          <a:xfrm>
            <a:off x="731520" y="2651760"/>
            <a:ext cx="8046720" cy="1097280"/>
          </a:xfrm>
          <a:prstGeom prst="rect">
            <a:avLst/>
          </a:prstGeom>
          <a:noFill/>
          <a:ln/>
        </p:spPr>
        <p:txBody>
          <a:bodyPr wrap="square" lIns="0" tIns="0" rIns="0" bIns="0" rtlCol="0" anchor="t"/>
          <a:lstStyle/>
          <a:p>
            <a:pPr algn="l" indent="0" marL="0">
              <a:buNone/>
            </a:pPr>
            <a:r>
              <a:rPr lang="en-US" sz="4400" b="1" dirty="0">
                <a:solidFill>
                  <a:schemeClr val="bg1"/>
                </a:solidFill>
              </a:rPr>
              <a:t>Layer 03: Logging</a:t>
            </a:r>
            <a:endParaRPr lang="en-US" sz="4400" dirty="0"/>
          </a:p>
        </p:txBody>
      </p:sp>
      <p:sp>
        <p:nvSpPr>
          <p:cNvPr id="4" name="Text 0"/>
          <p:cNvSpPr/>
          <p:nvPr>
            <p:ph idx="101" type="body" hasCustomPrompt="1"/>
          </p:nvPr>
        </p:nvSpPr>
        <p:spPr>
          <a:xfrm>
            <a:off x="731520" y="3840480"/>
            <a:ext cx="7863840" cy="1371600"/>
          </a:xfrm>
          <a:prstGeom prst="rect">
            <a:avLst/>
          </a:prstGeom>
          <a:noFill/>
          <a:ln/>
        </p:spPr>
        <p:txBody>
          <a:bodyPr wrap="square" lIns="0" tIns="0" rIns="0" bIns="0" rtlCol="0" anchor="t"/>
          <a:lstStyle/>
          <a:p>
            <a:pPr algn="l" indent="0" marL="0">
              <a:buNone/>
            </a:pPr>
            <a:r>
              <a:rPr lang="en-US" sz="2000" dirty="0">
                <a:solidFill>
                  <a:schemeClr val="bg2"/>
                </a:solidFill>
              </a:rPr>
              <a:t>One tamper-resistant place for every log in the org</a:t>
            </a:r>
            <a:endParaRPr lang="en-US" sz="2000" dirty="0"/>
          </a:p>
        </p:txBody>
      </p:sp>
      <p:sp>
        <p:nvSpPr>
          <p:cNvPr id="5" name="icon-circle-697"/>
          <p:cNvSpPr/>
          <p:nvPr/>
        </p:nvSpPr>
        <p:spPr>
          <a:xfrm>
            <a:off x="9052560" y="2011680"/>
            <a:ext cx="2377440" cy="2377440"/>
          </a:xfrm>
          <a:prstGeom prst="ellipse">
            <a:avLst/>
          </a:prstGeom>
          <a:solidFill>
            <a:schemeClr val="tx1"/>
          </a:solidFill>
          <a:ln w="12700">
            <a:solidFill>
              <a:schemeClr val="tx1"/>
            </a:solidFill>
            <a:prstDash val="solid"/>
          </a:ln>
        </p:spPr>
      </p:sp>
      <p:pic>
        <p:nvPicPr>
          <p:cNvPr id="6" name="icon-698" descr="preencoded.png">    </p:cNvPr>
          <p:cNvPicPr>
            <a:picLocks noChangeAspect="1"/>
          </p:cNvPicPr>
          <p:nvPr/>
        </p:nvPicPr>
        <p:blipFill>
          <a:blip r:embed="rId1"/>
          <a:stretch>
            <a:fillRect/>
          </a:stretch>
        </p:blipFill>
        <p:spPr>
          <a:xfrm>
            <a:off x="9646920" y="2606040"/>
            <a:ext cx="1188720" cy="118872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Where every log goes</a:t>
            </a:r>
            <a:endParaRPr lang="en-US" sz="3400" dirty="0"/>
          </a:p>
        </p:txBody>
      </p:sp>
      <p:sp>
        <p:nvSpPr>
          <p:cNvPr id="3" name="box-699"/>
          <p:cNvSpPr/>
          <p:nvPr/>
        </p:nvSpPr>
        <p:spPr>
          <a:xfrm>
            <a:off x="502920" y="1325880"/>
            <a:ext cx="2103120" cy="566928"/>
          </a:xfrm>
          <a:prstGeom prst="roundRect">
            <a:avLst>
              <a:gd name="adj" fmla="val 12903"/>
            </a:avLst>
          </a:prstGeom>
          <a:solidFill>
            <a:schemeClr val="tx1"/>
          </a:solidFill>
          <a:ln w="9525">
            <a:solidFill>
              <a:schemeClr val="tx1"/>
            </a:solidFill>
            <a:prstDash val="solid"/>
          </a:ln>
        </p:spPr>
      </p:sp>
      <p:sp>
        <p:nvSpPr>
          <p:cNvPr id="4" name="box-t-700"/>
          <p:cNvSpPr txBox="1"/>
          <p:nvPr/>
        </p:nvSpPr>
        <p:spPr>
          <a:xfrm>
            <a:off x="548640" y="1325880"/>
            <a:ext cx="2011680" cy="566928"/>
          </a:xfrm>
          <a:prstGeom prst="rect">
            <a:avLst/>
          </a:prstGeom>
          <a:noFill/>
          <a:ln/>
        </p:spPr>
        <p:txBody>
          <a:bodyPr wrap="square" lIns="508" tIns="508" rIns="508" bIns="508" rtlCol="0" anchor="ctr"/>
          <a:lstStyle/>
          <a:p>
            <a:pPr algn="ctr" indent="0" marL="0">
              <a:buNone/>
            </a:pPr>
            <a:r>
              <a:rPr lang="en-US" sz="1400" b="1" dirty="0">
                <a:solidFill>
                  <a:schemeClr val="bg1"/>
                </a:solidFill>
              </a:rPr>
              <a:t>management</a:t>
            </a:r>
            <a:endParaRPr lang="en-US" sz="1400" dirty="0"/>
          </a:p>
        </p:txBody>
      </p:sp>
      <p:sp>
        <p:nvSpPr>
          <p:cNvPr id="5" name="box-701"/>
          <p:cNvSpPr/>
          <p:nvPr/>
        </p:nvSpPr>
        <p:spPr>
          <a:xfrm>
            <a:off x="502920" y="2075688"/>
            <a:ext cx="2103120" cy="566928"/>
          </a:xfrm>
          <a:prstGeom prst="roundRect">
            <a:avLst>
              <a:gd name="adj" fmla="val 12903"/>
            </a:avLst>
          </a:prstGeom>
          <a:solidFill>
            <a:schemeClr val="accent1"/>
          </a:solidFill>
          <a:ln w="9525">
            <a:solidFill>
              <a:schemeClr val="accent1"/>
            </a:solidFill>
            <a:prstDash val="solid"/>
          </a:ln>
        </p:spPr>
      </p:sp>
      <p:sp>
        <p:nvSpPr>
          <p:cNvPr id="6" name="box-t-702"/>
          <p:cNvSpPr txBox="1"/>
          <p:nvPr/>
        </p:nvSpPr>
        <p:spPr>
          <a:xfrm>
            <a:off x="548640" y="2075688"/>
            <a:ext cx="2011680" cy="566928"/>
          </a:xfrm>
          <a:prstGeom prst="rect">
            <a:avLst/>
          </a:prstGeom>
          <a:noFill/>
          <a:ln/>
        </p:spPr>
        <p:txBody>
          <a:bodyPr wrap="square" lIns="508" tIns="508" rIns="508" bIns="508" rtlCol="0" anchor="ctr"/>
          <a:lstStyle/>
          <a:p>
            <a:pPr algn="ctr" indent="0" marL="0">
              <a:buNone/>
            </a:pPr>
            <a:r>
              <a:rPr lang="en-US" sz="1400" b="1" dirty="0">
                <a:solidFill>
                  <a:schemeClr val="bg1"/>
                </a:solidFill>
              </a:rPr>
              <a:t>security</a:t>
            </a:r>
            <a:endParaRPr lang="en-US" sz="1400" dirty="0"/>
          </a:p>
        </p:txBody>
      </p:sp>
      <p:sp>
        <p:nvSpPr>
          <p:cNvPr id="7" name="box-703"/>
          <p:cNvSpPr/>
          <p:nvPr/>
        </p:nvSpPr>
        <p:spPr>
          <a:xfrm>
            <a:off x="502920" y="2825496"/>
            <a:ext cx="2103120" cy="566928"/>
          </a:xfrm>
          <a:prstGeom prst="roundRect">
            <a:avLst>
              <a:gd name="adj" fmla="val 12903"/>
            </a:avLst>
          </a:prstGeom>
          <a:solidFill>
            <a:schemeClr val="accent1"/>
          </a:solidFill>
          <a:ln w="9525">
            <a:solidFill>
              <a:schemeClr val="accent1"/>
            </a:solidFill>
            <a:prstDash val="solid"/>
          </a:ln>
        </p:spPr>
      </p:sp>
      <p:sp>
        <p:nvSpPr>
          <p:cNvPr id="8" name="box-t-704"/>
          <p:cNvSpPr txBox="1"/>
          <p:nvPr/>
        </p:nvSpPr>
        <p:spPr>
          <a:xfrm>
            <a:off x="548640" y="2825496"/>
            <a:ext cx="2011680" cy="566928"/>
          </a:xfrm>
          <a:prstGeom prst="rect">
            <a:avLst/>
          </a:prstGeom>
          <a:noFill/>
          <a:ln/>
        </p:spPr>
        <p:txBody>
          <a:bodyPr wrap="square" lIns="508" tIns="508" rIns="508" bIns="508" rtlCol="0" anchor="ctr"/>
          <a:lstStyle/>
          <a:p>
            <a:pPr algn="ctr" indent="0" marL="0">
              <a:buNone/>
            </a:pPr>
            <a:r>
              <a:rPr lang="en-US" sz="1400" b="1" dirty="0">
                <a:solidFill>
                  <a:schemeClr val="bg1"/>
                </a:solidFill>
              </a:rPr>
              <a:t>network</a:t>
            </a:r>
            <a:endParaRPr lang="en-US" sz="1400" dirty="0"/>
          </a:p>
        </p:txBody>
      </p:sp>
      <p:sp>
        <p:nvSpPr>
          <p:cNvPr id="9" name="box-705"/>
          <p:cNvSpPr/>
          <p:nvPr/>
        </p:nvSpPr>
        <p:spPr>
          <a:xfrm>
            <a:off x="502920" y="3575304"/>
            <a:ext cx="2103120" cy="566928"/>
          </a:xfrm>
          <a:prstGeom prst="roundRect">
            <a:avLst>
              <a:gd name="adj" fmla="val 12903"/>
            </a:avLst>
          </a:prstGeom>
          <a:solidFill>
            <a:schemeClr val="accent1"/>
          </a:solidFill>
          <a:ln w="9525">
            <a:solidFill>
              <a:schemeClr val="accent1"/>
            </a:solidFill>
            <a:prstDash val="solid"/>
          </a:ln>
        </p:spPr>
      </p:sp>
      <p:sp>
        <p:nvSpPr>
          <p:cNvPr id="10" name="box-t-706"/>
          <p:cNvSpPr txBox="1"/>
          <p:nvPr/>
        </p:nvSpPr>
        <p:spPr>
          <a:xfrm>
            <a:off x="548640" y="3575304"/>
            <a:ext cx="2011680" cy="566928"/>
          </a:xfrm>
          <a:prstGeom prst="rect">
            <a:avLst/>
          </a:prstGeom>
          <a:noFill/>
          <a:ln/>
        </p:spPr>
        <p:txBody>
          <a:bodyPr wrap="square" lIns="508" tIns="508" rIns="508" bIns="508" rtlCol="0" anchor="ctr"/>
          <a:lstStyle/>
          <a:p>
            <a:pPr algn="ctr" indent="0" marL="0">
              <a:buNone/>
            </a:pPr>
            <a:r>
              <a:rPr lang="en-US" sz="1400" b="1" dirty="0">
                <a:solidFill>
                  <a:schemeClr val="bg1"/>
                </a:solidFill>
              </a:rPr>
              <a:t>dev</a:t>
            </a:r>
            <a:endParaRPr lang="en-US" sz="1400" dirty="0"/>
          </a:p>
        </p:txBody>
      </p:sp>
      <p:sp>
        <p:nvSpPr>
          <p:cNvPr id="11" name="box-707"/>
          <p:cNvSpPr/>
          <p:nvPr/>
        </p:nvSpPr>
        <p:spPr>
          <a:xfrm>
            <a:off x="502920" y="4325112"/>
            <a:ext cx="2103120" cy="566928"/>
          </a:xfrm>
          <a:prstGeom prst="roundRect">
            <a:avLst>
              <a:gd name="adj" fmla="val 12903"/>
            </a:avLst>
          </a:prstGeom>
          <a:solidFill>
            <a:schemeClr val="accent1"/>
          </a:solidFill>
          <a:ln w="9525">
            <a:solidFill>
              <a:schemeClr val="accent1"/>
            </a:solidFill>
            <a:prstDash val="solid"/>
          </a:ln>
        </p:spPr>
      </p:sp>
      <p:sp>
        <p:nvSpPr>
          <p:cNvPr id="12" name="box-t-708"/>
          <p:cNvSpPr txBox="1"/>
          <p:nvPr/>
        </p:nvSpPr>
        <p:spPr>
          <a:xfrm>
            <a:off x="548640" y="4325112"/>
            <a:ext cx="2011680" cy="566928"/>
          </a:xfrm>
          <a:prstGeom prst="rect">
            <a:avLst/>
          </a:prstGeom>
          <a:noFill/>
          <a:ln/>
        </p:spPr>
        <p:txBody>
          <a:bodyPr wrap="square" lIns="508" tIns="508" rIns="508" bIns="508" rtlCol="0" anchor="ctr"/>
          <a:lstStyle/>
          <a:p>
            <a:pPr algn="ctr" indent="0" marL="0">
              <a:buNone/>
            </a:pPr>
            <a:r>
              <a:rPr lang="en-US" sz="1400" b="1" dirty="0">
                <a:solidFill>
                  <a:schemeClr val="bg1"/>
                </a:solidFill>
              </a:rPr>
              <a:t>prod</a:t>
            </a:r>
            <a:endParaRPr lang="en-US" sz="1400" dirty="0"/>
          </a:p>
        </p:txBody>
      </p:sp>
      <p:sp>
        <p:nvSpPr>
          <p:cNvPr id="13" name="box-709"/>
          <p:cNvSpPr/>
          <p:nvPr/>
        </p:nvSpPr>
        <p:spPr>
          <a:xfrm>
            <a:off x="502920" y="5074920"/>
            <a:ext cx="2103120" cy="566928"/>
          </a:xfrm>
          <a:prstGeom prst="roundRect">
            <a:avLst>
              <a:gd name="adj" fmla="val 12903"/>
            </a:avLst>
          </a:prstGeom>
          <a:solidFill>
            <a:schemeClr val="accent1"/>
          </a:solidFill>
          <a:ln w="9525">
            <a:solidFill>
              <a:schemeClr val="accent1"/>
            </a:solidFill>
            <a:prstDash val="solid"/>
          </a:ln>
        </p:spPr>
      </p:sp>
      <p:sp>
        <p:nvSpPr>
          <p:cNvPr id="14" name="box-t-710"/>
          <p:cNvSpPr txBox="1"/>
          <p:nvPr/>
        </p:nvSpPr>
        <p:spPr>
          <a:xfrm>
            <a:off x="548640" y="5074920"/>
            <a:ext cx="2011680" cy="566928"/>
          </a:xfrm>
          <a:prstGeom prst="rect">
            <a:avLst/>
          </a:prstGeom>
          <a:noFill/>
          <a:ln/>
        </p:spPr>
        <p:txBody>
          <a:bodyPr wrap="square" lIns="508" tIns="508" rIns="508" bIns="508" rtlCol="0" anchor="ctr"/>
          <a:lstStyle/>
          <a:p>
            <a:pPr algn="ctr" indent="0" marL="0">
              <a:buNone/>
            </a:pPr>
            <a:r>
              <a:rPr lang="en-US" sz="1400" b="1" dirty="0">
                <a:solidFill>
                  <a:schemeClr val="bg1"/>
                </a:solidFill>
              </a:rPr>
              <a:t>log-archive</a:t>
            </a:r>
            <a:endParaRPr lang="en-US" sz="1400" dirty="0"/>
          </a:p>
        </p:txBody>
      </p:sp>
      <p:sp>
        <p:nvSpPr>
          <p:cNvPr id="15" name="box-711"/>
          <p:cNvSpPr/>
          <p:nvPr/>
        </p:nvSpPr>
        <p:spPr>
          <a:xfrm>
            <a:off x="3657600" y="1554480"/>
            <a:ext cx="2834640" cy="960120"/>
          </a:xfrm>
          <a:prstGeom prst="roundRect">
            <a:avLst>
              <a:gd name="adj" fmla="val 7619"/>
            </a:avLst>
          </a:prstGeom>
          <a:solidFill>
            <a:schemeClr val="accent3"/>
          </a:solidFill>
          <a:ln w="9525">
            <a:solidFill>
              <a:schemeClr val="accent3"/>
            </a:solidFill>
            <a:prstDash val="solid"/>
          </a:ln>
        </p:spPr>
      </p:sp>
      <p:sp>
        <p:nvSpPr>
          <p:cNvPr id="16" name="box-t-712"/>
          <p:cNvSpPr txBox="1"/>
          <p:nvPr/>
        </p:nvSpPr>
        <p:spPr>
          <a:xfrm>
            <a:off x="3703320" y="1554480"/>
            <a:ext cx="2743200" cy="960120"/>
          </a:xfrm>
          <a:prstGeom prst="rect">
            <a:avLst/>
          </a:prstGeom>
          <a:noFill/>
          <a:ln/>
        </p:spPr>
        <p:txBody>
          <a:bodyPr wrap="square" lIns="508" tIns="508" rIns="508" bIns="508" rtlCol="0" anchor="ctr"/>
          <a:lstStyle/>
          <a:p>
            <a:pPr algn="ctr" indent="0" marL="0">
              <a:buNone/>
            </a:pPr>
            <a:r>
              <a:rPr lang="en-US" sz="1500" b="1" dirty="0">
                <a:solidFill>
                  <a:schemeClr val="bg1"/>
                </a:solidFill>
              </a:rPr>
              <a:t>CloudTrail org trail</a:t>
            </a:r>
            <a:endParaRPr lang="en-US" sz="1500" dirty="0"/>
          </a:p>
          <a:p>
            <a:pPr algn="ctr" indent="0" marL="0">
              <a:buNone/>
            </a:pPr>
            <a:r>
              <a:rPr lang="en-US" sz="1200" dirty="0">
                <a:solidFill>
                  <a:schemeClr val="bg1"/>
                </a:solidFill>
              </a:rPr>
              <a:t>Every API call, all regions</a:t>
            </a:r>
            <a:endParaRPr lang="en-US" sz="1500" dirty="0"/>
          </a:p>
        </p:txBody>
      </p:sp>
      <p:sp>
        <p:nvSpPr>
          <p:cNvPr id="17" name="arrow-713"/>
          <p:cNvSpPr/>
          <p:nvPr/>
        </p:nvSpPr>
        <p:spPr>
          <a:xfrm>
            <a:off x="6510528" y="2029968"/>
            <a:ext cx="1124712" cy="621792"/>
          </a:xfrm>
          <a:prstGeom prst="line">
            <a:avLst/>
          </a:prstGeom>
          <a:noFill/>
          <a:ln w="25400">
            <a:solidFill>
              <a:schemeClr val="accent3"/>
            </a:solidFill>
            <a:prstDash val="solid"/>
            <a:tailEnd type="triangle"/>
          </a:ln>
        </p:spPr>
      </p:sp>
      <p:sp>
        <p:nvSpPr>
          <p:cNvPr id="18" name="box-714"/>
          <p:cNvSpPr/>
          <p:nvPr/>
        </p:nvSpPr>
        <p:spPr>
          <a:xfrm>
            <a:off x="3657600" y="2971800"/>
            <a:ext cx="2834640" cy="960120"/>
          </a:xfrm>
          <a:prstGeom prst="roundRect">
            <a:avLst>
              <a:gd name="adj" fmla="val 7619"/>
            </a:avLst>
          </a:prstGeom>
          <a:solidFill>
            <a:schemeClr val="accent3"/>
          </a:solidFill>
          <a:ln w="9525">
            <a:solidFill>
              <a:schemeClr val="accent3"/>
            </a:solidFill>
            <a:prstDash val="solid"/>
          </a:ln>
        </p:spPr>
      </p:sp>
      <p:sp>
        <p:nvSpPr>
          <p:cNvPr id="19" name="box-t-715"/>
          <p:cNvSpPr txBox="1"/>
          <p:nvPr/>
        </p:nvSpPr>
        <p:spPr>
          <a:xfrm>
            <a:off x="3703320" y="2971800"/>
            <a:ext cx="2743200" cy="960120"/>
          </a:xfrm>
          <a:prstGeom prst="rect">
            <a:avLst/>
          </a:prstGeom>
          <a:noFill/>
          <a:ln/>
        </p:spPr>
        <p:txBody>
          <a:bodyPr wrap="square" lIns="508" tIns="508" rIns="508" bIns="508" rtlCol="0" anchor="ctr"/>
          <a:lstStyle/>
          <a:p>
            <a:pPr algn="ctr" indent="0" marL="0">
              <a:buNone/>
            </a:pPr>
            <a:r>
              <a:rPr lang="en-US" sz="1500" b="1" dirty="0">
                <a:solidFill>
                  <a:schemeClr val="bg1"/>
                </a:solidFill>
              </a:rPr>
              <a:t>AWS Config</a:t>
            </a:r>
            <a:endParaRPr lang="en-US" sz="1500" dirty="0"/>
          </a:p>
          <a:p>
            <a:pPr algn="ctr" indent="0" marL="0">
              <a:buNone/>
            </a:pPr>
            <a:r>
              <a:rPr lang="en-US" sz="1200" dirty="0">
                <a:solidFill>
                  <a:schemeClr val="bg1"/>
                </a:solidFill>
              </a:rPr>
              <a:t>What every resource looks like</a:t>
            </a:r>
            <a:endParaRPr lang="en-US" sz="1500" dirty="0"/>
          </a:p>
        </p:txBody>
      </p:sp>
      <p:sp>
        <p:nvSpPr>
          <p:cNvPr id="20" name="arrow-716"/>
          <p:cNvSpPr/>
          <p:nvPr/>
        </p:nvSpPr>
        <p:spPr>
          <a:xfrm flipV="1">
            <a:off x="6510528" y="3200400"/>
            <a:ext cx="1124712" cy="246888"/>
          </a:xfrm>
          <a:prstGeom prst="line">
            <a:avLst/>
          </a:prstGeom>
          <a:noFill/>
          <a:ln w="25400">
            <a:solidFill>
              <a:schemeClr val="accent3"/>
            </a:solidFill>
            <a:prstDash val="solid"/>
            <a:tailEnd type="triangle"/>
          </a:ln>
        </p:spPr>
      </p:sp>
      <p:sp>
        <p:nvSpPr>
          <p:cNvPr id="21" name="box-717"/>
          <p:cNvSpPr/>
          <p:nvPr/>
        </p:nvSpPr>
        <p:spPr>
          <a:xfrm>
            <a:off x="3657600" y="4389120"/>
            <a:ext cx="2834640" cy="960120"/>
          </a:xfrm>
          <a:prstGeom prst="roundRect">
            <a:avLst>
              <a:gd name="adj" fmla="val 7619"/>
            </a:avLst>
          </a:prstGeom>
          <a:solidFill>
            <a:schemeClr val="accent3"/>
          </a:solidFill>
          <a:ln w="9525">
            <a:solidFill>
              <a:schemeClr val="accent3"/>
            </a:solidFill>
            <a:prstDash val="solid"/>
          </a:ln>
        </p:spPr>
      </p:sp>
      <p:sp>
        <p:nvSpPr>
          <p:cNvPr id="22" name="box-t-718"/>
          <p:cNvSpPr txBox="1"/>
          <p:nvPr/>
        </p:nvSpPr>
        <p:spPr>
          <a:xfrm>
            <a:off x="3703320" y="4389120"/>
            <a:ext cx="2743200" cy="960120"/>
          </a:xfrm>
          <a:prstGeom prst="rect">
            <a:avLst/>
          </a:prstGeom>
          <a:noFill/>
          <a:ln/>
        </p:spPr>
        <p:txBody>
          <a:bodyPr wrap="square" lIns="508" tIns="508" rIns="508" bIns="508" rtlCol="0" anchor="ctr"/>
          <a:lstStyle/>
          <a:p>
            <a:pPr algn="ctr" indent="0" marL="0">
              <a:buNone/>
            </a:pPr>
            <a:r>
              <a:rPr lang="en-US" sz="1500" b="1" dirty="0">
                <a:solidFill>
                  <a:schemeClr val="bg1"/>
                </a:solidFill>
              </a:rPr>
              <a:t>VPC flow logs</a:t>
            </a:r>
            <a:endParaRPr lang="en-US" sz="1500" dirty="0"/>
          </a:p>
          <a:p>
            <a:pPr algn="ctr" indent="0" marL="0">
              <a:buNone/>
            </a:pPr>
            <a:r>
              <a:rPr lang="en-US" sz="1200" dirty="0">
                <a:solidFill>
                  <a:schemeClr val="bg1"/>
                </a:solidFill>
              </a:rPr>
              <a:t>Who talked to whom</a:t>
            </a:r>
            <a:endParaRPr lang="en-US" sz="1500" dirty="0"/>
          </a:p>
        </p:txBody>
      </p:sp>
      <p:sp>
        <p:nvSpPr>
          <p:cNvPr id="23" name="arrow-719"/>
          <p:cNvSpPr/>
          <p:nvPr/>
        </p:nvSpPr>
        <p:spPr>
          <a:xfrm flipV="1">
            <a:off x="6510528" y="3749040"/>
            <a:ext cx="1124712" cy="1115568"/>
          </a:xfrm>
          <a:prstGeom prst="line">
            <a:avLst/>
          </a:prstGeom>
          <a:noFill/>
          <a:ln w="25400">
            <a:solidFill>
              <a:schemeClr val="accent3"/>
            </a:solidFill>
            <a:prstDash val="solid"/>
            <a:tailEnd type="triangle"/>
          </a:ln>
        </p:spPr>
      </p:sp>
      <p:sp>
        <p:nvSpPr>
          <p:cNvPr id="24" name="arrow-720"/>
          <p:cNvSpPr/>
          <p:nvPr/>
        </p:nvSpPr>
        <p:spPr>
          <a:xfrm>
            <a:off x="2606040" y="1609344"/>
            <a:ext cx="411480" cy="0"/>
          </a:xfrm>
          <a:prstGeom prst="line">
            <a:avLst/>
          </a:prstGeom>
          <a:noFill/>
          <a:ln w="15875">
            <a:solidFill>
              <a:schemeClr val="tx2"/>
            </a:solidFill>
            <a:prstDash val="solid"/>
          </a:ln>
        </p:spPr>
      </p:sp>
      <p:sp>
        <p:nvSpPr>
          <p:cNvPr id="25" name="arrow-721"/>
          <p:cNvSpPr/>
          <p:nvPr/>
        </p:nvSpPr>
        <p:spPr>
          <a:xfrm>
            <a:off x="2606040" y="2359152"/>
            <a:ext cx="411480" cy="0"/>
          </a:xfrm>
          <a:prstGeom prst="line">
            <a:avLst/>
          </a:prstGeom>
          <a:noFill/>
          <a:ln w="15875">
            <a:solidFill>
              <a:schemeClr val="tx2"/>
            </a:solidFill>
            <a:prstDash val="solid"/>
          </a:ln>
        </p:spPr>
      </p:sp>
      <p:sp>
        <p:nvSpPr>
          <p:cNvPr id="26" name="arrow-722"/>
          <p:cNvSpPr/>
          <p:nvPr/>
        </p:nvSpPr>
        <p:spPr>
          <a:xfrm>
            <a:off x="2606040" y="3108960"/>
            <a:ext cx="411480" cy="0"/>
          </a:xfrm>
          <a:prstGeom prst="line">
            <a:avLst/>
          </a:prstGeom>
          <a:noFill/>
          <a:ln w="15875">
            <a:solidFill>
              <a:schemeClr val="tx2"/>
            </a:solidFill>
            <a:prstDash val="solid"/>
          </a:ln>
        </p:spPr>
      </p:sp>
      <p:sp>
        <p:nvSpPr>
          <p:cNvPr id="27" name="arrow-723"/>
          <p:cNvSpPr/>
          <p:nvPr/>
        </p:nvSpPr>
        <p:spPr>
          <a:xfrm>
            <a:off x="2606040" y="3858768"/>
            <a:ext cx="411480" cy="0"/>
          </a:xfrm>
          <a:prstGeom prst="line">
            <a:avLst/>
          </a:prstGeom>
          <a:noFill/>
          <a:ln w="15875">
            <a:solidFill>
              <a:schemeClr val="tx2"/>
            </a:solidFill>
            <a:prstDash val="solid"/>
          </a:ln>
        </p:spPr>
      </p:sp>
      <p:sp>
        <p:nvSpPr>
          <p:cNvPr id="28" name="arrow-724"/>
          <p:cNvSpPr/>
          <p:nvPr/>
        </p:nvSpPr>
        <p:spPr>
          <a:xfrm>
            <a:off x="2606040" y="4608576"/>
            <a:ext cx="411480" cy="0"/>
          </a:xfrm>
          <a:prstGeom prst="line">
            <a:avLst/>
          </a:prstGeom>
          <a:noFill/>
          <a:ln w="15875">
            <a:solidFill>
              <a:schemeClr val="tx2"/>
            </a:solidFill>
            <a:prstDash val="solid"/>
          </a:ln>
        </p:spPr>
      </p:sp>
      <p:sp>
        <p:nvSpPr>
          <p:cNvPr id="29" name="arrow-725"/>
          <p:cNvSpPr/>
          <p:nvPr/>
        </p:nvSpPr>
        <p:spPr>
          <a:xfrm>
            <a:off x="2606040" y="5358384"/>
            <a:ext cx="411480" cy="0"/>
          </a:xfrm>
          <a:prstGeom prst="line">
            <a:avLst/>
          </a:prstGeom>
          <a:noFill/>
          <a:ln w="15875">
            <a:solidFill>
              <a:schemeClr val="tx2"/>
            </a:solidFill>
            <a:prstDash val="solid"/>
          </a:ln>
        </p:spPr>
      </p:sp>
      <p:sp>
        <p:nvSpPr>
          <p:cNvPr id="30" name="arrow-726"/>
          <p:cNvSpPr/>
          <p:nvPr/>
        </p:nvSpPr>
        <p:spPr>
          <a:xfrm>
            <a:off x="3017520" y="1609344"/>
            <a:ext cx="0" cy="3749040"/>
          </a:xfrm>
          <a:prstGeom prst="line">
            <a:avLst/>
          </a:prstGeom>
          <a:noFill/>
          <a:ln w="15875">
            <a:solidFill>
              <a:schemeClr val="tx2"/>
            </a:solidFill>
            <a:prstDash val="solid"/>
          </a:ln>
        </p:spPr>
      </p:sp>
      <p:sp>
        <p:nvSpPr>
          <p:cNvPr id="31" name="arrow-727"/>
          <p:cNvSpPr/>
          <p:nvPr/>
        </p:nvSpPr>
        <p:spPr>
          <a:xfrm>
            <a:off x="3017520" y="2029968"/>
            <a:ext cx="621792" cy="0"/>
          </a:xfrm>
          <a:prstGeom prst="line">
            <a:avLst/>
          </a:prstGeom>
          <a:noFill/>
          <a:ln w="22225">
            <a:solidFill>
              <a:schemeClr val="tx2"/>
            </a:solidFill>
            <a:prstDash val="solid"/>
            <a:tailEnd type="triangle"/>
          </a:ln>
        </p:spPr>
      </p:sp>
      <p:sp>
        <p:nvSpPr>
          <p:cNvPr id="32" name="arrow-728"/>
          <p:cNvSpPr/>
          <p:nvPr/>
        </p:nvSpPr>
        <p:spPr>
          <a:xfrm>
            <a:off x="3017520" y="3447288"/>
            <a:ext cx="621792" cy="0"/>
          </a:xfrm>
          <a:prstGeom prst="line">
            <a:avLst/>
          </a:prstGeom>
          <a:noFill/>
          <a:ln w="22225">
            <a:solidFill>
              <a:schemeClr val="tx2"/>
            </a:solidFill>
            <a:prstDash val="solid"/>
            <a:tailEnd type="triangle"/>
          </a:ln>
        </p:spPr>
      </p:sp>
      <p:sp>
        <p:nvSpPr>
          <p:cNvPr id="33" name="arrow-729"/>
          <p:cNvSpPr/>
          <p:nvPr/>
        </p:nvSpPr>
        <p:spPr>
          <a:xfrm>
            <a:off x="3017520" y="4864608"/>
            <a:ext cx="621792" cy="0"/>
          </a:xfrm>
          <a:prstGeom prst="line">
            <a:avLst/>
          </a:prstGeom>
          <a:noFill/>
          <a:ln w="22225">
            <a:solidFill>
              <a:schemeClr val="tx2"/>
            </a:solidFill>
            <a:prstDash val="solid"/>
            <a:tailEnd type="triangle"/>
          </a:ln>
        </p:spPr>
      </p:sp>
      <p:sp>
        <p:nvSpPr>
          <p:cNvPr id="34" name="box-730"/>
          <p:cNvSpPr/>
          <p:nvPr/>
        </p:nvSpPr>
        <p:spPr>
          <a:xfrm>
            <a:off x="7680960" y="1463040"/>
            <a:ext cx="4023360" cy="3840480"/>
          </a:xfrm>
          <a:prstGeom prst="roundRect">
            <a:avLst>
              <a:gd name="adj" fmla="val 1905"/>
            </a:avLst>
          </a:prstGeom>
          <a:solidFill>
            <a:schemeClr val="tx1"/>
          </a:solidFill>
          <a:ln w="9525">
            <a:solidFill>
              <a:schemeClr val="tx1"/>
            </a:solidFill>
            <a:prstDash val="solid"/>
          </a:ln>
        </p:spPr>
      </p:sp>
      <p:pic>
        <p:nvPicPr>
          <p:cNvPr id="35" name="icon-731" descr="preencoded.png">    </p:cNvPr>
          <p:cNvPicPr>
            <a:picLocks noChangeAspect="1"/>
          </p:cNvPicPr>
          <p:nvPr/>
        </p:nvPicPr>
        <p:blipFill>
          <a:blip r:embed="rId1"/>
          <a:stretch>
            <a:fillRect/>
          </a:stretch>
        </p:blipFill>
        <p:spPr>
          <a:xfrm>
            <a:off x="7955280" y="1691640"/>
            <a:ext cx="502920" cy="502920"/>
          </a:xfrm>
          <a:prstGeom prst="rect">
            <a:avLst/>
          </a:prstGeom>
        </p:spPr>
      </p:pic>
      <p:sp>
        <p:nvSpPr>
          <p:cNvPr id="36" name="text-732"/>
          <p:cNvSpPr txBox="1"/>
          <p:nvPr/>
        </p:nvSpPr>
        <p:spPr>
          <a:xfrm>
            <a:off x="8595360" y="1719072"/>
            <a:ext cx="3017520" cy="457200"/>
          </a:xfrm>
          <a:prstGeom prst="rect">
            <a:avLst/>
          </a:prstGeom>
          <a:noFill/>
          <a:ln/>
        </p:spPr>
        <p:txBody>
          <a:bodyPr wrap="square" lIns="0" tIns="0" rIns="0" bIns="0" rtlCol="0" anchor="t"/>
          <a:lstStyle/>
          <a:p>
            <a:pPr indent="0" marL="0">
              <a:buNone/>
            </a:pPr>
            <a:r>
              <a:rPr lang="en-US" sz="1700" b="1" dirty="0">
                <a:solidFill>
                  <a:schemeClr val="bg1"/>
                </a:solidFill>
              </a:rPr>
              <a:t>lz-org-logs bucket</a:t>
            </a:r>
            <a:endParaRPr lang="en-US" sz="1700" dirty="0"/>
          </a:p>
        </p:txBody>
      </p:sp>
      <p:sp>
        <p:nvSpPr>
          <p:cNvPr id="37" name="text-733"/>
          <p:cNvSpPr txBox="1"/>
          <p:nvPr/>
        </p:nvSpPr>
        <p:spPr>
          <a:xfrm>
            <a:off x="7955280" y="2240280"/>
            <a:ext cx="3566160" cy="320040"/>
          </a:xfrm>
          <a:prstGeom prst="rect">
            <a:avLst/>
          </a:prstGeom>
          <a:noFill/>
          <a:ln/>
        </p:spPr>
        <p:txBody>
          <a:bodyPr wrap="square" lIns="0" tIns="0" rIns="0" bIns="0" rtlCol="0" anchor="t"/>
          <a:lstStyle/>
          <a:p>
            <a:pPr indent="0" marL="0">
              <a:buNone/>
            </a:pPr>
            <a:r>
              <a:rPr lang="en-US" sz="1300" dirty="0">
                <a:solidFill>
                  <a:schemeClr val="accent5"/>
                </a:solidFill>
              </a:rPr>
              <a:t>log-archive account, KMS-encrypted</a:t>
            </a:r>
            <a:endParaRPr lang="en-US" sz="1300" dirty="0"/>
          </a:p>
        </p:txBody>
      </p:sp>
      <p:sp>
        <p:nvSpPr>
          <p:cNvPr id="38" name="box-734"/>
          <p:cNvSpPr/>
          <p:nvPr/>
        </p:nvSpPr>
        <p:spPr>
          <a:xfrm>
            <a:off x="8001000" y="2697480"/>
            <a:ext cx="3383280" cy="438912"/>
          </a:xfrm>
          <a:prstGeom prst="roundRect">
            <a:avLst>
              <a:gd name="adj" fmla="val 16667"/>
            </a:avLst>
          </a:prstGeom>
          <a:solidFill>
            <a:schemeClr val="accent1"/>
          </a:solidFill>
          <a:ln w="9525">
            <a:solidFill>
              <a:schemeClr val="accent1"/>
            </a:solidFill>
            <a:prstDash val="solid"/>
          </a:ln>
        </p:spPr>
      </p:sp>
      <p:sp>
        <p:nvSpPr>
          <p:cNvPr id="39" name="box-t-735"/>
          <p:cNvSpPr txBox="1"/>
          <p:nvPr/>
        </p:nvSpPr>
        <p:spPr>
          <a:xfrm>
            <a:off x="8046720" y="2697480"/>
            <a:ext cx="3291840" cy="438912"/>
          </a:xfrm>
          <a:prstGeom prst="rect">
            <a:avLst/>
          </a:prstGeom>
          <a:noFill/>
          <a:ln/>
        </p:spPr>
        <p:txBody>
          <a:bodyPr wrap="square" lIns="508" tIns="508" rIns="508" bIns="508" rtlCol="0" anchor="ctr"/>
          <a:lstStyle/>
          <a:p>
            <a:pPr algn="l" indent="0" marL="0">
              <a:buNone/>
            </a:pPr>
            <a:r>
              <a:rPr lang="en-US" sz="1300" b="1" dirty="0">
                <a:solidFill>
                  <a:schemeClr val="bg1"/>
                </a:solidFill>
              </a:rPr>
              <a:t>cloudtrail/</a:t>
            </a:r>
            <a:endParaRPr lang="en-US" sz="1300" dirty="0"/>
          </a:p>
        </p:txBody>
      </p:sp>
      <p:sp>
        <p:nvSpPr>
          <p:cNvPr id="40" name="box-736"/>
          <p:cNvSpPr/>
          <p:nvPr/>
        </p:nvSpPr>
        <p:spPr>
          <a:xfrm>
            <a:off x="8001000" y="3246120"/>
            <a:ext cx="3383280" cy="438912"/>
          </a:xfrm>
          <a:prstGeom prst="roundRect">
            <a:avLst>
              <a:gd name="adj" fmla="val 16667"/>
            </a:avLst>
          </a:prstGeom>
          <a:solidFill>
            <a:schemeClr val="accent1"/>
          </a:solidFill>
          <a:ln w="9525">
            <a:solidFill>
              <a:schemeClr val="accent1"/>
            </a:solidFill>
            <a:prstDash val="solid"/>
          </a:ln>
        </p:spPr>
      </p:sp>
      <p:sp>
        <p:nvSpPr>
          <p:cNvPr id="41" name="box-t-737"/>
          <p:cNvSpPr txBox="1"/>
          <p:nvPr/>
        </p:nvSpPr>
        <p:spPr>
          <a:xfrm>
            <a:off x="8046720" y="3246120"/>
            <a:ext cx="3291840" cy="438912"/>
          </a:xfrm>
          <a:prstGeom prst="rect">
            <a:avLst/>
          </a:prstGeom>
          <a:noFill/>
          <a:ln/>
        </p:spPr>
        <p:txBody>
          <a:bodyPr wrap="square" lIns="508" tIns="508" rIns="508" bIns="508" rtlCol="0" anchor="ctr"/>
          <a:lstStyle/>
          <a:p>
            <a:pPr algn="l" indent="0" marL="0">
              <a:buNone/>
            </a:pPr>
            <a:r>
              <a:rPr lang="en-US" sz="1300" b="1" dirty="0">
                <a:solidFill>
                  <a:schemeClr val="bg1"/>
                </a:solidFill>
              </a:rPr>
              <a:t>config/</a:t>
            </a:r>
            <a:endParaRPr lang="en-US" sz="1300" dirty="0"/>
          </a:p>
        </p:txBody>
      </p:sp>
      <p:sp>
        <p:nvSpPr>
          <p:cNvPr id="42" name="box-738"/>
          <p:cNvSpPr/>
          <p:nvPr/>
        </p:nvSpPr>
        <p:spPr>
          <a:xfrm>
            <a:off x="8001000" y="3794760"/>
            <a:ext cx="3383280" cy="438912"/>
          </a:xfrm>
          <a:prstGeom prst="roundRect">
            <a:avLst>
              <a:gd name="adj" fmla="val 16667"/>
            </a:avLst>
          </a:prstGeom>
          <a:solidFill>
            <a:schemeClr val="accent1"/>
          </a:solidFill>
          <a:ln w="9525">
            <a:solidFill>
              <a:schemeClr val="accent1"/>
            </a:solidFill>
            <a:prstDash val="solid"/>
          </a:ln>
        </p:spPr>
      </p:sp>
      <p:sp>
        <p:nvSpPr>
          <p:cNvPr id="43" name="box-t-739"/>
          <p:cNvSpPr txBox="1"/>
          <p:nvPr/>
        </p:nvSpPr>
        <p:spPr>
          <a:xfrm>
            <a:off x="8046720" y="3794760"/>
            <a:ext cx="3291840" cy="438912"/>
          </a:xfrm>
          <a:prstGeom prst="rect">
            <a:avLst/>
          </a:prstGeom>
          <a:noFill/>
          <a:ln/>
        </p:spPr>
        <p:txBody>
          <a:bodyPr wrap="square" lIns="508" tIns="508" rIns="508" bIns="508" rtlCol="0" anchor="ctr"/>
          <a:lstStyle/>
          <a:p>
            <a:pPr algn="l" indent="0" marL="0">
              <a:buNone/>
            </a:pPr>
            <a:r>
              <a:rPr lang="en-US" sz="1300" b="1" dirty="0">
                <a:solidFill>
                  <a:schemeClr val="bg1"/>
                </a:solidFill>
              </a:rPr>
              <a:t>vpc-flow-logs/</a:t>
            </a:r>
            <a:endParaRPr lang="en-US" sz="1300" dirty="0"/>
          </a:p>
        </p:txBody>
      </p:sp>
      <p:sp>
        <p:nvSpPr>
          <p:cNvPr id="44" name="text-740"/>
          <p:cNvSpPr txBox="1"/>
          <p:nvPr/>
        </p:nvSpPr>
        <p:spPr>
          <a:xfrm>
            <a:off x="8001000" y="4480560"/>
            <a:ext cx="3474720" cy="640080"/>
          </a:xfrm>
          <a:prstGeom prst="rect">
            <a:avLst/>
          </a:prstGeom>
          <a:noFill/>
          <a:ln/>
        </p:spPr>
        <p:txBody>
          <a:bodyPr wrap="square" lIns="0" tIns="0" rIns="0" bIns="0" rtlCol="0" anchor="t"/>
          <a:lstStyle/>
          <a:p>
            <a:pPr indent="0" marL="0">
              <a:buNone/>
            </a:pPr>
            <a:r>
              <a:rPr lang="en-US" sz="1300" dirty="0">
                <a:solidFill>
                  <a:schemeClr val="bg2"/>
                </a:solidFill>
              </a:rPr>
              <a:t>Lifecycle: Glacier after 90 days, delete after 365</a:t>
            </a:r>
            <a:endParaRPr lang="en-US" sz="1300" dirty="0"/>
          </a:p>
        </p:txBody>
      </p:sp>
      <p:sp>
        <p:nvSpPr>
          <p:cNvPr id="45" name="text-741"/>
          <p:cNvSpPr txBox="1"/>
          <p:nvPr/>
        </p:nvSpPr>
        <p:spPr>
          <a:xfrm>
            <a:off x="502920" y="5943600"/>
            <a:ext cx="10972800" cy="365760"/>
          </a:xfrm>
          <a:prstGeom prst="rect">
            <a:avLst/>
          </a:prstGeom>
          <a:noFill/>
          <a:ln/>
        </p:spPr>
        <p:txBody>
          <a:bodyPr wrap="square" lIns="0" tIns="0" rIns="0" bIns="0" rtlCol="0" anchor="t"/>
          <a:lstStyle/>
          <a:p>
            <a:pPr indent="0" marL="0">
              <a:buNone/>
            </a:pPr>
            <a:r>
              <a:rPr lang="en-US" sz="1500" dirty="0">
                <a:solidFill>
                  <a:schemeClr val="tx2"/>
                </a:solidFill>
              </a:rPr>
              <a:t>One bucket means one place to protect, query, and retain evidence.</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The confused-deputy problem</a:t>
            </a:r>
            <a:endParaRPr lang="en-US" sz="3400" dirty="0"/>
          </a:p>
        </p:txBody>
      </p:sp>
      <p:sp>
        <p:nvSpPr>
          <p:cNvPr id="3" name="text-742"/>
          <p:cNvSpPr txBox="1"/>
          <p:nvPr/>
        </p:nvSpPr>
        <p:spPr>
          <a:xfrm>
            <a:off x="502920" y="1234440"/>
            <a:ext cx="10972800" cy="365760"/>
          </a:xfrm>
          <a:prstGeom prst="rect">
            <a:avLst/>
          </a:prstGeom>
          <a:noFill/>
          <a:ln/>
        </p:spPr>
        <p:txBody>
          <a:bodyPr wrap="square" lIns="0" tIns="0" rIns="0" bIns="0" rtlCol="0" anchor="t"/>
          <a:lstStyle/>
          <a:p>
            <a:pPr indent="0" marL="0">
              <a:buNone/>
            </a:pPr>
            <a:r>
              <a:rPr lang="en-US" sz="1700" b="1" dirty="0">
                <a:solidFill>
                  <a:schemeClr val="tx1"/>
                </a:solidFill>
              </a:rPr>
              <a:t>Policy trusts only the service principal</a:t>
            </a:r>
            <a:endParaRPr lang="en-US" sz="1700" dirty="0"/>
          </a:p>
        </p:txBody>
      </p:sp>
      <p:sp>
        <p:nvSpPr>
          <p:cNvPr id="4" name="box-743"/>
          <p:cNvSpPr/>
          <p:nvPr/>
        </p:nvSpPr>
        <p:spPr>
          <a:xfrm>
            <a:off x="502920" y="1737360"/>
            <a:ext cx="2743200" cy="914400"/>
          </a:xfrm>
          <a:prstGeom prst="roundRect">
            <a:avLst>
              <a:gd name="adj" fmla="val 8000"/>
            </a:avLst>
          </a:prstGeom>
          <a:solidFill>
            <a:schemeClr val="accent4"/>
          </a:solidFill>
          <a:ln w="9525">
            <a:solidFill>
              <a:schemeClr val="accent4"/>
            </a:solidFill>
            <a:prstDash val="solid"/>
          </a:ln>
        </p:spPr>
      </p:sp>
      <p:sp>
        <p:nvSpPr>
          <p:cNvPr id="5" name="box-t-744"/>
          <p:cNvSpPr txBox="1"/>
          <p:nvPr/>
        </p:nvSpPr>
        <p:spPr>
          <a:xfrm>
            <a:off x="548640" y="1737360"/>
            <a:ext cx="2651760" cy="914400"/>
          </a:xfrm>
          <a:prstGeom prst="rect">
            <a:avLst/>
          </a:prstGeom>
          <a:noFill/>
          <a:ln/>
        </p:spPr>
        <p:txBody>
          <a:bodyPr wrap="square" lIns="508" tIns="508" rIns="508" bIns="508" rtlCol="0" anchor="ctr"/>
          <a:lstStyle/>
          <a:p>
            <a:pPr algn="ctr" indent="0" marL="0">
              <a:buNone/>
            </a:pPr>
            <a:r>
              <a:rPr lang="en-US" sz="1400" b="1" dirty="0">
                <a:solidFill>
                  <a:schemeClr val="bg1"/>
                </a:solidFill>
              </a:rPr>
              <a:t>Another AWS customer's trail</a:t>
            </a:r>
            <a:endParaRPr lang="en-US" sz="1400" dirty="0"/>
          </a:p>
        </p:txBody>
      </p:sp>
      <p:sp>
        <p:nvSpPr>
          <p:cNvPr id="6" name="box-745"/>
          <p:cNvSpPr/>
          <p:nvPr/>
        </p:nvSpPr>
        <p:spPr>
          <a:xfrm>
            <a:off x="4389120" y="1737360"/>
            <a:ext cx="2743200" cy="914400"/>
          </a:xfrm>
          <a:prstGeom prst="roundRect">
            <a:avLst>
              <a:gd name="adj" fmla="val 8000"/>
            </a:avLst>
          </a:prstGeom>
          <a:solidFill>
            <a:schemeClr val="tx1"/>
          </a:solidFill>
          <a:ln w="9525">
            <a:solidFill>
              <a:schemeClr val="tx1"/>
            </a:solidFill>
            <a:prstDash val="solid"/>
          </a:ln>
        </p:spPr>
      </p:sp>
      <p:sp>
        <p:nvSpPr>
          <p:cNvPr id="7" name="box-t-746"/>
          <p:cNvSpPr txBox="1"/>
          <p:nvPr/>
        </p:nvSpPr>
        <p:spPr>
          <a:xfrm>
            <a:off x="4434840" y="1737360"/>
            <a:ext cx="2651760" cy="914400"/>
          </a:xfrm>
          <a:prstGeom prst="rect">
            <a:avLst/>
          </a:prstGeom>
          <a:noFill/>
          <a:ln/>
        </p:spPr>
        <p:txBody>
          <a:bodyPr wrap="square" lIns="508" tIns="508" rIns="508" bIns="508" rtlCol="0" anchor="ctr"/>
          <a:lstStyle/>
          <a:p>
            <a:pPr algn="ctr" indent="0" marL="0">
              <a:buNone/>
            </a:pPr>
            <a:r>
              <a:rPr lang="en-US" sz="1300" b="1" dirty="0">
                <a:solidFill>
                  <a:schemeClr val="bg1"/>
                </a:solidFill>
              </a:rPr>
              <a:t>cloudtrail.amazonaws.com</a:t>
            </a:r>
            <a:endParaRPr lang="en-US" sz="1300" dirty="0"/>
          </a:p>
          <a:p>
            <a:pPr algn="ctr" indent="0" marL="0">
              <a:buNone/>
            </a:pPr>
            <a:r>
              <a:rPr lang="en-US" sz="1100" dirty="0">
                <a:solidFill>
                  <a:schemeClr val="bg1"/>
                </a:solidFill>
              </a:rPr>
              <a:t>the same service for everyone</a:t>
            </a:r>
            <a:endParaRPr lang="en-US" sz="1300" dirty="0"/>
          </a:p>
        </p:txBody>
      </p:sp>
      <p:sp>
        <p:nvSpPr>
          <p:cNvPr id="8" name="box-747"/>
          <p:cNvSpPr/>
          <p:nvPr/>
        </p:nvSpPr>
        <p:spPr>
          <a:xfrm>
            <a:off x="8961120" y="1737360"/>
            <a:ext cx="2743200" cy="914400"/>
          </a:xfrm>
          <a:prstGeom prst="roundRect">
            <a:avLst>
              <a:gd name="adj" fmla="val 8000"/>
            </a:avLst>
          </a:prstGeom>
          <a:solidFill>
            <a:schemeClr val="accent3"/>
          </a:solidFill>
          <a:ln w="9525">
            <a:solidFill>
              <a:schemeClr val="accent3"/>
            </a:solidFill>
            <a:prstDash val="solid"/>
          </a:ln>
        </p:spPr>
      </p:sp>
      <p:sp>
        <p:nvSpPr>
          <p:cNvPr id="9" name="box-t-748"/>
          <p:cNvSpPr txBox="1"/>
          <p:nvPr/>
        </p:nvSpPr>
        <p:spPr>
          <a:xfrm>
            <a:off x="9006840" y="1737360"/>
            <a:ext cx="2651760" cy="914400"/>
          </a:xfrm>
          <a:prstGeom prst="rect">
            <a:avLst/>
          </a:prstGeom>
          <a:noFill/>
          <a:ln/>
        </p:spPr>
        <p:txBody>
          <a:bodyPr wrap="square" lIns="508" tIns="508" rIns="508" bIns="508" rtlCol="0" anchor="ctr"/>
          <a:lstStyle/>
          <a:p>
            <a:pPr algn="ctr" indent="0" marL="0">
              <a:buNone/>
            </a:pPr>
            <a:r>
              <a:rPr lang="en-US" sz="1500" b="1" dirty="0">
                <a:solidFill>
                  <a:schemeClr val="bg1"/>
                </a:solidFill>
              </a:rPr>
              <a:t>Your log bucket</a:t>
            </a:r>
            <a:endParaRPr lang="en-US" sz="1500" dirty="0"/>
          </a:p>
        </p:txBody>
      </p:sp>
      <p:sp>
        <p:nvSpPr>
          <p:cNvPr id="10" name="arrow-749"/>
          <p:cNvSpPr/>
          <p:nvPr/>
        </p:nvSpPr>
        <p:spPr>
          <a:xfrm>
            <a:off x="3264408" y="2194560"/>
            <a:ext cx="1106424" cy="0"/>
          </a:xfrm>
          <a:prstGeom prst="line">
            <a:avLst/>
          </a:prstGeom>
          <a:noFill/>
          <a:ln w="25400">
            <a:solidFill>
              <a:schemeClr val="tx2"/>
            </a:solidFill>
            <a:prstDash val="solid"/>
            <a:tailEnd type="triangle"/>
          </a:ln>
        </p:spPr>
      </p:sp>
      <p:sp>
        <p:nvSpPr>
          <p:cNvPr id="11" name="arrow-750"/>
          <p:cNvSpPr/>
          <p:nvPr/>
        </p:nvSpPr>
        <p:spPr>
          <a:xfrm>
            <a:off x="7150608" y="2194560"/>
            <a:ext cx="1792224" cy="0"/>
          </a:xfrm>
          <a:prstGeom prst="line">
            <a:avLst/>
          </a:prstGeom>
          <a:noFill/>
          <a:ln w="31750">
            <a:solidFill>
              <a:schemeClr val="accent4"/>
            </a:solidFill>
            <a:prstDash val="solid"/>
            <a:tailEnd type="triangle"/>
          </a:ln>
        </p:spPr>
      </p:sp>
      <p:sp>
        <p:nvSpPr>
          <p:cNvPr id="12" name="text-751"/>
          <p:cNvSpPr txBox="1"/>
          <p:nvPr/>
        </p:nvSpPr>
        <p:spPr>
          <a:xfrm>
            <a:off x="7223760" y="1783080"/>
            <a:ext cx="1645920" cy="320040"/>
          </a:xfrm>
          <a:prstGeom prst="rect">
            <a:avLst/>
          </a:prstGeom>
          <a:noFill/>
          <a:ln/>
        </p:spPr>
        <p:txBody>
          <a:bodyPr wrap="square" lIns="0" tIns="0" rIns="0" bIns="0" rtlCol="0" anchor="t"/>
          <a:lstStyle/>
          <a:p>
            <a:pPr algn="ctr" indent="0" marL="0">
              <a:buNone/>
            </a:pPr>
            <a:r>
              <a:rPr lang="en-US" sz="1300" b="1" dirty="0">
                <a:solidFill>
                  <a:schemeClr val="accent4"/>
                </a:solidFill>
              </a:rPr>
              <a:t>allowed: bad</a:t>
            </a:r>
            <a:endParaRPr lang="en-US" sz="1300" dirty="0"/>
          </a:p>
        </p:txBody>
      </p:sp>
      <p:sp>
        <p:nvSpPr>
          <p:cNvPr id="13" name="text-752"/>
          <p:cNvSpPr txBox="1"/>
          <p:nvPr/>
        </p:nvSpPr>
        <p:spPr>
          <a:xfrm>
            <a:off x="502920" y="3108960"/>
            <a:ext cx="10972800" cy="365760"/>
          </a:xfrm>
          <a:prstGeom prst="rect">
            <a:avLst/>
          </a:prstGeom>
          <a:noFill/>
          <a:ln/>
        </p:spPr>
        <p:txBody>
          <a:bodyPr wrap="square" lIns="0" tIns="0" rIns="0" bIns="0" rtlCol="0" anchor="t"/>
          <a:lstStyle/>
          <a:p>
            <a:pPr indent="0" marL="0">
              <a:buNone/>
            </a:pPr>
            <a:r>
              <a:rPr lang="en-US" sz="1700" b="1" dirty="0">
                <a:solidFill>
                  <a:schemeClr val="tx1"/>
                </a:solidFill>
              </a:rPr>
              <a:t>Policy also requires aws:SourceArn = your trail</a:t>
            </a:r>
            <a:endParaRPr lang="en-US" sz="1700" dirty="0"/>
          </a:p>
        </p:txBody>
      </p:sp>
      <p:sp>
        <p:nvSpPr>
          <p:cNvPr id="14" name="box-753"/>
          <p:cNvSpPr/>
          <p:nvPr/>
        </p:nvSpPr>
        <p:spPr>
          <a:xfrm>
            <a:off x="502920" y="3611880"/>
            <a:ext cx="2743200" cy="914400"/>
          </a:xfrm>
          <a:prstGeom prst="roundRect">
            <a:avLst>
              <a:gd name="adj" fmla="val 8000"/>
            </a:avLst>
          </a:prstGeom>
          <a:solidFill>
            <a:schemeClr val="accent4"/>
          </a:solidFill>
          <a:ln w="9525">
            <a:solidFill>
              <a:schemeClr val="accent4"/>
            </a:solidFill>
            <a:prstDash val="solid"/>
          </a:ln>
        </p:spPr>
      </p:sp>
      <p:sp>
        <p:nvSpPr>
          <p:cNvPr id="15" name="box-t-754"/>
          <p:cNvSpPr txBox="1"/>
          <p:nvPr/>
        </p:nvSpPr>
        <p:spPr>
          <a:xfrm>
            <a:off x="548640" y="3611880"/>
            <a:ext cx="2651760" cy="914400"/>
          </a:xfrm>
          <a:prstGeom prst="rect">
            <a:avLst/>
          </a:prstGeom>
          <a:noFill/>
          <a:ln/>
        </p:spPr>
        <p:txBody>
          <a:bodyPr wrap="square" lIns="508" tIns="508" rIns="508" bIns="508" rtlCol="0" anchor="ctr"/>
          <a:lstStyle/>
          <a:p>
            <a:pPr algn="ctr" indent="0" marL="0">
              <a:buNone/>
            </a:pPr>
            <a:r>
              <a:rPr lang="en-US" sz="1400" b="1" dirty="0">
                <a:solidFill>
                  <a:schemeClr val="bg1"/>
                </a:solidFill>
              </a:rPr>
              <a:t>Another AWS customer's trail</a:t>
            </a:r>
            <a:endParaRPr lang="en-US" sz="1400" dirty="0"/>
          </a:p>
        </p:txBody>
      </p:sp>
      <p:sp>
        <p:nvSpPr>
          <p:cNvPr id="16" name="box-755"/>
          <p:cNvSpPr/>
          <p:nvPr/>
        </p:nvSpPr>
        <p:spPr>
          <a:xfrm>
            <a:off x="4389120" y="3611880"/>
            <a:ext cx="2743200" cy="914400"/>
          </a:xfrm>
          <a:prstGeom prst="roundRect">
            <a:avLst>
              <a:gd name="adj" fmla="val 8000"/>
            </a:avLst>
          </a:prstGeom>
          <a:solidFill>
            <a:schemeClr val="tx1"/>
          </a:solidFill>
          <a:ln w="9525">
            <a:solidFill>
              <a:schemeClr val="tx1"/>
            </a:solidFill>
            <a:prstDash val="solid"/>
          </a:ln>
        </p:spPr>
      </p:sp>
      <p:sp>
        <p:nvSpPr>
          <p:cNvPr id="17" name="box-t-756"/>
          <p:cNvSpPr txBox="1"/>
          <p:nvPr/>
        </p:nvSpPr>
        <p:spPr>
          <a:xfrm>
            <a:off x="4434840" y="3611880"/>
            <a:ext cx="2651760" cy="914400"/>
          </a:xfrm>
          <a:prstGeom prst="rect">
            <a:avLst/>
          </a:prstGeom>
          <a:noFill/>
          <a:ln/>
        </p:spPr>
        <p:txBody>
          <a:bodyPr wrap="square" lIns="508" tIns="508" rIns="508" bIns="508" rtlCol="0" anchor="ctr"/>
          <a:lstStyle/>
          <a:p>
            <a:pPr algn="ctr" indent="0" marL="0">
              <a:buNone/>
            </a:pPr>
            <a:r>
              <a:rPr lang="en-US" sz="1300" b="1" dirty="0">
                <a:solidFill>
                  <a:schemeClr val="bg1"/>
                </a:solidFill>
              </a:rPr>
              <a:t>cloudtrail.amazonaws.com</a:t>
            </a:r>
            <a:endParaRPr lang="en-US" sz="1300" dirty="0"/>
          </a:p>
          <a:p>
            <a:pPr algn="ctr" indent="0" marL="0">
              <a:buNone/>
            </a:pPr>
            <a:r>
              <a:rPr lang="en-US" sz="1100" dirty="0">
                <a:solidFill>
                  <a:schemeClr val="bg1"/>
                </a:solidFill>
              </a:rPr>
              <a:t>the same service for everyone</a:t>
            </a:r>
            <a:endParaRPr lang="en-US" sz="1300" dirty="0"/>
          </a:p>
        </p:txBody>
      </p:sp>
      <p:sp>
        <p:nvSpPr>
          <p:cNvPr id="18" name="box-757"/>
          <p:cNvSpPr/>
          <p:nvPr/>
        </p:nvSpPr>
        <p:spPr>
          <a:xfrm>
            <a:off x="8961120" y="3611880"/>
            <a:ext cx="2743200" cy="914400"/>
          </a:xfrm>
          <a:prstGeom prst="roundRect">
            <a:avLst>
              <a:gd name="adj" fmla="val 8000"/>
            </a:avLst>
          </a:prstGeom>
          <a:solidFill>
            <a:schemeClr val="accent3"/>
          </a:solidFill>
          <a:ln w="9525">
            <a:solidFill>
              <a:schemeClr val="accent3"/>
            </a:solidFill>
            <a:prstDash val="solid"/>
          </a:ln>
        </p:spPr>
      </p:sp>
      <p:sp>
        <p:nvSpPr>
          <p:cNvPr id="19" name="box-t-758"/>
          <p:cNvSpPr txBox="1"/>
          <p:nvPr/>
        </p:nvSpPr>
        <p:spPr>
          <a:xfrm>
            <a:off x="9006840" y="3611880"/>
            <a:ext cx="2651760" cy="914400"/>
          </a:xfrm>
          <a:prstGeom prst="rect">
            <a:avLst/>
          </a:prstGeom>
          <a:noFill/>
          <a:ln/>
        </p:spPr>
        <p:txBody>
          <a:bodyPr wrap="square" lIns="508" tIns="508" rIns="508" bIns="508" rtlCol="0" anchor="ctr"/>
          <a:lstStyle/>
          <a:p>
            <a:pPr algn="ctr" indent="0" marL="0">
              <a:buNone/>
            </a:pPr>
            <a:r>
              <a:rPr lang="en-US" sz="1500" b="1" dirty="0">
                <a:solidFill>
                  <a:schemeClr val="bg1"/>
                </a:solidFill>
              </a:rPr>
              <a:t>Your log bucket</a:t>
            </a:r>
            <a:endParaRPr lang="en-US" sz="1500" dirty="0"/>
          </a:p>
        </p:txBody>
      </p:sp>
      <p:sp>
        <p:nvSpPr>
          <p:cNvPr id="20" name="arrow-759"/>
          <p:cNvSpPr/>
          <p:nvPr/>
        </p:nvSpPr>
        <p:spPr>
          <a:xfrm>
            <a:off x="3264408" y="4069080"/>
            <a:ext cx="1106424" cy="0"/>
          </a:xfrm>
          <a:prstGeom prst="line">
            <a:avLst/>
          </a:prstGeom>
          <a:noFill/>
          <a:ln w="25400">
            <a:solidFill>
              <a:schemeClr val="tx2"/>
            </a:solidFill>
            <a:prstDash val="solid"/>
            <a:tailEnd type="triangle"/>
          </a:ln>
        </p:spPr>
      </p:sp>
      <p:sp>
        <p:nvSpPr>
          <p:cNvPr id="21" name="arrow-760"/>
          <p:cNvSpPr/>
          <p:nvPr/>
        </p:nvSpPr>
        <p:spPr>
          <a:xfrm>
            <a:off x="7150608" y="4069080"/>
            <a:ext cx="1792224" cy="0"/>
          </a:xfrm>
          <a:prstGeom prst="line">
            <a:avLst/>
          </a:prstGeom>
          <a:noFill/>
          <a:ln w="31750">
            <a:solidFill>
              <a:schemeClr val="tx2"/>
            </a:solidFill>
            <a:prstDash val="dash"/>
            <a:tailEnd type="triangle"/>
          </a:ln>
        </p:spPr>
      </p:sp>
      <p:sp>
        <p:nvSpPr>
          <p:cNvPr id="22" name="text-761"/>
          <p:cNvSpPr txBox="1"/>
          <p:nvPr/>
        </p:nvSpPr>
        <p:spPr>
          <a:xfrm>
            <a:off x="7223760" y="3657600"/>
            <a:ext cx="1645920" cy="320040"/>
          </a:xfrm>
          <a:prstGeom prst="rect">
            <a:avLst/>
          </a:prstGeom>
          <a:noFill/>
          <a:ln/>
        </p:spPr>
        <p:txBody>
          <a:bodyPr wrap="square" lIns="0" tIns="0" rIns="0" bIns="0" rtlCol="0" anchor="t"/>
          <a:lstStyle/>
          <a:p>
            <a:pPr algn="ctr" indent="0" marL="0">
              <a:buNone/>
            </a:pPr>
            <a:r>
              <a:rPr lang="en-US" sz="1300" b="1" dirty="0">
                <a:solidFill>
                  <a:schemeClr val="accent3"/>
                </a:solidFill>
              </a:rPr>
              <a:t>blocked: good</a:t>
            </a:r>
            <a:endParaRPr lang="en-US" sz="1300" dirty="0"/>
          </a:p>
        </p:txBody>
      </p:sp>
      <p:sp>
        <p:nvSpPr>
          <p:cNvPr id="23" name="card-762"/>
          <p:cNvSpPr/>
          <p:nvPr/>
        </p:nvSpPr>
        <p:spPr>
          <a:xfrm>
            <a:off x="502920" y="5074920"/>
            <a:ext cx="11155680" cy="1188720"/>
          </a:xfrm>
          <a:prstGeom prst="roundRect">
            <a:avLst>
              <a:gd name="adj" fmla="val 7692"/>
            </a:avLst>
          </a:prstGeom>
          <a:solidFill>
            <a:schemeClr val="bg2"/>
          </a:solidFill>
          <a:ln w="12700">
            <a:solidFill>
              <a:schemeClr val="bg2"/>
            </a:solidFill>
            <a:prstDash val="solid"/>
          </a:ln>
        </p:spPr>
      </p:sp>
      <p:sp>
        <p:nvSpPr>
          <p:cNvPr id="24" name="text-763"/>
          <p:cNvSpPr txBox="1"/>
          <p:nvPr/>
        </p:nvSpPr>
        <p:spPr>
          <a:xfrm>
            <a:off x="777240" y="5212080"/>
            <a:ext cx="10607040" cy="914400"/>
          </a:xfrm>
          <a:prstGeom prst="rect">
            <a:avLst/>
          </a:prstGeom>
          <a:noFill/>
          <a:ln/>
        </p:spPr>
        <p:txBody>
          <a:bodyPr wrap="square" lIns="0" tIns="0" rIns="0" bIns="0" rtlCol="0" anchor="ctr"/>
          <a:lstStyle/>
          <a:p>
            <a:pPr indent="0" marL="0">
              <a:buNone/>
            </a:pPr>
            <a:r>
              <a:rPr lang="en-US" sz="1600" b="1" dirty="0">
                <a:solidFill>
                  <a:schemeClr val="tx1"/>
                </a:solidFill>
              </a:rPr>
              <a:t>The fix appears in every grant in this layer. </a:t>
            </a:r>
            <a:pPr indent="0" marL="0">
              <a:buNone/>
            </a:pPr>
            <a:r>
              <a:rPr lang="en-US" sz="1500" dirty="0">
                <a:solidFill>
                  <a:schemeClr val="tx1"/>
                </a:solidFill>
              </a:rPr>
              <a:t>CloudTrail grants check aws:SourceArn. Config and flow log grants check aws:SourceAccount against your own account IDs.</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Working in another account: provider aliases</a:t>
            </a:r>
            <a:endParaRPr lang="en-US" sz="3400" dirty="0"/>
          </a:p>
        </p:txBody>
      </p:sp>
      <p:sp>
        <p:nvSpPr>
          <p:cNvPr id="3" name="code-label-764"/>
          <p:cNvSpPr txBox="1"/>
          <p:nvPr/>
        </p:nvSpPr>
        <p:spPr>
          <a:xfrm>
            <a:off x="868680" y="1280160"/>
            <a:ext cx="7132320" cy="274320"/>
          </a:xfrm>
          <a:prstGeom prst="rect">
            <a:avLst/>
          </a:prstGeom>
          <a:noFill/>
          <a:ln/>
        </p:spPr>
        <p:txBody>
          <a:bodyPr wrap="square" lIns="0" tIns="0" rIns="0" bIns="0" rtlCol="0" anchor="ctr"/>
          <a:lstStyle/>
          <a:p>
            <a:pPr indent="0" marL="0">
              <a:buNone/>
            </a:pPr>
            <a:r>
              <a:rPr lang="en-US" sz="1100" b="1" dirty="0">
                <a:solidFill>
                  <a:schemeClr val="tx2"/>
                </a:solidFill>
              </a:rPr>
              <a:t>layers/03-logging/versions.tf</a:t>
            </a:r>
            <a:endParaRPr lang="en-US" sz="1100" dirty="0"/>
          </a:p>
        </p:txBody>
      </p:sp>
      <p:sp>
        <p:nvSpPr>
          <p:cNvPr id="4" name="code-bg-765"/>
          <p:cNvSpPr/>
          <p:nvPr/>
        </p:nvSpPr>
        <p:spPr>
          <a:xfrm>
            <a:off x="868680" y="1572768"/>
            <a:ext cx="7132320" cy="3885184"/>
          </a:xfrm>
          <a:prstGeom prst="roundRect">
            <a:avLst>
              <a:gd name="adj" fmla="val 1883"/>
            </a:avLst>
          </a:prstGeom>
          <a:solidFill>
            <a:schemeClr val="tx1"/>
          </a:solidFill>
          <a:ln w="12700">
            <a:solidFill>
              <a:schemeClr val="tx1"/>
            </a:solidFill>
            <a:prstDash val="solid"/>
          </a:ln>
        </p:spPr>
      </p:sp>
      <p:sp>
        <p:nvSpPr>
          <p:cNvPr id="5" name="code-766"/>
          <p:cNvSpPr txBox="1"/>
          <p:nvPr/>
        </p:nvSpPr>
        <p:spPr>
          <a:xfrm>
            <a:off x="1051560" y="1737360"/>
            <a:ext cx="6812280" cy="3574288"/>
          </a:xfrm>
          <a:prstGeom prst="rect">
            <a:avLst/>
          </a:prstGeom>
          <a:noFill/>
          <a:ln/>
        </p:spPr>
        <p:txBody>
          <a:bodyPr wrap="square" lIns="0" tIns="0" rIns="0" bIns="0" rtlCol="0" anchor="t"/>
          <a:lstStyle/>
          <a:p>
            <a:pPr indent="0" marL="0">
              <a:lnSpc>
                <a:spcPts val="1400"/>
              </a:lnSpc>
              <a:buNone/>
            </a:pPr>
            <a:r>
              <a:rPr lang="en-US" sz="1100" i="1" dirty="0">
                <a:solidFill>
                  <a:schemeClr val="tx2"/>
                </a:solidFill>
                <a:latin typeface="Courier New" pitchFamily="34" charset="0"/>
                <a:ea typeface="Courier New" pitchFamily="34" charset="-122"/>
                <a:cs typeface="Courier New" pitchFamily="34" charset="-120"/>
              </a:rPr>
              <a:t># default provider: the management account</a:t>
            </a:r>
            <a:endParaRPr lang="en-US" sz="1100" dirty="0"/>
          </a:p>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provider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region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var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region</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i="1" dirty="0">
                <a:solidFill>
                  <a:schemeClr val="tx2"/>
                </a:solidFill>
                <a:latin typeface="Courier New" pitchFamily="34" charset="0"/>
                <a:ea typeface="Courier New" pitchFamily="34" charset="-122"/>
                <a:cs typeface="Courier New" pitchFamily="34" charset="-120"/>
              </a:rPr>
              <a:t># second copy, signed in to the log archive account</a:t>
            </a:r>
            <a:endParaRPr lang="en-US" sz="1100" dirty="0"/>
          </a:p>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provider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alias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"log_archive"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region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var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region</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assume_role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i="1" dirty="0">
                <a:solidFill>
                  <a:schemeClr val="tx2"/>
                </a:solidFill>
                <a:latin typeface="Courier New" pitchFamily="34" charset="0"/>
                <a:ea typeface="Courier New" pitchFamily="34" charset="-122"/>
                <a:cs typeface="Courier New" pitchFamily="34" charset="-120"/>
              </a:rPr>
              <a:t># role name: OrganizationAccountAccessRole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role_arn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"arn:aws:iam::${local.account_ids.log_archive}:role/..."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"aws_s3_bucket"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"logs"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provider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log_archive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bucket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local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bucket_name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6" name="marker-767"/>
          <p:cNvSpPr/>
          <p:nvPr/>
        </p:nvSpPr>
        <p:spPr>
          <a:xfrm>
            <a:off x="484632" y="2924556"/>
            <a:ext cx="292608" cy="292608"/>
          </a:xfrm>
          <a:prstGeom prst="ellipse">
            <a:avLst/>
          </a:prstGeom>
          <a:solidFill>
            <a:schemeClr val="accent2"/>
          </a:solidFill>
          <a:ln w="12700">
            <a:solidFill>
              <a:schemeClr val="accent2"/>
            </a:solidFill>
            <a:prstDash val="solid"/>
          </a:ln>
        </p:spPr>
      </p:sp>
      <p:sp>
        <p:nvSpPr>
          <p:cNvPr id="7" name="marker-n-768"/>
          <p:cNvSpPr txBox="1"/>
          <p:nvPr/>
        </p:nvSpPr>
        <p:spPr>
          <a:xfrm>
            <a:off x="484632" y="29245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769"/>
          <p:cNvSpPr/>
          <p:nvPr/>
        </p:nvSpPr>
        <p:spPr>
          <a:xfrm>
            <a:off x="484632" y="3457956"/>
            <a:ext cx="292608" cy="292608"/>
          </a:xfrm>
          <a:prstGeom prst="ellipse">
            <a:avLst/>
          </a:prstGeom>
          <a:solidFill>
            <a:schemeClr val="accent2"/>
          </a:solidFill>
          <a:ln w="12700">
            <a:solidFill>
              <a:schemeClr val="accent2"/>
            </a:solidFill>
            <a:prstDash val="solid"/>
          </a:ln>
        </p:spPr>
      </p:sp>
      <p:sp>
        <p:nvSpPr>
          <p:cNvPr id="9" name="marker-n-770"/>
          <p:cNvSpPr txBox="1"/>
          <p:nvPr/>
        </p:nvSpPr>
        <p:spPr>
          <a:xfrm>
            <a:off x="484632" y="34579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771"/>
          <p:cNvSpPr/>
          <p:nvPr/>
        </p:nvSpPr>
        <p:spPr>
          <a:xfrm>
            <a:off x="484632" y="4702556"/>
            <a:ext cx="292608" cy="292608"/>
          </a:xfrm>
          <a:prstGeom prst="ellipse">
            <a:avLst/>
          </a:prstGeom>
          <a:solidFill>
            <a:schemeClr val="accent2"/>
          </a:solidFill>
          <a:ln w="12700">
            <a:solidFill>
              <a:schemeClr val="accent2"/>
            </a:solidFill>
            <a:prstDash val="solid"/>
          </a:ln>
        </p:spPr>
      </p:sp>
      <p:sp>
        <p:nvSpPr>
          <p:cNvPr id="11" name="marker-n-772"/>
          <p:cNvSpPr txBox="1"/>
          <p:nvPr/>
        </p:nvSpPr>
        <p:spPr>
          <a:xfrm>
            <a:off x="484632" y="47025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773"/>
          <p:cNvSpPr/>
          <p:nvPr/>
        </p:nvSpPr>
        <p:spPr>
          <a:xfrm>
            <a:off x="8366760" y="1325880"/>
            <a:ext cx="329184" cy="329184"/>
          </a:xfrm>
          <a:prstGeom prst="ellipse">
            <a:avLst/>
          </a:prstGeom>
          <a:solidFill>
            <a:schemeClr val="accent2"/>
          </a:solidFill>
          <a:ln w="12700">
            <a:solidFill>
              <a:schemeClr val="accent2"/>
            </a:solidFill>
            <a:prstDash val="solid"/>
          </a:ln>
        </p:spPr>
      </p:sp>
      <p:sp>
        <p:nvSpPr>
          <p:cNvPr id="13" name="marker-n-774"/>
          <p:cNvSpPr txBox="1"/>
          <p:nvPr/>
        </p:nvSpPr>
        <p:spPr>
          <a:xfrm>
            <a:off x="836676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4" name="callout-775"/>
          <p:cNvSpPr txBox="1"/>
          <p:nvPr/>
        </p:nvSpPr>
        <p:spPr>
          <a:xfrm>
            <a:off x="8823960" y="1307592"/>
            <a:ext cx="288036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alias</a:t>
            </a:r>
            <a:endParaRPr lang="en-US" sz="1500" dirty="0"/>
          </a:p>
          <a:p>
            <a:pPr indent="0" marL="0">
              <a:spcAft>
                <a:spcPts val="200"/>
              </a:spcAft>
              <a:buNone/>
            </a:pPr>
            <a:r>
              <a:rPr lang="en-US" sz="1400" dirty="0">
                <a:solidFill>
                  <a:schemeClr val="tx1"/>
                </a:solidFill>
              </a:rPr>
              <a:t>A named second provider. Like two SDK clients with different credentials.</a:t>
            </a:r>
            <a:endParaRPr lang="en-US" sz="1500" dirty="0"/>
          </a:p>
        </p:txBody>
      </p:sp>
      <p:sp>
        <p:nvSpPr>
          <p:cNvPr id="15" name="marker-776"/>
          <p:cNvSpPr/>
          <p:nvPr/>
        </p:nvSpPr>
        <p:spPr>
          <a:xfrm>
            <a:off x="8366760" y="2468880"/>
            <a:ext cx="329184" cy="329184"/>
          </a:xfrm>
          <a:prstGeom prst="ellipse">
            <a:avLst/>
          </a:prstGeom>
          <a:solidFill>
            <a:schemeClr val="accent2"/>
          </a:solidFill>
          <a:ln w="12700">
            <a:solidFill>
              <a:schemeClr val="accent2"/>
            </a:solidFill>
            <a:prstDash val="solid"/>
          </a:ln>
        </p:spPr>
      </p:sp>
      <p:sp>
        <p:nvSpPr>
          <p:cNvPr id="16" name="marker-n-777"/>
          <p:cNvSpPr txBox="1"/>
          <p:nvPr/>
        </p:nvSpPr>
        <p:spPr>
          <a:xfrm>
            <a:off x="8366760" y="2468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7" name="callout-778"/>
          <p:cNvSpPr txBox="1"/>
          <p:nvPr/>
        </p:nvSpPr>
        <p:spPr>
          <a:xfrm>
            <a:off x="8823960" y="2450592"/>
            <a:ext cx="288036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assume_role</a:t>
            </a:r>
            <a:endParaRPr lang="en-US" sz="1500" dirty="0"/>
          </a:p>
          <a:p>
            <a:pPr indent="0" marL="0">
              <a:spcAft>
                <a:spcPts val="200"/>
              </a:spcAft>
              <a:buNone/>
            </a:pPr>
            <a:r>
              <a:rPr lang="en-US" sz="1400" dirty="0">
                <a:solidFill>
                  <a:schemeClr val="tx1"/>
                </a:solidFill>
              </a:rPr>
              <a:t>Trades your credentials for temporary ones in the member account.</a:t>
            </a:r>
            <a:endParaRPr lang="en-US" sz="1500" dirty="0"/>
          </a:p>
        </p:txBody>
      </p:sp>
      <p:sp>
        <p:nvSpPr>
          <p:cNvPr id="18" name="marker-779"/>
          <p:cNvSpPr/>
          <p:nvPr/>
        </p:nvSpPr>
        <p:spPr>
          <a:xfrm>
            <a:off x="8366760" y="3611880"/>
            <a:ext cx="329184" cy="329184"/>
          </a:xfrm>
          <a:prstGeom prst="ellipse">
            <a:avLst/>
          </a:prstGeom>
          <a:solidFill>
            <a:schemeClr val="accent2"/>
          </a:solidFill>
          <a:ln w="12700">
            <a:solidFill>
              <a:schemeClr val="accent2"/>
            </a:solidFill>
            <a:prstDash val="solid"/>
          </a:ln>
        </p:spPr>
      </p:sp>
      <p:sp>
        <p:nvSpPr>
          <p:cNvPr id="19" name="marker-n-780"/>
          <p:cNvSpPr txBox="1"/>
          <p:nvPr/>
        </p:nvSpPr>
        <p:spPr>
          <a:xfrm>
            <a:off x="8366760" y="3611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0" name="callout-781"/>
          <p:cNvSpPr txBox="1"/>
          <p:nvPr/>
        </p:nvSpPr>
        <p:spPr>
          <a:xfrm>
            <a:off x="8823960" y="3593592"/>
            <a:ext cx="288036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Pick a provider per resource</a:t>
            </a:r>
            <a:endParaRPr lang="en-US" sz="1500" dirty="0"/>
          </a:p>
          <a:p>
            <a:pPr indent="0" marL="0">
              <a:spcAft>
                <a:spcPts val="200"/>
              </a:spcAft>
              <a:buNone/>
            </a:pPr>
            <a:r>
              <a:rPr lang="en-US" sz="1400" dirty="0">
                <a:solidFill>
                  <a:schemeClr val="tx1"/>
                </a:solidFill>
              </a:rPr>
              <a:t>Without this line a resource uses the default provider.</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The KMS key policy, with conditions</a:t>
            </a:r>
            <a:endParaRPr lang="en-US" sz="3400" dirty="0"/>
          </a:p>
        </p:txBody>
      </p:sp>
      <p:sp>
        <p:nvSpPr>
          <p:cNvPr id="3" name="code-label-782"/>
          <p:cNvSpPr txBox="1"/>
          <p:nvPr/>
        </p:nvSpPr>
        <p:spPr>
          <a:xfrm>
            <a:off x="868680" y="1280160"/>
            <a:ext cx="6583680" cy="274320"/>
          </a:xfrm>
          <a:prstGeom prst="rect">
            <a:avLst/>
          </a:prstGeom>
          <a:noFill/>
          <a:ln/>
        </p:spPr>
        <p:txBody>
          <a:bodyPr wrap="square" lIns="0" tIns="0" rIns="0" bIns="0" rtlCol="0" anchor="ctr"/>
          <a:lstStyle/>
          <a:p>
            <a:pPr indent="0" marL="0">
              <a:buNone/>
            </a:pPr>
            <a:r>
              <a:rPr lang="en-US" sz="1100" b="1" dirty="0">
                <a:solidFill>
                  <a:schemeClr val="tx2"/>
                </a:solidFill>
              </a:rPr>
              <a:t>layers/03-logging/main.tf (one statement)</a:t>
            </a:r>
            <a:endParaRPr lang="en-US" sz="1100" dirty="0"/>
          </a:p>
        </p:txBody>
      </p:sp>
      <p:sp>
        <p:nvSpPr>
          <p:cNvPr id="4" name="code-bg-783"/>
          <p:cNvSpPr/>
          <p:nvPr/>
        </p:nvSpPr>
        <p:spPr>
          <a:xfrm>
            <a:off x="868680" y="1572768"/>
            <a:ext cx="6583680" cy="3377184"/>
          </a:xfrm>
          <a:prstGeom prst="roundRect">
            <a:avLst>
              <a:gd name="adj" fmla="val 2166"/>
            </a:avLst>
          </a:prstGeom>
          <a:solidFill>
            <a:schemeClr val="tx1"/>
          </a:solidFill>
          <a:ln w="12700">
            <a:solidFill>
              <a:schemeClr val="tx1"/>
            </a:solidFill>
            <a:prstDash val="solid"/>
          </a:ln>
        </p:spPr>
      </p:sp>
      <p:sp>
        <p:nvSpPr>
          <p:cNvPr id="5" name="code-784"/>
          <p:cNvSpPr txBox="1"/>
          <p:nvPr/>
        </p:nvSpPr>
        <p:spPr>
          <a:xfrm>
            <a:off x="1051560" y="1737360"/>
            <a:ext cx="6263640" cy="3066288"/>
          </a:xfrm>
          <a:prstGeom prst="rect">
            <a:avLst/>
          </a:prstGeom>
          <a:noFill/>
          <a:ln/>
        </p:spPr>
        <p:txBody>
          <a:bodyPr wrap="square" lIns="0" tIns="0" rIns="0" bIns="0" rtlCol="0" anchor="t"/>
          <a:lstStyle/>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Sid</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"CloudTrailEncrypt"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Effect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"Allow"</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Principal</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Service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"cloudtrail.amazonaws.com"</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Action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"kms:GenerateDataKey*"</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Resource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Condition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StringEquals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"aws:SourceArn"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local</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trail_arn</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StringLike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"kms:EncryptionContext:aws:cloudtrail:arn"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"arn:aws:cloudtrail:*:${local.mgmt_id}:trail/*"</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p:txBody>
      </p:sp>
      <p:sp>
        <p:nvSpPr>
          <p:cNvPr id="6" name="marker-785"/>
          <p:cNvSpPr/>
          <p:nvPr/>
        </p:nvSpPr>
        <p:spPr>
          <a:xfrm>
            <a:off x="484632" y="2257806"/>
            <a:ext cx="292608" cy="292608"/>
          </a:xfrm>
          <a:prstGeom prst="ellipse">
            <a:avLst/>
          </a:prstGeom>
          <a:solidFill>
            <a:schemeClr val="accent2"/>
          </a:solidFill>
          <a:ln w="12700">
            <a:solidFill>
              <a:schemeClr val="accent2"/>
            </a:solidFill>
            <a:prstDash val="solid"/>
          </a:ln>
        </p:spPr>
      </p:sp>
      <p:sp>
        <p:nvSpPr>
          <p:cNvPr id="7" name="marker-n-786"/>
          <p:cNvSpPr txBox="1"/>
          <p:nvPr/>
        </p:nvSpPr>
        <p:spPr>
          <a:xfrm>
            <a:off x="484632" y="2257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787"/>
          <p:cNvSpPr/>
          <p:nvPr/>
        </p:nvSpPr>
        <p:spPr>
          <a:xfrm>
            <a:off x="484632" y="3210306"/>
            <a:ext cx="292608" cy="292608"/>
          </a:xfrm>
          <a:prstGeom prst="ellipse">
            <a:avLst/>
          </a:prstGeom>
          <a:solidFill>
            <a:schemeClr val="accent2"/>
          </a:solidFill>
          <a:ln w="12700">
            <a:solidFill>
              <a:schemeClr val="accent2"/>
            </a:solidFill>
            <a:prstDash val="solid"/>
          </a:ln>
        </p:spPr>
      </p:sp>
      <p:sp>
        <p:nvSpPr>
          <p:cNvPr id="9" name="marker-n-788"/>
          <p:cNvSpPr txBox="1"/>
          <p:nvPr/>
        </p:nvSpPr>
        <p:spPr>
          <a:xfrm>
            <a:off x="484632" y="32103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789"/>
          <p:cNvSpPr/>
          <p:nvPr/>
        </p:nvSpPr>
        <p:spPr>
          <a:xfrm>
            <a:off x="484632" y="3781806"/>
            <a:ext cx="292608" cy="292608"/>
          </a:xfrm>
          <a:prstGeom prst="ellipse">
            <a:avLst/>
          </a:prstGeom>
          <a:solidFill>
            <a:schemeClr val="accent2"/>
          </a:solidFill>
          <a:ln w="12700">
            <a:solidFill>
              <a:schemeClr val="accent2"/>
            </a:solidFill>
            <a:prstDash val="solid"/>
          </a:ln>
        </p:spPr>
      </p:sp>
      <p:sp>
        <p:nvSpPr>
          <p:cNvPr id="11" name="marker-n-790"/>
          <p:cNvSpPr txBox="1"/>
          <p:nvPr/>
        </p:nvSpPr>
        <p:spPr>
          <a:xfrm>
            <a:off x="484632" y="3781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791"/>
          <p:cNvSpPr/>
          <p:nvPr/>
        </p:nvSpPr>
        <p:spPr>
          <a:xfrm>
            <a:off x="7818120" y="1325880"/>
            <a:ext cx="329184" cy="329184"/>
          </a:xfrm>
          <a:prstGeom prst="ellipse">
            <a:avLst/>
          </a:prstGeom>
          <a:solidFill>
            <a:schemeClr val="accent2"/>
          </a:solidFill>
          <a:ln w="12700">
            <a:solidFill>
              <a:schemeClr val="accent2"/>
            </a:solidFill>
            <a:prstDash val="solid"/>
          </a:ln>
        </p:spPr>
      </p:sp>
      <p:sp>
        <p:nvSpPr>
          <p:cNvPr id="13" name="marker-n-792"/>
          <p:cNvSpPr txBox="1"/>
          <p:nvPr/>
        </p:nvSpPr>
        <p:spPr>
          <a:xfrm>
            <a:off x="781812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4" name="callout-793"/>
          <p:cNvSpPr txBox="1"/>
          <p:nvPr/>
        </p:nvSpPr>
        <p:spPr>
          <a:xfrm>
            <a:off x="8275320" y="130759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 service, not a user</a:t>
            </a:r>
            <a:endParaRPr lang="en-US" sz="1500" dirty="0"/>
          </a:p>
          <a:p>
            <a:pPr indent="0" marL="0">
              <a:spcAft>
                <a:spcPts val="200"/>
              </a:spcAft>
              <a:buNone/>
            </a:pPr>
            <a:r>
              <a:rPr lang="en-US" sz="1400" dirty="0">
                <a:solidFill>
                  <a:schemeClr val="tx1"/>
                </a:solidFill>
              </a:rPr>
              <a:t>CloudTrail may only encrypt with this key. It never needs to decrypt.</a:t>
            </a:r>
            <a:endParaRPr lang="en-US" sz="1500" dirty="0"/>
          </a:p>
        </p:txBody>
      </p:sp>
      <p:sp>
        <p:nvSpPr>
          <p:cNvPr id="15" name="marker-794"/>
          <p:cNvSpPr/>
          <p:nvPr/>
        </p:nvSpPr>
        <p:spPr>
          <a:xfrm>
            <a:off x="7818120" y="2255520"/>
            <a:ext cx="329184" cy="329184"/>
          </a:xfrm>
          <a:prstGeom prst="ellipse">
            <a:avLst/>
          </a:prstGeom>
          <a:solidFill>
            <a:schemeClr val="accent2"/>
          </a:solidFill>
          <a:ln w="12700">
            <a:solidFill>
              <a:schemeClr val="accent2"/>
            </a:solidFill>
            <a:prstDash val="solid"/>
          </a:ln>
        </p:spPr>
      </p:sp>
      <p:sp>
        <p:nvSpPr>
          <p:cNvPr id="16" name="marker-n-795"/>
          <p:cNvSpPr txBox="1"/>
          <p:nvPr/>
        </p:nvSpPr>
        <p:spPr>
          <a:xfrm>
            <a:off x="7818120" y="2255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7" name="callout-796"/>
          <p:cNvSpPr txBox="1"/>
          <p:nvPr/>
        </p:nvSpPr>
        <p:spPr>
          <a:xfrm>
            <a:off x="8275320" y="223723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Only our trail</a:t>
            </a:r>
            <a:endParaRPr lang="en-US" sz="1500" dirty="0"/>
          </a:p>
          <a:p>
            <a:pPr indent="0" marL="0">
              <a:spcAft>
                <a:spcPts val="200"/>
              </a:spcAft>
              <a:buNone/>
            </a:pPr>
            <a:r>
              <a:rPr lang="en-US" sz="1400" dirty="0">
                <a:solidFill>
                  <a:schemeClr val="tx1"/>
                </a:solidFill>
              </a:rPr>
              <a:t>The confused-deputy fix from the previous slide.</a:t>
            </a:r>
            <a:endParaRPr lang="en-US" sz="1500" dirty="0"/>
          </a:p>
        </p:txBody>
      </p:sp>
      <p:sp>
        <p:nvSpPr>
          <p:cNvPr id="18" name="marker-797"/>
          <p:cNvSpPr/>
          <p:nvPr/>
        </p:nvSpPr>
        <p:spPr>
          <a:xfrm>
            <a:off x="7818120" y="3185160"/>
            <a:ext cx="329184" cy="329184"/>
          </a:xfrm>
          <a:prstGeom prst="ellipse">
            <a:avLst/>
          </a:prstGeom>
          <a:solidFill>
            <a:schemeClr val="accent2"/>
          </a:solidFill>
          <a:ln w="12700">
            <a:solidFill>
              <a:schemeClr val="accent2"/>
            </a:solidFill>
            <a:prstDash val="solid"/>
          </a:ln>
        </p:spPr>
      </p:sp>
      <p:sp>
        <p:nvSpPr>
          <p:cNvPr id="19" name="marker-n-798"/>
          <p:cNvSpPr txBox="1"/>
          <p:nvPr/>
        </p:nvSpPr>
        <p:spPr>
          <a:xfrm>
            <a:off x="7818120" y="318516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0" name="callout-799"/>
          <p:cNvSpPr txBox="1"/>
          <p:nvPr/>
        </p:nvSpPr>
        <p:spPr>
          <a:xfrm>
            <a:off x="8275320" y="316687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Encryption context</a:t>
            </a:r>
            <a:endParaRPr lang="en-US" sz="1500" dirty="0"/>
          </a:p>
          <a:p>
            <a:pPr indent="0" marL="0">
              <a:spcAft>
                <a:spcPts val="200"/>
              </a:spcAft>
              <a:buNone/>
            </a:pPr>
            <a:r>
              <a:rPr lang="en-US" sz="1400" dirty="0">
                <a:solidFill>
                  <a:schemeClr val="tx1"/>
                </a:solidFill>
              </a:rPr>
              <a:t>Ties each encrypted file to a trail in our management account.</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Making the logs hard to erase</a:t>
            </a:r>
            <a:endParaRPr lang="en-US" sz="3400" dirty="0"/>
          </a:p>
        </p:txBody>
      </p:sp>
      <p:sp>
        <p:nvSpPr>
          <p:cNvPr id="3" name="code-label-800"/>
          <p:cNvSpPr txBox="1"/>
          <p:nvPr/>
        </p:nvSpPr>
        <p:spPr>
          <a:xfrm>
            <a:off x="868680" y="1280160"/>
            <a:ext cx="6583680" cy="274320"/>
          </a:xfrm>
          <a:prstGeom prst="rect">
            <a:avLst/>
          </a:prstGeom>
          <a:noFill/>
          <a:ln/>
        </p:spPr>
        <p:txBody>
          <a:bodyPr wrap="square" lIns="0" tIns="0" rIns="0" bIns="0" rtlCol="0" anchor="ctr"/>
          <a:lstStyle/>
          <a:p>
            <a:pPr indent="0" marL="0">
              <a:buNone/>
            </a:pPr>
            <a:r>
              <a:rPr lang="en-US" sz="1100" b="1" dirty="0">
                <a:solidFill>
                  <a:schemeClr val="tx2"/>
                </a:solidFill>
              </a:rPr>
              <a:t>layers/03-logging/main.tf (bucket policy excerpt)</a:t>
            </a:r>
            <a:endParaRPr lang="en-US" sz="1100" dirty="0"/>
          </a:p>
        </p:txBody>
      </p:sp>
      <p:sp>
        <p:nvSpPr>
          <p:cNvPr id="4" name="code-bg-801"/>
          <p:cNvSpPr/>
          <p:nvPr/>
        </p:nvSpPr>
        <p:spPr>
          <a:xfrm>
            <a:off x="868680" y="1572768"/>
            <a:ext cx="6583680" cy="3377184"/>
          </a:xfrm>
          <a:prstGeom prst="roundRect">
            <a:avLst>
              <a:gd name="adj" fmla="val 2166"/>
            </a:avLst>
          </a:prstGeom>
          <a:solidFill>
            <a:schemeClr val="tx1"/>
          </a:solidFill>
          <a:ln w="12700">
            <a:solidFill>
              <a:schemeClr val="tx1"/>
            </a:solidFill>
            <a:prstDash val="solid"/>
          </a:ln>
        </p:spPr>
      </p:sp>
      <p:sp>
        <p:nvSpPr>
          <p:cNvPr id="5" name="code-802"/>
          <p:cNvSpPr txBox="1"/>
          <p:nvPr/>
        </p:nvSpPr>
        <p:spPr>
          <a:xfrm>
            <a:off x="1051560" y="1737360"/>
            <a:ext cx="6263640" cy="3066288"/>
          </a:xfrm>
          <a:prstGeom prst="rect">
            <a:avLst/>
          </a:prstGeom>
          <a:noFill/>
          <a:ln/>
        </p:spPr>
        <p:txBody>
          <a:bodyPr wrap="square" lIns="0" tIns="0" rIns="0" bIns="0" rtlCol="0" anchor="t"/>
          <a:lstStyle/>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Sid</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"DenyLogTampering"</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Effect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"Deny"</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Principal</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Action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"s3:DeleteObject"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"s3:DeleteObjectVersion"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"s3:DeleteBucketPolicy"</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"s3:PutBucketVersioning"</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"s3:PutLifecycleConfiguration"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Resource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local</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bucket_arn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"${local.bucket_arn}/*"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Condition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ArnNotLike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"aws:PrincipalArn"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local</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break_glass_role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p:txBody>
      </p:sp>
      <p:sp>
        <p:nvSpPr>
          <p:cNvPr id="6" name="marker-803"/>
          <p:cNvSpPr/>
          <p:nvPr/>
        </p:nvSpPr>
        <p:spPr>
          <a:xfrm>
            <a:off x="484632" y="2067306"/>
            <a:ext cx="292608" cy="292608"/>
          </a:xfrm>
          <a:prstGeom prst="ellipse">
            <a:avLst/>
          </a:prstGeom>
          <a:solidFill>
            <a:schemeClr val="accent2"/>
          </a:solidFill>
          <a:ln w="12700">
            <a:solidFill>
              <a:schemeClr val="accent2"/>
            </a:solidFill>
            <a:prstDash val="solid"/>
          </a:ln>
        </p:spPr>
      </p:sp>
      <p:sp>
        <p:nvSpPr>
          <p:cNvPr id="7" name="marker-n-804"/>
          <p:cNvSpPr txBox="1"/>
          <p:nvPr/>
        </p:nvSpPr>
        <p:spPr>
          <a:xfrm>
            <a:off x="484632" y="20673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805"/>
          <p:cNvSpPr/>
          <p:nvPr/>
        </p:nvSpPr>
        <p:spPr>
          <a:xfrm>
            <a:off x="484632" y="3210306"/>
            <a:ext cx="292608" cy="292608"/>
          </a:xfrm>
          <a:prstGeom prst="ellipse">
            <a:avLst/>
          </a:prstGeom>
          <a:solidFill>
            <a:schemeClr val="accent2"/>
          </a:solidFill>
          <a:ln w="12700">
            <a:solidFill>
              <a:schemeClr val="accent2"/>
            </a:solidFill>
            <a:prstDash val="solid"/>
          </a:ln>
        </p:spPr>
      </p:sp>
      <p:sp>
        <p:nvSpPr>
          <p:cNvPr id="9" name="marker-n-806"/>
          <p:cNvSpPr txBox="1"/>
          <p:nvPr/>
        </p:nvSpPr>
        <p:spPr>
          <a:xfrm>
            <a:off x="484632" y="32103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807"/>
          <p:cNvSpPr/>
          <p:nvPr/>
        </p:nvSpPr>
        <p:spPr>
          <a:xfrm>
            <a:off x="484632" y="4162806"/>
            <a:ext cx="292608" cy="292608"/>
          </a:xfrm>
          <a:prstGeom prst="ellipse">
            <a:avLst/>
          </a:prstGeom>
          <a:solidFill>
            <a:schemeClr val="accent2"/>
          </a:solidFill>
          <a:ln w="12700">
            <a:solidFill>
              <a:schemeClr val="accent2"/>
            </a:solidFill>
            <a:prstDash val="solid"/>
          </a:ln>
        </p:spPr>
      </p:sp>
      <p:sp>
        <p:nvSpPr>
          <p:cNvPr id="11" name="marker-n-808"/>
          <p:cNvSpPr txBox="1"/>
          <p:nvPr/>
        </p:nvSpPr>
        <p:spPr>
          <a:xfrm>
            <a:off x="484632" y="4162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809"/>
          <p:cNvSpPr/>
          <p:nvPr/>
        </p:nvSpPr>
        <p:spPr>
          <a:xfrm>
            <a:off x="7818120" y="1325880"/>
            <a:ext cx="329184" cy="329184"/>
          </a:xfrm>
          <a:prstGeom prst="ellipse">
            <a:avLst/>
          </a:prstGeom>
          <a:solidFill>
            <a:schemeClr val="accent2"/>
          </a:solidFill>
          <a:ln w="12700">
            <a:solidFill>
              <a:schemeClr val="accent2"/>
            </a:solidFill>
            <a:prstDash val="solid"/>
          </a:ln>
        </p:spPr>
      </p:sp>
      <p:sp>
        <p:nvSpPr>
          <p:cNvPr id="13" name="marker-n-810"/>
          <p:cNvSpPr txBox="1"/>
          <p:nvPr/>
        </p:nvSpPr>
        <p:spPr>
          <a:xfrm>
            <a:off x="781812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4" name="callout-811"/>
          <p:cNvSpPr txBox="1"/>
          <p:nvPr/>
        </p:nvSpPr>
        <p:spPr>
          <a:xfrm>
            <a:off x="8275320" y="130759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Deny for everyone</a:t>
            </a:r>
            <a:endParaRPr lang="en-US" sz="1500" dirty="0"/>
          </a:p>
          <a:p>
            <a:pPr indent="0" marL="0">
              <a:spcAft>
                <a:spcPts val="200"/>
              </a:spcAft>
              <a:buNone/>
            </a:pPr>
            <a:r>
              <a:rPr lang="en-US" sz="1400" dirty="0">
                <a:solidFill>
                  <a:schemeClr val="tx1"/>
                </a:solidFill>
              </a:rPr>
              <a:t>Including admins in the log archive account.</a:t>
            </a:r>
            <a:endParaRPr lang="en-US" sz="1500" dirty="0"/>
          </a:p>
        </p:txBody>
      </p:sp>
      <p:sp>
        <p:nvSpPr>
          <p:cNvPr id="15" name="marker-812"/>
          <p:cNvSpPr/>
          <p:nvPr/>
        </p:nvSpPr>
        <p:spPr>
          <a:xfrm>
            <a:off x="7818120" y="2255520"/>
            <a:ext cx="329184" cy="329184"/>
          </a:xfrm>
          <a:prstGeom prst="ellipse">
            <a:avLst/>
          </a:prstGeom>
          <a:solidFill>
            <a:schemeClr val="accent2"/>
          </a:solidFill>
          <a:ln w="12700">
            <a:solidFill>
              <a:schemeClr val="accent2"/>
            </a:solidFill>
            <a:prstDash val="solid"/>
          </a:ln>
        </p:spPr>
      </p:sp>
      <p:sp>
        <p:nvSpPr>
          <p:cNvPr id="16" name="marker-n-813"/>
          <p:cNvSpPr txBox="1"/>
          <p:nvPr/>
        </p:nvSpPr>
        <p:spPr>
          <a:xfrm>
            <a:off x="7818120" y="2255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7" name="callout-814"/>
          <p:cNvSpPr txBox="1"/>
          <p:nvPr/>
        </p:nvSpPr>
        <p:spPr>
          <a:xfrm>
            <a:off x="8275320" y="223723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Close the side doors</a:t>
            </a:r>
            <a:endParaRPr lang="en-US" sz="1500" dirty="0"/>
          </a:p>
          <a:p>
            <a:pPr indent="0" marL="0">
              <a:spcAft>
                <a:spcPts val="200"/>
              </a:spcAft>
              <a:buNone/>
            </a:pPr>
            <a:r>
              <a:rPr lang="en-US" sz="1400" dirty="0">
                <a:solidFill>
                  <a:schemeClr val="tx1"/>
                </a:solidFill>
              </a:rPr>
              <a:t>Suspending versioning or shortening lifecycle would be indirect deletes.</a:t>
            </a:r>
            <a:endParaRPr lang="en-US" sz="1500" dirty="0"/>
          </a:p>
        </p:txBody>
      </p:sp>
      <p:sp>
        <p:nvSpPr>
          <p:cNvPr id="18" name="marker-815"/>
          <p:cNvSpPr/>
          <p:nvPr/>
        </p:nvSpPr>
        <p:spPr>
          <a:xfrm>
            <a:off x="7818120" y="3185160"/>
            <a:ext cx="329184" cy="329184"/>
          </a:xfrm>
          <a:prstGeom prst="ellipse">
            <a:avLst/>
          </a:prstGeom>
          <a:solidFill>
            <a:schemeClr val="accent2"/>
          </a:solidFill>
          <a:ln w="12700">
            <a:solidFill>
              <a:schemeClr val="accent2"/>
            </a:solidFill>
            <a:prstDash val="solid"/>
          </a:ln>
        </p:spPr>
      </p:sp>
      <p:sp>
        <p:nvSpPr>
          <p:cNvPr id="19" name="marker-n-816"/>
          <p:cNvSpPr txBox="1"/>
          <p:nvPr/>
        </p:nvSpPr>
        <p:spPr>
          <a:xfrm>
            <a:off x="7818120" y="318516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0" name="callout-817"/>
          <p:cNvSpPr txBox="1"/>
          <p:nvPr/>
        </p:nvSpPr>
        <p:spPr>
          <a:xfrm>
            <a:off x="8275320" y="316687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Break-glass only</a:t>
            </a:r>
            <a:endParaRPr lang="en-US" sz="1500" dirty="0"/>
          </a:p>
          <a:p>
            <a:pPr indent="0" marL="0">
              <a:spcAft>
                <a:spcPts val="200"/>
              </a:spcAft>
              <a:buNone/>
            </a:pPr>
            <a:r>
              <a:rPr lang="en-US" sz="1400" dirty="0">
                <a:solidFill>
                  <a:schemeClr val="tx1"/>
                </a:solidFill>
              </a:rPr>
              <a:t>One tightly held role can still clean up, for example at teardown.</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One trail for the whole organization</a:t>
            </a:r>
            <a:endParaRPr lang="en-US" sz="3400" dirty="0"/>
          </a:p>
        </p:txBody>
      </p:sp>
      <p:sp>
        <p:nvSpPr>
          <p:cNvPr id="3" name="code-label-818"/>
          <p:cNvSpPr txBox="1"/>
          <p:nvPr/>
        </p:nvSpPr>
        <p:spPr>
          <a:xfrm>
            <a:off x="868680" y="1280160"/>
            <a:ext cx="6583680" cy="274320"/>
          </a:xfrm>
          <a:prstGeom prst="rect">
            <a:avLst/>
          </a:prstGeom>
          <a:noFill/>
          <a:ln/>
        </p:spPr>
        <p:txBody>
          <a:bodyPr wrap="square" lIns="0" tIns="0" rIns="0" bIns="0" rtlCol="0" anchor="ctr"/>
          <a:lstStyle/>
          <a:p>
            <a:pPr indent="0" marL="0">
              <a:buNone/>
            </a:pPr>
            <a:r>
              <a:rPr lang="en-US" sz="1100" b="1" dirty="0">
                <a:solidFill>
                  <a:schemeClr val="tx2"/>
                </a:solidFill>
              </a:rPr>
              <a:t>layers/03-logging/main.tf</a:t>
            </a:r>
            <a:endParaRPr lang="en-US" sz="1100" dirty="0"/>
          </a:p>
        </p:txBody>
      </p:sp>
      <p:sp>
        <p:nvSpPr>
          <p:cNvPr id="4" name="code-bg-819"/>
          <p:cNvSpPr/>
          <p:nvPr/>
        </p:nvSpPr>
        <p:spPr>
          <a:xfrm>
            <a:off x="868680" y="1572768"/>
            <a:ext cx="6583680" cy="2996184"/>
          </a:xfrm>
          <a:prstGeom prst="roundRect">
            <a:avLst>
              <a:gd name="adj" fmla="val 2442"/>
            </a:avLst>
          </a:prstGeom>
          <a:solidFill>
            <a:schemeClr val="tx1"/>
          </a:solidFill>
          <a:ln w="12700">
            <a:solidFill>
              <a:schemeClr val="tx1"/>
            </a:solidFill>
            <a:prstDash val="solid"/>
          </a:ln>
        </p:spPr>
      </p:sp>
      <p:sp>
        <p:nvSpPr>
          <p:cNvPr id="5" name="code-820"/>
          <p:cNvSpPr txBox="1"/>
          <p:nvPr/>
        </p:nvSpPr>
        <p:spPr>
          <a:xfrm>
            <a:off x="1051560" y="1737360"/>
            <a:ext cx="6263640" cy="2685288"/>
          </a:xfrm>
          <a:prstGeom prst="rect">
            <a:avLst/>
          </a:prstGeom>
          <a:noFill/>
          <a:ln/>
        </p:spPr>
        <p:txBody>
          <a:bodyPr wrap="square" lIns="0" tIns="0" rIns="0" bIns="0" rtlCol="0" anchor="t"/>
          <a:lstStyle/>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"aws_cloudtrail"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"org"</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name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local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trail_name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s3_bucket_name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aws_s3_bucket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logs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s3_key_prefix</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"cloudtrail"</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kms_key_id</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aws_kms_key</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logs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arn</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is_organization_trail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true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is_multi_region_trail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true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include_global_service_events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true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enable_log_file_validation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true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depends_on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aws_s3_bucket_policy</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logs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aws_s3_bucket_server_side_encryption_configuration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logs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6" name="marker-821"/>
          <p:cNvSpPr/>
          <p:nvPr/>
        </p:nvSpPr>
        <p:spPr>
          <a:xfrm>
            <a:off x="484632" y="2568956"/>
            <a:ext cx="292608" cy="292608"/>
          </a:xfrm>
          <a:prstGeom prst="ellipse">
            <a:avLst/>
          </a:prstGeom>
          <a:solidFill>
            <a:schemeClr val="accent2"/>
          </a:solidFill>
          <a:ln w="12700">
            <a:solidFill>
              <a:schemeClr val="accent2"/>
            </a:solidFill>
            <a:prstDash val="solid"/>
          </a:ln>
        </p:spPr>
      </p:sp>
      <p:sp>
        <p:nvSpPr>
          <p:cNvPr id="7" name="marker-n-822"/>
          <p:cNvSpPr txBox="1"/>
          <p:nvPr/>
        </p:nvSpPr>
        <p:spPr>
          <a:xfrm>
            <a:off x="484632" y="25689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823"/>
          <p:cNvSpPr/>
          <p:nvPr/>
        </p:nvSpPr>
        <p:spPr>
          <a:xfrm>
            <a:off x="484632" y="3102356"/>
            <a:ext cx="292608" cy="292608"/>
          </a:xfrm>
          <a:prstGeom prst="ellipse">
            <a:avLst/>
          </a:prstGeom>
          <a:solidFill>
            <a:schemeClr val="accent2"/>
          </a:solidFill>
          <a:ln w="12700">
            <a:solidFill>
              <a:schemeClr val="accent2"/>
            </a:solidFill>
            <a:prstDash val="solid"/>
          </a:ln>
        </p:spPr>
      </p:sp>
      <p:sp>
        <p:nvSpPr>
          <p:cNvPr id="9" name="marker-n-824"/>
          <p:cNvSpPr txBox="1"/>
          <p:nvPr/>
        </p:nvSpPr>
        <p:spPr>
          <a:xfrm>
            <a:off x="484632" y="31023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825"/>
          <p:cNvSpPr/>
          <p:nvPr/>
        </p:nvSpPr>
        <p:spPr>
          <a:xfrm>
            <a:off x="484632" y="3457956"/>
            <a:ext cx="292608" cy="292608"/>
          </a:xfrm>
          <a:prstGeom prst="ellipse">
            <a:avLst/>
          </a:prstGeom>
          <a:solidFill>
            <a:schemeClr val="accent2"/>
          </a:solidFill>
          <a:ln w="12700">
            <a:solidFill>
              <a:schemeClr val="accent2"/>
            </a:solidFill>
            <a:prstDash val="solid"/>
          </a:ln>
        </p:spPr>
      </p:sp>
      <p:sp>
        <p:nvSpPr>
          <p:cNvPr id="11" name="marker-n-826"/>
          <p:cNvSpPr txBox="1"/>
          <p:nvPr/>
        </p:nvSpPr>
        <p:spPr>
          <a:xfrm>
            <a:off x="484632" y="34579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827"/>
          <p:cNvSpPr/>
          <p:nvPr/>
        </p:nvSpPr>
        <p:spPr>
          <a:xfrm>
            <a:off x="7818120" y="1325880"/>
            <a:ext cx="329184" cy="329184"/>
          </a:xfrm>
          <a:prstGeom prst="ellipse">
            <a:avLst/>
          </a:prstGeom>
          <a:solidFill>
            <a:schemeClr val="accent2"/>
          </a:solidFill>
          <a:ln w="12700">
            <a:solidFill>
              <a:schemeClr val="accent2"/>
            </a:solidFill>
            <a:prstDash val="solid"/>
          </a:ln>
        </p:spPr>
      </p:sp>
      <p:sp>
        <p:nvSpPr>
          <p:cNvPr id="13" name="marker-n-828"/>
          <p:cNvSpPr txBox="1"/>
          <p:nvPr/>
        </p:nvSpPr>
        <p:spPr>
          <a:xfrm>
            <a:off x="781812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4" name="callout-829"/>
          <p:cNvSpPr txBox="1"/>
          <p:nvPr/>
        </p:nvSpPr>
        <p:spPr>
          <a:xfrm>
            <a:off x="8275320" y="1307592"/>
            <a:ext cx="342900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Every account, every region</a:t>
            </a:r>
            <a:endParaRPr lang="en-US" sz="1500" dirty="0"/>
          </a:p>
          <a:p>
            <a:pPr indent="0" marL="0">
              <a:spcAft>
                <a:spcPts val="200"/>
              </a:spcAft>
              <a:buNone/>
            </a:pPr>
            <a:r>
              <a:rPr lang="en-US" sz="1400" dirty="0">
                <a:solidFill>
                  <a:schemeClr val="tx1"/>
                </a:solidFill>
              </a:rPr>
              <a:t>Created once in management, applied to all accounts, including future ones and unused regions.</a:t>
            </a:r>
            <a:endParaRPr lang="en-US" sz="1500" dirty="0"/>
          </a:p>
        </p:txBody>
      </p:sp>
      <p:sp>
        <p:nvSpPr>
          <p:cNvPr id="15" name="marker-830"/>
          <p:cNvSpPr/>
          <p:nvPr/>
        </p:nvSpPr>
        <p:spPr>
          <a:xfrm>
            <a:off x="7818120" y="2468880"/>
            <a:ext cx="329184" cy="329184"/>
          </a:xfrm>
          <a:prstGeom prst="ellipse">
            <a:avLst/>
          </a:prstGeom>
          <a:solidFill>
            <a:schemeClr val="accent2"/>
          </a:solidFill>
          <a:ln w="12700">
            <a:solidFill>
              <a:schemeClr val="accent2"/>
            </a:solidFill>
            <a:prstDash val="solid"/>
          </a:ln>
        </p:spPr>
      </p:sp>
      <p:sp>
        <p:nvSpPr>
          <p:cNvPr id="16" name="marker-n-831"/>
          <p:cNvSpPr txBox="1"/>
          <p:nvPr/>
        </p:nvSpPr>
        <p:spPr>
          <a:xfrm>
            <a:off x="7818120" y="2468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7" name="callout-832"/>
          <p:cNvSpPr txBox="1"/>
          <p:nvPr/>
        </p:nvSpPr>
        <p:spPr>
          <a:xfrm>
            <a:off x="8275320" y="245059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Log file validation</a:t>
            </a:r>
            <a:endParaRPr lang="en-US" sz="1500" dirty="0"/>
          </a:p>
          <a:p>
            <a:pPr indent="0" marL="0">
              <a:spcAft>
                <a:spcPts val="200"/>
              </a:spcAft>
              <a:buNone/>
            </a:pPr>
            <a:r>
              <a:rPr lang="en-US" sz="1400" dirty="0">
                <a:solidFill>
                  <a:schemeClr val="tx1"/>
                </a:solidFill>
              </a:rPr>
              <a:t>Hourly signed digests prove no file was changed or removed.</a:t>
            </a:r>
            <a:endParaRPr lang="en-US" sz="1500" dirty="0"/>
          </a:p>
        </p:txBody>
      </p:sp>
      <p:sp>
        <p:nvSpPr>
          <p:cNvPr id="18" name="marker-833"/>
          <p:cNvSpPr/>
          <p:nvPr/>
        </p:nvSpPr>
        <p:spPr>
          <a:xfrm>
            <a:off x="7818120" y="3398520"/>
            <a:ext cx="329184" cy="329184"/>
          </a:xfrm>
          <a:prstGeom prst="ellipse">
            <a:avLst/>
          </a:prstGeom>
          <a:solidFill>
            <a:schemeClr val="accent2"/>
          </a:solidFill>
          <a:ln w="12700">
            <a:solidFill>
              <a:schemeClr val="accent2"/>
            </a:solidFill>
            <a:prstDash val="solid"/>
          </a:ln>
        </p:spPr>
      </p:sp>
      <p:sp>
        <p:nvSpPr>
          <p:cNvPr id="19" name="marker-n-834"/>
          <p:cNvSpPr txBox="1"/>
          <p:nvPr/>
        </p:nvSpPr>
        <p:spPr>
          <a:xfrm>
            <a:off x="7818120" y="3398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0" name="callout-835"/>
          <p:cNvSpPr txBox="1"/>
          <p:nvPr/>
        </p:nvSpPr>
        <p:spPr>
          <a:xfrm>
            <a:off x="8275320" y="338023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Permissions before the trail</a:t>
            </a:r>
            <a:endParaRPr lang="en-US" sz="1500" dirty="0"/>
          </a:p>
          <a:p>
            <a:pPr indent="0" marL="0">
              <a:spcAft>
                <a:spcPts val="200"/>
              </a:spcAft>
              <a:buNone/>
            </a:pPr>
            <a:r>
              <a:rPr lang="en-US" sz="1400" dirty="0">
                <a:solidFill>
                  <a:schemeClr val="tx1"/>
                </a:solidFill>
              </a:rPr>
              <a:t>CloudTrail tests write access at creation and fails without it.</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836"/>
          <p:cNvSpPr txBox="1"/>
          <p:nvPr/>
        </p:nvSpPr>
        <p:spPr>
          <a:xfrm>
            <a:off x="731520" y="1463040"/>
            <a:ext cx="2743200" cy="1005840"/>
          </a:xfrm>
          <a:prstGeom prst="rect">
            <a:avLst/>
          </a:prstGeom>
          <a:noFill/>
          <a:ln/>
        </p:spPr>
        <p:txBody>
          <a:bodyPr wrap="square" lIns="0" tIns="0" rIns="0" bIns="0" rtlCol="0" anchor="t"/>
          <a:lstStyle/>
          <a:p>
            <a:pPr indent="0" marL="0">
              <a:buNone/>
            </a:pPr>
            <a:r>
              <a:rPr lang="en-US" sz="6000" b="1" dirty="0">
                <a:solidFill>
                  <a:schemeClr val="accent2"/>
                </a:solidFill>
                <a:latin typeface="Arial" pitchFamily="34" charset="0"/>
                <a:ea typeface="Arial" pitchFamily="34" charset="-122"/>
                <a:cs typeface="Arial" pitchFamily="34" charset="-120"/>
              </a:rPr>
              <a:t>06</a:t>
            </a:r>
            <a:endParaRPr lang="en-US" sz="6000" dirty="0"/>
          </a:p>
        </p:txBody>
      </p:sp>
      <p:sp>
        <p:nvSpPr>
          <p:cNvPr id="3" name="Text 0"/>
          <p:cNvSpPr/>
          <p:nvPr>
            <p:ph idx="100" type="title" hasCustomPrompt="1"/>
          </p:nvPr>
        </p:nvSpPr>
        <p:spPr>
          <a:xfrm>
            <a:off x="731520" y="2651760"/>
            <a:ext cx="8046720" cy="1097280"/>
          </a:xfrm>
          <a:prstGeom prst="rect">
            <a:avLst/>
          </a:prstGeom>
          <a:noFill/>
          <a:ln/>
        </p:spPr>
        <p:txBody>
          <a:bodyPr wrap="square" lIns="0" tIns="0" rIns="0" bIns="0" rtlCol="0" anchor="t"/>
          <a:lstStyle/>
          <a:p>
            <a:pPr algn="l" indent="0" marL="0">
              <a:buNone/>
            </a:pPr>
            <a:r>
              <a:rPr lang="en-US" sz="4400" b="1" dirty="0">
                <a:solidFill>
                  <a:schemeClr val="bg1"/>
                </a:solidFill>
              </a:rPr>
              <a:t>Layer 04: Security</a:t>
            </a:r>
            <a:endParaRPr lang="en-US" sz="4400" dirty="0"/>
          </a:p>
        </p:txBody>
      </p:sp>
      <p:sp>
        <p:nvSpPr>
          <p:cNvPr id="4" name="Text 0"/>
          <p:cNvSpPr/>
          <p:nvPr>
            <p:ph idx="101" type="body" hasCustomPrompt="1"/>
          </p:nvPr>
        </p:nvSpPr>
        <p:spPr>
          <a:xfrm>
            <a:off x="731520" y="3840480"/>
            <a:ext cx="7863840" cy="1371600"/>
          </a:xfrm>
          <a:prstGeom prst="rect">
            <a:avLst/>
          </a:prstGeom>
          <a:noFill/>
          <a:ln/>
        </p:spPr>
        <p:txBody>
          <a:bodyPr wrap="square" lIns="0" tIns="0" rIns="0" bIns="0" rtlCol="0" anchor="t"/>
          <a:lstStyle/>
          <a:p>
            <a:pPr algn="l" indent="0" marL="0">
              <a:buNone/>
            </a:pPr>
            <a:r>
              <a:rPr lang="en-US" sz="2000" dirty="0">
                <a:solidFill>
                  <a:schemeClr val="bg2"/>
                </a:solidFill>
              </a:rPr>
              <a:t>Threat detection everywhere, run from one account</a:t>
            </a:r>
            <a:endParaRPr lang="en-US" sz="2000" dirty="0"/>
          </a:p>
        </p:txBody>
      </p:sp>
      <p:sp>
        <p:nvSpPr>
          <p:cNvPr id="5" name="icon-circle-837"/>
          <p:cNvSpPr/>
          <p:nvPr/>
        </p:nvSpPr>
        <p:spPr>
          <a:xfrm>
            <a:off x="9052560" y="2011680"/>
            <a:ext cx="2377440" cy="2377440"/>
          </a:xfrm>
          <a:prstGeom prst="ellipse">
            <a:avLst/>
          </a:prstGeom>
          <a:solidFill>
            <a:schemeClr val="tx1"/>
          </a:solidFill>
          <a:ln w="12700">
            <a:solidFill>
              <a:schemeClr val="tx1"/>
            </a:solidFill>
            <a:prstDash val="solid"/>
          </a:ln>
        </p:spPr>
      </p:sp>
      <p:pic>
        <p:nvPicPr>
          <p:cNvPr id="6" name="icon-838" descr="preencoded.png">    </p:cNvPr>
          <p:cNvPicPr>
            <a:picLocks noChangeAspect="1"/>
          </p:cNvPicPr>
          <p:nvPr/>
        </p:nvPicPr>
        <p:blipFill>
          <a:blip r:embed="rId1"/>
          <a:stretch>
            <a:fillRect/>
          </a:stretch>
        </p:blipFill>
        <p:spPr>
          <a:xfrm>
            <a:off x="9646920" y="2606040"/>
            <a:ext cx="1188720" cy="118872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Delegated administration</a:t>
            </a:r>
            <a:endParaRPr lang="en-US" sz="3400" dirty="0"/>
          </a:p>
        </p:txBody>
      </p:sp>
      <p:sp>
        <p:nvSpPr>
          <p:cNvPr id="3" name="box-839"/>
          <p:cNvSpPr/>
          <p:nvPr/>
        </p:nvSpPr>
        <p:spPr>
          <a:xfrm>
            <a:off x="502920" y="2377440"/>
            <a:ext cx="2743200" cy="1280160"/>
          </a:xfrm>
          <a:prstGeom prst="roundRect">
            <a:avLst>
              <a:gd name="adj" fmla="val 5714"/>
            </a:avLst>
          </a:prstGeom>
          <a:solidFill>
            <a:schemeClr val="tx1"/>
          </a:solidFill>
          <a:ln w="9525">
            <a:solidFill>
              <a:schemeClr val="tx1"/>
            </a:solidFill>
            <a:prstDash val="solid"/>
          </a:ln>
        </p:spPr>
      </p:sp>
      <p:sp>
        <p:nvSpPr>
          <p:cNvPr id="4" name="box-t-840"/>
          <p:cNvSpPr txBox="1"/>
          <p:nvPr/>
        </p:nvSpPr>
        <p:spPr>
          <a:xfrm>
            <a:off x="548640" y="2377440"/>
            <a:ext cx="2651760" cy="1280160"/>
          </a:xfrm>
          <a:prstGeom prst="rect">
            <a:avLst/>
          </a:prstGeom>
          <a:noFill/>
          <a:ln/>
        </p:spPr>
        <p:txBody>
          <a:bodyPr wrap="square" lIns="508" tIns="508" rIns="508" bIns="508" rtlCol="0" anchor="ctr"/>
          <a:lstStyle/>
          <a:p>
            <a:pPr algn="ctr" indent="0" marL="0">
              <a:buNone/>
            </a:pPr>
            <a:r>
              <a:rPr lang="en-US" sz="1600" b="1" dirty="0">
                <a:solidFill>
                  <a:schemeClr val="bg1"/>
                </a:solidFill>
              </a:rPr>
              <a:t>Management account</a:t>
            </a:r>
            <a:endParaRPr lang="en-US" sz="1600" dirty="0"/>
          </a:p>
          <a:p>
            <a:pPr algn="ctr" indent="0" marL="0">
              <a:buNone/>
            </a:pPr>
            <a:r>
              <a:rPr lang="en-US" sz="1100" dirty="0">
                <a:solidFill>
                  <a:schemeClr val="bg1"/>
                </a:solidFill>
              </a:rPr>
              <a:t>Only delegates. Nobody works here.</a:t>
            </a:r>
            <a:endParaRPr lang="en-US" sz="1600" dirty="0"/>
          </a:p>
        </p:txBody>
      </p:sp>
      <p:sp>
        <p:nvSpPr>
          <p:cNvPr id="5" name="arrow-841"/>
          <p:cNvSpPr/>
          <p:nvPr/>
        </p:nvSpPr>
        <p:spPr>
          <a:xfrm>
            <a:off x="3264408" y="3017520"/>
            <a:ext cx="1197864" cy="0"/>
          </a:xfrm>
          <a:prstGeom prst="line">
            <a:avLst/>
          </a:prstGeom>
          <a:noFill/>
          <a:ln w="31750">
            <a:solidFill>
              <a:schemeClr val="accent2"/>
            </a:solidFill>
            <a:prstDash val="solid"/>
            <a:tailEnd type="triangle"/>
          </a:ln>
        </p:spPr>
      </p:sp>
      <p:sp>
        <p:nvSpPr>
          <p:cNvPr id="6" name="text-842"/>
          <p:cNvSpPr txBox="1"/>
          <p:nvPr/>
        </p:nvSpPr>
        <p:spPr>
          <a:xfrm>
            <a:off x="3200400" y="2606040"/>
            <a:ext cx="1325880" cy="365760"/>
          </a:xfrm>
          <a:prstGeom prst="rect">
            <a:avLst/>
          </a:prstGeom>
          <a:noFill/>
          <a:ln/>
        </p:spPr>
        <p:txBody>
          <a:bodyPr wrap="square" lIns="0" tIns="0" rIns="0" bIns="0" rtlCol="0" anchor="t"/>
          <a:lstStyle/>
          <a:p>
            <a:pPr algn="ctr" indent="0" marL="0">
              <a:buNone/>
            </a:pPr>
            <a:r>
              <a:rPr lang="en-US" sz="1200" dirty="0">
                <a:solidFill>
                  <a:schemeClr val="tx2"/>
                </a:solidFill>
              </a:rPr>
              <a:t>delegates admin</a:t>
            </a:r>
            <a:endParaRPr lang="en-US" sz="1200" dirty="0"/>
          </a:p>
        </p:txBody>
      </p:sp>
      <p:sp>
        <p:nvSpPr>
          <p:cNvPr id="7" name="box-843"/>
          <p:cNvSpPr/>
          <p:nvPr/>
        </p:nvSpPr>
        <p:spPr>
          <a:xfrm>
            <a:off x="4480560" y="1371600"/>
            <a:ext cx="3200400" cy="3291840"/>
          </a:xfrm>
          <a:prstGeom prst="roundRect">
            <a:avLst>
              <a:gd name="adj" fmla="val 2286"/>
            </a:avLst>
          </a:prstGeom>
          <a:solidFill>
            <a:schemeClr val="accent3"/>
          </a:solidFill>
          <a:ln w="9525">
            <a:solidFill>
              <a:schemeClr val="accent3"/>
            </a:solidFill>
            <a:prstDash val="solid"/>
          </a:ln>
        </p:spPr>
      </p:sp>
      <p:sp>
        <p:nvSpPr>
          <p:cNvPr id="8" name="text-844"/>
          <p:cNvSpPr txBox="1"/>
          <p:nvPr/>
        </p:nvSpPr>
        <p:spPr>
          <a:xfrm>
            <a:off x="4663440" y="1508760"/>
            <a:ext cx="2834640" cy="365760"/>
          </a:xfrm>
          <a:prstGeom prst="rect">
            <a:avLst/>
          </a:prstGeom>
          <a:noFill/>
          <a:ln/>
        </p:spPr>
        <p:txBody>
          <a:bodyPr wrap="square" lIns="0" tIns="0" rIns="0" bIns="0" rtlCol="0" anchor="t"/>
          <a:lstStyle/>
          <a:p>
            <a:pPr indent="0" marL="0">
              <a:buNone/>
            </a:pPr>
            <a:r>
              <a:rPr lang="en-US" sz="1700" b="1" dirty="0">
                <a:solidFill>
                  <a:schemeClr val="bg1"/>
                </a:solidFill>
              </a:rPr>
              <a:t>security account</a:t>
            </a:r>
            <a:endParaRPr lang="en-US" sz="1700" dirty="0"/>
          </a:p>
        </p:txBody>
      </p:sp>
      <p:sp>
        <p:nvSpPr>
          <p:cNvPr id="9" name="box-845"/>
          <p:cNvSpPr/>
          <p:nvPr/>
        </p:nvSpPr>
        <p:spPr>
          <a:xfrm>
            <a:off x="4709160" y="2011680"/>
            <a:ext cx="2743200" cy="502920"/>
          </a:xfrm>
          <a:prstGeom prst="roundRect">
            <a:avLst>
              <a:gd name="adj" fmla="val 14545"/>
            </a:avLst>
          </a:prstGeom>
          <a:solidFill>
            <a:schemeClr val="bg1"/>
          </a:solidFill>
          <a:ln w="9525">
            <a:solidFill>
              <a:schemeClr val="bg1"/>
            </a:solidFill>
            <a:prstDash val="solid"/>
          </a:ln>
        </p:spPr>
      </p:sp>
      <p:sp>
        <p:nvSpPr>
          <p:cNvPr id="10" name="box-t-846"/>
          <p:cNvSpPr txBox="1"/>
          <p:nvPr/>
        </p:nvSpPr>
        <p:spPr>
          <a:xfrm>
            <a:off x="4754880" y="2011680"/>
            <a:ext cx="2651760" cy="502920"/>
          </a:xfrm>
          <a:prstGeom prst="rect">
            <a:avLst/>
          </a:prstGeom>
          <a:noFill/>
          <a:ln/>
        </p:spPr>
        <p:txBody>
          <a:bodyPr wrap="square" lIns="508" tIns="508" rIns="508" bIns="508" rtlCol="0" anchor="ctr"/>
          <a:lstStyle/>
          <a:p>
            <a:pPr algn="ctr" indent="0" marL="0">
              <a:buNone/>
            </a:pPr>
            <a:r>
              <a:rPr lang="en-US" sz="1400" b="1" dirty="0">
                <a:solidFill>
                  <a:schemeClr val="tx1"/>
                </a:solidFill>
              </a:rPr>
              <a:t>GuardDuty</a:t>
            </a:r>
            <a:endParaRPr lang="en-US" sz="1400" dirty="0"/>
          </a:p>
        </p:txBody>
      </p:sp>
      <p:sp>
        <p:nvSpPr>
          <p:cNvPr id="11" name="box-847"/>
          <p:cNvSpPr/>
          <p:nvPr/>
        </p:nvSpPr>
        <p:spPr>
          <a:xfrm>
            <a:off x="4709160" y="2651760"/>
            <a:ext cx="2743200" cy="502920"/>
          </a:xfrm>
          <a:prstGeom prst="roundRect">
            <a:avLst>
              <a:gd name="adj" fmla="val 14545"/>
            </a:avLst>
          </a:prstGeom>
          <a:solidFill>
            <a:schemeClr val="bg1"/>
          </a:solidFill>
          <a:ln w="9525">
            <a:solidFill>
              <a:schemeClr val="bg1"/>
            </a:solidFill>
            <a:prstDash val="solid"/>
          </a:ln>
        </p:spPr>
      </p:sp>
      <p:sp>
        <p:nvSpPr>
          <p:cNvPr id="12" name="box-t-848"/>
          <p:cNvSpPr txBox="1"/>
          <p:nvPr/>
        </p:nvSpPr>
        <p:spPr>
          <a:xfrm>
            <a:off x="4754880" y="2651760"/>
            <a:ext cx="2651760" cy="502920"/>
          </a:xfrm>
          <a:prstGeom prst="rect">
            <a:avLst/>
          </a:prstGeom>
          <a:noFill/>
          <a:ln/>
        </p:spPr>
        <p:txBody>
          <a:bodyPr wrap="square" lIns="508" tIns="508" rIns="508" bIns="508" rtlCol="0" anchor="ctr"/>
          <a:lstStyle/>
          <a:p>
            <a:pPr algn="ctr" indent="0" marL="0">
              <a:buNone/>
            </a:pPr>
            <a:r>
              <a:rPr lang="en-US" sz="1400" b="1" dirty="0">
                <a:solidFill>
                  <a:schemeClr val="tx1"/>
                </a:solidFill>
              </a:rPr>
              <a:t>Security Hub</a:t>
            </a:r>
            <a:endParaRPr lang="en-US" sz="1400" dirty="0"/>
          </a:p>
        </p:txBody>
      </p:sp>
      <p:sp>
        <p:nvSpPr>
          <p:cNvPr id="13" name="box-849"/>
          <p:cNvSpPr/>
          <p:nvPr/>
        </p:nvSpPr>
        <p:spPr>
          <a:xfrm>
            <a:off x="4709160" y="3291840"/>
            <a:ext cx="2743200" cy="502920"/>
          </a:xfrm>
          <a:prstGeom prst="roundRect">
            <a:avLst>
              <a:gd name="adj" fmla="val 14545"/>
            </a:avLst>
          </a:prstGeom>
          <a:solidFill>
            <a:schemeClr val="bg1"/>
          </a:solidFill>
          <a:ln w="9525">
            <a:solidFill>
              <a:schemeClr val="bg1"/>
            </a:solidFill>
            <a:prstDash val="solid"/>
          </a:ln>
        </p:spPr>
      </p:sp>
      <p:sp>
        <p:nvSpPr>
          <p:cNvPr id="14" name="box-t-850"/>
          <p:cNvSpPr txBox="1"/>
          <p:nvPr/>
        </p:nvSpPr>
        <p:spPr>
          <a:xfrm>
            <a:off x="4754880" y="3291840"/>
            <a:ext cx="2651760" cy="502920"/>
          </a:xfrm>
          <a:prstGeom prst="rect">
            <a:avLst/>
          </a:prstGeom>
          <a:noFill/>
          <a:ln/>
        </p:spPr>
        <p:txBody>
          <a:bodyPr wrap="square" lIns="508" tIns="508" rIns="508" bIns="508" rtlCol="0" anchor="ctr"/>
          <a:lstStyle/>
          <a:p>
            <a:pPr algn="ctr" indent="0" marL="0">
              <a:buNone/>
            </a:pPr>
            <a:r>
              <a:rPr lang="en-US" sz="1400" b="1" dirty="0">
                <a:solidFill>
                  <a:schemeClr val="tx1"/>
                </a:solidFill>
              </a:rPr>
              <a:t>Config aggregator</a:t>
            </a:r>
            <a:endParaRPr lang="en-US" sz="1400" dirty="0"/>
          </a:p>
        </p:txBody>
      </p:sp>
      <p:sp>
        <p:nvSpPr>
          <p:cNvPr id="15" name="box-851"/>
          <p:cNvSpPr/>
          <p:nvPr/>
        </p:nvSpPr>
        <p:spPr>
          <a:xfrm>
            <a:off x="4709160" y="3931920"/>
            <a:ext cx="2743200" cy="502920"/>
          </a:xfrm>
          <a:prstGeom prst="roundRect">
            <a:avLst>
              <a:gd name="adj" fmla="val 14545"/>
            </a:avLst>
          </a:prstGeom>
          <a:solidFill>
            <a:schemeClr val="bg1"/>
          </a:solidFill>
          <a:ln w="9525">
            <a:solidFill>
              <a:schemeClr val="bg1"/>
            </a:solidFill>
            <a:prstDash val="solid"/>
          </a:ln>
        </p:spPr>
      </p:sp>
      <p:sp>
        <p:nvSpPr>
          <p:cNvPr id="16" name="box-t-852"/>
          <p:cNvSpPr txBox="1"/>
          <p:nvPr/>
        </p:nvSpPr>
        <p:spPr>
          <a:xfrm>
            <a:off x="4754880" y="3931920"/>
            <a:ext cx="2651760" cy="502920"/>
          </a:xfrm>
          <a:prstGeom prst="rect">
            <a:avLst/>
          </a:prstGeom>
          <a:noFill/>
          <a:ln/>
        </p:spPr>
        <p:txBody>
          <a:bodyPr wrap="square" lIns="508" tIns="508" rIns="508" bIns="508" rtlCol="0" anchor="ctr"/>
          <a:lstStyle/>
          <a:p>
            <a:pPr algn="ctr" indent="0" marL="0">
              <a:buNone/>
            </a:pPr>
            <a:r>
              <a:rPr lang="en-US" sz="1400" b="1" dirty="0">
                <a:solidFill>
                  <a:schemeClr val="tx1"/>
                </a:solidFill>
              </a:rPr>
              <a:t>Access Analyzer</a:t>
            </a:r>
            <a:endParaRPr lang="en-US" sz="1400" dirty="0"/>
          </a:p>
        </p:txBody>
      </p:sp>
      <p:sp>
        <p:nvSpPr>
          <p:cNvPr id="17" name="box-853"/>
          <p:cNvSpPr/>
          <p:nvPr/>
        </p:nvSpPr>
        <p:spPr>
          <a:xfrm>
            <a:off x="9326880" y="1371600"/>
            <a:ext cx="2377440" cy="502920"/>
          </a:xfrm>
          <a:prstGeom prst="roundRect">
            <a:avLst>
              <a:gd name="adj" fmla="val 14545"/>
            </a:avLst>
          </a:prstGeom>
          <a:solidFill>
            <a:schemeClr val="accent1"/>
          </a:solidFill>
          <a:ln w="9525">
            <a:solidFill>
              <a:schemeClr val="accent1"/>
            </a:solidFill>
            <a:prstDash val="solid"/>
          </a:ln>
        </p:spPr>
      </p:sp>
      <p:sp>
        <p:nvSpPr>
          <p:cNvPr id="18" name="box-t-854"/>
          <p:cNvSpPr txBox="1"/>
          <p:nvPr/>
        </p:nvSpPr>
        <p:spPr>
          <a:xfrm>
            <a:off x="9372600" y="1371600"/>
            <a:ext cx="2286000" cy="502920"/>
          </a:xfrm>
          <a:prstGeom prst="rect">
            <a:avLst/>
          </a:prstGeom>
          <a:noFill/>
          <a:ln/>
        </p:spPr>
        <p:txBody>
          <a:bodyPr wrap="square" lIns="508" tIns="508" rIns="508" bIns="508" rtlCol="0" anchor="ctr"/>
          <a:lstStyle/>
          <a:p>
            <a:pPr algn="ctr" indent="0" marL="0">
              <a:buNone/>
            </a:pPr>
            <a:r>
              <a:rPr lang="en-US" sz="1300" b="1" dirty="0">
                <a:solidFill>
                  <a:schemeClr val="bg1"/>
                </a:solidFill>
              </a:rPr>
              <a:t>management</a:t>
            </a:r>
            <a:endParaRPr lang="en-US" sz="1300" dirty="0"/>
          </a:p>
        </p:txBody>
      </p:sp>
      <p:sp>
        <p:nvSpPr>
          <p:cNvPr id="19" name="arrow-855"/>
          <p:cNvSpPr/>
          <p:nvPr/>
        </p:nvSpPr>
        <p:spPr>
          <a:xfrm flipH="1">
            <a:off x="7699248" y="1618488"/>
            <a:ext cx="1609344" cy="1399032"/>
          </a:xfrm>
          <a:prstGeom prst="line">
            <a:avLst/>
          </a:prstGeom>
          <a:noFill/>
          <a:ln w="15875">
            <a:solidFill>
              <a:schemeClr val="accent5"/>
            </a:solidFill>
            <a:prstDash val="solid"/>
            <a:tailEnd type="triangle"/>
          </a:ln>
        </p:spPr>
      </p:sp>
      <p:sp>
        <p:nvSpPr>
          <p:cNvPr id="20" name="box-856"/>
          <p:cNvSpPr/>
          <p:nvPr/>
        </p:nvSpPr>
        <p:spPr>
          <a:xfrm>
            <a:off x="9326880" y="2057400"/>
            <a:ext cx="2377440" cy="502920"/>
          </a:xfrm>
          <a:prstGeom prst="roundRect">
            <a:avLst>
              <a:gd name="adj" fmla="val 14545"/>
            </a:avLst>
          </a:prstGeom>
          <a:solidFill>
            <a:schemeClr val="accent1"/>
          </a:solidFill>
          <a:ln w="9525">
            <a:solidFill>
              <a:schemeClr val="accent1"/>
            </a:solidFill>
            <a:prstDash val="solid"/>
          </a:ln>
        </p:spPr>
      </p:sp>
      <p:sp>
        <p:nvSpPr>
          <p:cNvPr id="21" name="box-t-857"/>
          <p:cNvSpPr txBox="1"/>
          <p:nvPr/>
        </p:nvSpPr>
        <p:spPr>
          <a:xfrm>
            <a:off x="9372600" y="2057400"/>
            <a:ext cx="2286000" cy="502920"/>
          </a:xfrm>
          <a:prstGeom prst="rect">
            <a:avLst/>
          </a:prstGeom>
          <a:noFill/>
          <a:ln/>
        </p:spPr>
        <p:txBody>
          <a:bodyPr wrap="square" lIns="508" tIns="508" rIns="508" bIns="508" rtlCol="0" anchor="ctr"/>
          <a:lstStyle/>
          <a:p>
            <a:pPr algn="ctr" indent="0" marL="0">
              <a:buNone/>
            </a:pPr>
            <a:r>
              <a:rPr lang="en-US" sz="1300" b="1" dirty="0">
                <a:solidFill>
                  <a:schemeClr val="bg1"/>
                </a:solidFill>
              </a:rPr>
              <a:t>log-archive</a:t>
            </a:r>
            <a:endParaRPr lang="en-US" sz="1300" dirty="0"/>
          </a:p>
        </p:txBody>
      </p:sp>
      <p:sp>
        <p:nvSpPr>
          <p:cNvPr id="22" name="arrow-858"/>
          <p:cNvSpPr/>
          <p:nvPr/>
        </p:nvSpPr>
        <p:spPr>
          <a:xfrm flipH="1">
            <a:off x="7699248" y="2304288"/>
            <a:ext cx="1609344" cy="713232"/>
          </a:xfrm>
          <a:prstGeom prst="line">
            <a:avLst/>
          </a:prstGeom>
          <a:noFill/>
          <a:ln w="15875">
            <a:solidFill>
              <a:schemeClr val="accent5"/>
            </a:solidFill>
            <a:prstDash val="solid"/>
            <a:tailEnd type="triangle"/>
          </a:ln>
        </p:spPr>
      </p:sp>
      <p:sp>
        <p:nvSpPr>
          <p:cNvPr id="23" name="box-859"/>
          <p:cNvSpPr/>
          <p:nvPr/>
        </p:nvSpPr>
        <p:spPr>
          <a:xfrm>
            <a:off x="9326880" y="2743200"/>
            <a:ext cx="2377440" cy="502920"/>
          </a:xfrm>
          <a:prstGeom prst="roundRect">
            <a:avLst>
              <a:gd name="adj" fmla="val 14545"/>
            </a:avLst>
          </a:prstGeom>
          <a:solidFill>
            <a:schemeClr val="accent1"/>
          </a:solidFill>
          <a:ln w="9525">
            <a:solidFill>
              <a:schemeClr val="accent1"/>
            </a:solidFill>
            <a:prstDash val="solid"/>
          </a:ln>
        </p:spPr>
      </p:sp>
      <p:sp>
        <p:nvSpPr>
          <p:cNvPr id="24" name="box-t-860"/>
          <p:cNvSpPr txBox="1"/>
          <p:nvPr/>
        </p:nvSpPr>
        <p:spPr>
          <a:xfrm>
            <a:off x="9372600" y="2743200"/>
            <a:ext cx="2286000" cy="502920"/>
          </a:xfrm>
          <a:prstGeom prst="rect">
            <a:avLst/>
          </a:prstGeom>
          <a:noFill/>
          <a:ln/>
        </p:spPr>
        <p:txBody>
          <a:bodyPr wrap="square" lIns="508" tIns="508" rIns="508" bIns="508" rtlCol="0" anchor="ctr"/>
          <a:lstStyle/>
          <a:p>
            <a:pPr algn="ctr" indent="0" marL="0">
              <a:buNone/>
            </a:pPr>
            <a:r>
              <a:rPr lang="en-US" sz="1300" b="1" dirty="0">
                <a:solidFill>
                  <a:schemeClr val="bg1"/>
                </a:solidFill>
              </a:rPr>
              <a:t>network</a:t>
            </a:r>
            <a:endParaRPr lang="en-US" sz="1300" dirty="0"/>
          </a:p>
        </p:txBody>
      </p:sp>
      <p:sp>
        <p:nvSpPr>
          <p:cNvPr id="25" name="arrow-861"/>
          <p:cNvSpPr/>
          <p:nvPr/>
        </p:nvSpPr>
        <p:spPr>
          <a:xfrm flipH="1">
            <a:off x="7699248" y="2990088"/>
            <a:ext cx="1609344" cy="27432"/>
          </a:xfrm>
          <a:prstGeom prst="line">
            <a:avLst/>
          </a:prstGeom>
          <a:noFill/>
          <a:ln w="15875">
            <a:solidFill>
              <a:schemeClr val="accent5"/>
            </a:solidFill>
            <a:prstDash val="solid"/>
            <a:tailEnd type="triangle"/>
          </a:ln>
        </p:spPr>
      </p:sp>
      <p:sp>
        <p:nvSpPr>
          <p:cNvPr id="26" name="box-862"/>
          <p:cNvSpPr/>
          <p:nvPr/>
        </p:nvSpPr>
        <p:spPr>
          <a:xfrm>
            <a:off x="9326880" y="3429000"/>
            <a:ext cx="2377440" cy="502920"/>
          </a:xfrm>
          <a:prstGeom prst="roundRect">
            <a:avLst>
              <a:gd name="adj" fmla="val 14545"/>
            </a:avLst>
          </a:prstGeom>
          <a:solidFill>
            <a:schemeClr val="accent1"/>
          </a:solidFill>
          <a:ln w="9525">
            <a:solidFill>
              <a:schemeClr val="accent1"/>
            </a:solidFill>
            <a:prstDash val="solid"/>
          </a:ln>
        </p:spPr>
      </p:sp>
      <p:sp>
        <p:nvSpPr>
          <p:cNvPr id="27" name="box-t-863"/>
          <p:cNvSpPr txBox="1"/>
          <p:nvPr/>
        </p:nvSpPr>
        <p:spPr>
          <a:xfrm>
            <a:off x="9372600" y="3429000"/>
            <a:ext cx="2286000" cy="502920"/>
          </a:xfrm>
          <a:prstGeom prst="rect">
            <a:avLst/>
          </a:prstGeom>
          <a:noFill/>
          <a:ln/>
        </p:spPr>
        <p:txBody>
          <a:bodyPr wrap="square" lIns="508" tIns="508" rIns="508" bIns="508" rtlCol="0" anchor="ctr"/>
          <a:lstStyle/>
          <a:p>
            <a:pPr algn="ctr" indent="0" marL="0">
              <a:buNone/>
            </a:pPr>
            <a:r>
              <a:rPr lang="en-US" sz="1300" b="1" dirty="0">
                <a:solidFill>
                  <a:schemeClr val="bg1"/>
                </a:solidFill>
              </a:rPr>
              <a:t>dev</a:t>
            </a:r>
            <a:endParaRPr lang="en-US" sz="1300" dirty="0"/>
          </a:p>
        </p:txBody>
      </p:sp>
      <p:sp>
        <p:nvSpPr>
          <p:cNvPr id="28" name="arrow-864"/>
          <p:cNvSpPr/>
          <p:nvPr/>
        </p:nvSpPr>
        <p:spPr>
          <a:xfrm flipH="1" flipV="1">
            <a:off x="7699248" y="3017520"/>
            <a:ext cx="1609344" cy="658368"/>
          </a:xfrm>
          <a:prstGeom prst="line">
            <a:avLst/>
          </a:prstGeom>
          <a:noFill/>
          <a:ln w="15875">
            <a:solidFill>
              <a:schemeClr val="accent5"/>
            </a:solidFill>
            <a:prstDash val="solid"/>
            <a:tailEnd type="triangle"/>
          </a:ln>
        </p:spPr>
      </p:sp>
      <p:sp>
        <p:nvSpPr>
          <p:cNvPr id="29" name="box-865"/>
          <p:cNvSpPr/>
          <p:nvPr/>
        </p:nvSpPr>
        <p:spPr>
          <a:xfrm>
            <a:off x="9326880" y="4114800"/>
            <a:ext cx="2377440" cy="502920"/>
          </a:xfrm>
          <a:prstGeom prst="roundRect">
            <a:avLst>
              <a:gd name="adj" fmla="val 14545"/>
            </a:avLst>
          </a:prstGeom>
          <a:solidFill>
            <a:schemeClr val="accent1"/>
          </a:solidFill>
          <a:ln w="9525">
            <a:solidFill>
              <a:schemeClr val="accent1"/>
            </a:solidFill>
            <a:prstDash val="solid"/>
          </a:ln>
        </p:spPr>
      </p:sp>
      <p:sp>
        <p:nvSpPr>
          <p:cNvPr id="30" name="box-t-866"/>
          <p:cNvSpPr txBox="1"/>
          <p:nvPr/>
        </p:nvSpPr>
        <p:spPr>
          <a:xfrm>
            <a:off x="9372600" y="4114800"/>
            <a:ext cx="2286000" cy="502920"/>
          </a:xfrm>
          <a:prstGeom prst="rect">
            <a:avLst/>
          </a:prstGeom>
          <a:noFill/>
          <a:ln/>
        </p:spPr>
        <p:txBody>
          <a:bodyPr wrap="square" lIns="508" tIns="508" rIns="508" bIns="508" rtlCol="0" anchor="ctr"/>
          <a:lstStyle/>
          <a:p>
            <a:pPr algn="ctr" indent="0" marL="0">
              <a:buNone/>
            </a:pPr>
            <a:r>
              <a:rPr lang="en-US" sz="1300" b="1" dirty="0">
                <a:solidFill>
                  <a:schemeClr val="bg1"/>
                </a:solidFill>
              </a:rPr>
              <a:t>prod</a:t>
            </a:r>
            <a:endParaRPr lang="en-US" sz="1300" dirty="0"/>
          </a:p>
        </p:txBody>
      </p:sp>
      <p:sp>
        <p:nvSpPr>
          <p:cNvPr id="31" name="arrow-867"/>
          <p:cNvSpPr/>
          <p:nvPr/>
        </p:nvSpPr>
        <p:spPr>
          <a:xfrm flipH="1" flipV="1">
            <a:off x="7699248" y="3017520"/>
            <a:ext cx="1609344" cy="1344168"/>
          </a:xfrm>
          <a:prstGeom prst="line">
            <a:avLst/>
          </a:prstGeom>
          <a:noFill/>
          <a:ln w="15875">
            <a:solidFill>
              <a:schemeClr val="accent5"/>
            </a:solidFill>
            <a:prstDash val="solid"/>
            <a:tailEnd type="triangle"/>
          </a:ln>
        </p:spPr>
      </p:sp>
      <p:sp>
        <p:nvSpPr>
          <p:cNvPr id="32" name="text-868"/>
          <p:cNvSpPr txBox="1"/>
          <p:nvPr/>
        </p:nvSpPr>
        <p:spPr>
          <a:xfrm>
            <a:off x="7772400" y="4800600"/>
            <a:ext cx="3931920" cy="320040"/>
          </a:xfrm>
          <a:prstGeom prst="rect">
            <a:avLst/>
          </a:prstGeom>
          <a:noFill/>
          <a:ln/>
        </p:spPr>
        <p:txBody>
          <a:bodyPr wrap="square" lIns="0" tIns="0" rIns="0" bIns="0" rtlCol="0" anchor="t"/>
          <a:lstStyle/>
          <a:p>
            <a:pPr algn="ctr" indent="0" marL="0">
              <a:buNone/>
            </a:pPr>
            <a:r>
              <a:rPr lang="en-US" sz="1200" dirty="0">
                <a:solidFill>
                  <a:schemeClr val="tx2"/>
                </a:solidFill>
              </a:rPr>
              <a:t>findings and resource data</a:t>
            </a:r>
            <a:endParaRPr lang="en-US" sz="1200" dirty="0"/>
          </a:p>
        </p:txBody>
      </p:sp>
      <p:sp>
        <p:nvSpPr>
          <p:cNvPr id="33" name="marker-869"/>
          <p:cNvSpPr/>
          <p:nvPr/>
        </p:nvSpPr>
        <p:spPr>
          <a:xfrm>
            <a:off x="502920" y="5212080"/>
            <a:ext cx="329184" cy="329184"/>
          </a:xfrm>
          <a:prstGeom prst="ellipse">
            <a:avLst/>
          </a:prstGeom>
          <a:solidFill>
            <a:schemeClr val="accent2"/>
          </a:solidFill>
          <a:ln w="12700">
            <a:solidFill>
              <a:schemeClr val="accent2"/>
            </a:solidFill>
            <a:prstDash val="solid"/>
          </a:ln>
        </p:spPr>
      </p:sp>
      <p:sp>
        <p:nvSpPr>
          <p:cNvPr id="34" name="marker-n-870"/>
          <p:cNvSpPr txBox="1"/>
          <p:nvPr/>
        </p:nvSpPr>
        <p:spPr>
          <a:xfrm>
            <a:off x="502920" y="52120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a:t>
            </a:r>
            <a:endParaRPr lang="en-US" sz="1400" dirty="0"/>
          </a:p>
        </p:txBody>
      </p:sp>
      <p:sp>
        <p:nvSpPr>
          <p:cNvPr id="35" name="callout-871"/>
          <p:cNvSpPr txBox="1"/>
          <p:nvPr/>
        </p:nvSpPr>
        <p:spPr>
          <a:xfrm>
            <a:off x="960120" y="5193792"/>
            <a:ext cx="1069848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Why not just run it from management?</a:t>
            </a:r>
            <a:endParaRPr lang="en-US" sz="1500" dirty="0"/>
          </a:p>
          <a:p>
            <a:pPr indent="0" marL="0">
              <a:spcAft>
                <a:spcPts val="200"/>
              </a:spcAft>
              <a:buNone/>
            </a:pPr>
            <a:r>
              <a:rPr lang="en-US" sz="1400" dirty="0">
                <a:solidFill>
                  <a:schemeClr val="tx1"/>
                </a:solidFill>
              </a:rPr>
              <a:t>SCPs cannot restrict the management account, so it is the most dangerous place to work. Delegation lets the security team work without ever touching it.</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Order matters: enabling GuardDuty org-wide</a:t>
            </a:r>
            <a:endParaRPr lang="en-US" sz="3400" dirty="0"/>
          </a:p>
        </p:txBody>
      </p:sp>
      <p:sp>
        <p:nvSpPr>
          <p:cNvPr id="3" name="code-label-872"/>
          <p:cNvSpPr txBox="1"/>
          <p:nvPr/>
        </p:nvSpPr>
        <p:spPr>
          <a:xfrm>
            <a:off x="868680" y="1280160"/>
            <a:ext cx="6583680" cy="274320"/>
          </a:xfrm>
          <a:prstGeom prst="rect">
            <a:avLst/>
          </a:prstGeom>
          <a:noFill/>
          <a:ln/>
        </p:spPr>
        <p:txBody>
          <a:bodyPr wrap="square" lIns="0" tIns="0" rIns="0" bIns="0" rtlCol="0" anchor="ctr"/>
          <a:lstStyle/>
          <a:p>
            <a:pPr indent="0" marL="0">
              <a:buNone/>
            </a:pPr>
            <a:r>
              <a:rPr lang="en-US" sz="1100" b="1" dirty="0">
                <a:solidFill>
                  <a:schemeClr val="tx2"/>
                </a:solidFill>
              </a:rPr>
              <a:t>layers/04-security/main.tf</a:t>
            </a:r>
            <a:endParaRPr lang="en-US" sz="1100" dirty="0"/>
          </a:p>
        </p:txBody>
      </p:sp>
      <p:sp>
        <p:nvSpPr>
          <p:cNvPr id="4" name="code-bg-873"/>
          <p:cNvSpPr/>
          <p:nvPr/>
        </p:nvSpPr>
        <p:spPr>
          <a:xfrm>
            <a:off x="868680" y="1572768"/>
            <a:ext cx="6583680" cy="3377184"/>
          </a:xfrm>
          <a:prstGeom prst="roundRect">
            <a:avLst>
              <a:gd name="adj" fmla="val 2166"/>
            </a:avLst>
          </a:prstGeom>
          <a:solidFill>
            <a:schemeClr val="tx1"/>
          </a:solidFill>
          <a:ln w="12700">
            <a:solidFill>
              <a:schemeClr val="tx1"/>
            </a:solidFill>
            <a:prstDash val="solid"/>
          </a:ln>
        </p:spPr>
      </p:sp>
      <p:sp>
        <p:nvSpPr>
          <p:cNvPr id="5" name="code-874"/>
          <p:cNvSpPr txBox="1"/>
          <p:nvPr/>
        </p:nvSpPr>
        <p:spPr>
          <a:xfrm>
            <a:off x="1051560" y="1737360"/>
            <a:ext cx="6263640" cy="3066288"/>
          </a:xfrm>
          <a:prstGeom prst="rect">
            <a:avLst/>
          </a:prstGeom>
          <a:noFill/>
          <a:ln/>
        </p:spPr>
        <p:txBody>
          <a:bodyPr wrap="square" lIns="0" tIns="0" rIns="0" bIns="0" rtlCol="0" anchor="t"/>
          <a:lstStyle/>
          <a:p>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resource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"aws_guardduty_detector"</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"security"</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provider</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aws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security</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enable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true</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resource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"aws_guardduty_organization_admin_account"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"this"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admin_account_id</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local</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security_id</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depends_on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aws_guardduty_detector</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security</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resource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"aws_guardduty_organization_configuration"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"this"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provider</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aws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security</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detector_id</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aws_guardduty_detector</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security</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id</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auto_enable_organization_members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"ALL"</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depends_on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aws_guardduty_organization_admin_account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this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p:txBody>
      </p:sp>
      <p:sp>
        <p:nvSpPr>
          <p:cNvPr id="6" name="marker-875"/>
          <p:cNvSpPr/>
          <p:nvPr/>
        </p:nvSpPr>
        <p:spPr>
          <a:xfrm>
            <a:off x="484632" y="1686306"/>
            <a:ext cx="292608" cy="292608"/>
          </a:xfrm>
          <a:prstGeom prst="ellipse">
            <a:avLst/>
          </a:prstGeom>
          <a:solidFill>
            <a:schemeClr val="accent2"/>
          </a:solidFill>
          <a:ln w="12700">
            <a:solidFill>
              <a:schemeClr val="accent2"/>
            </a:solidFill>
            <a:prstDash val="solid"/>
          </a:ln>
        </p:spPr>
      </p:sp>
      <p:sp>
        <p:nvSpPr>
          <p:cNvPr id="7" name="marker-n-876"/>
          <p:cNvSpPr txBox="1"/>
          <p:nvPr/>
        </p:nvSpPr>
        <p:spPr>
          <a:xfrm>
            <a:off x="484632" y="16863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877"/>
          <p:cNvSpPr/>
          <p:nvPr/>
        </p:nvSpPr>
        <p:spPr>
          <a:xfrm>
            <a:off x="484632" y="2638806"/>
            <a:ext cx="292608" cy="292608"/>
          </a:xfrm>
          <a:prstGeom prst="ellipse">
            <a:avLst/>
          </a:prstGeom>
          <a:solidFill>
            <a:schemeClr val="accent2"/>
          </a:solidFill>
          <a:ln w="12700">
            <a:solidFill>
              <a:schemeClr val="accent2"/>
            </a:solidFill>
            <a:prstDash val="solid"/>
          </a:ln>
        </p:spPr>
      </p:sp>
      <p:sp>
        <p:nvSpPr>
          <p:cNvPr id="9" name="marker-n-878"/>
          <p:cNvSpPr txBox="1"/>
          <p:nvPr/>
        </p:nvSpPr>
        <p:spPr>
          <a:xfrm>
            <a:off x="484632" y="2638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879"/>
          <p:cNvSpPr/>
          <p:nvPr/>
        </p:nvSpPr>
        <p:spPr>
          <a:xfrm>
            <a:off x="484632" y="4162806"/>
            <a:ext cx="292608" cy="292608"/>
          </a:xfrm>
          <a:prstGeom prst="ellipse">
            <a:avLst/>
          </a:prstGeom>
          <a:solidFill>
            <a:schemeClr val="accent2"/>
          </a:solidFill>
          <a:ln w="12700">
            <a:solidFill>
              <a:schemeClr val="accent2"/>
            </a:solidFill>
            <a:prstDash val="solid"/>
          </a:ln>
        </p:spPr>
      </p:sp>
      <p:sp>
        <p:nvSpPr>
          <p:cNvPr id="11" name="marker-n-880"/>
          <p:cNvSpPr txBox="1"/>
          <p:nvPr/>
        </p:nvSpPr>
        <p:spPr>
          <a:xfrm>
            <a:off x="484632" y="4162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881"/>
          <p:cNvSpPr/>
          <p:nvPr/>
        </p:nvSpPr>
        <p:spPr>
          <a:xfrm>
            <a:off x="7818120" y="1325880"/>
            <a:ext cx="329184" cy="329184"/>
          </a:xfrm>
          <a:prstGeom prst="ellipse">
            <a:avLst/>
          </a:prstGeom>
          <a:solidFill>
            <a:schemeClr val="accent2"/>
          </a:solidFill>
          <a:ln w="12700">
            <a:solidFill>
              <a:schemeClr val="accent2"/>
            </a:solidFill>
            <a:prstDash val="solid"/>
          </a:ln>
        </p:spPr>
      </p:sp>
      <p:sp>
        <p:nvSpPr>
          <p:cNvPr id="13" name="marker-n-882"/>
          <p:cNvSpPr txBox="1"/>
          <p:nvPr/>
        </p:nvSpPr>
        <p:spPr>
          <a:xfrm>
            <a:off x="781812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4" name="callout-883"/>
          <p:cNvSpPr txBox="1"/>
          <p:nvPr/>
        </p:nvSpPr>
        <p:spPr>
          <a:xfrm>
            <a:off x="8275320" y="1307592"/>
            <a:ext cx="342900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Turn it on in security first</a:t>
            </a:r>
            <a:endParaRPr lang="en-US" sz="1500" dirty="0"/>
          </a:p>
          <a:p>
            <a:pPr indent="0" marL="0">
              <a:spcAft>
                <a:spcPts val="200"/>
              </a:spcAft>
              <a:buNone/>
            </a:pPr>
            <a:r>
              <a:rPr lang="en-US" sz="1400" dirty="0">
                <a:solidFill>
                  <a:schemeClr val="tx1"/>
                </a:solidFill>
              </a:rPr>
              <a:t>Some services auto-enable in a new admin account, and creating it afterward would fail.</a:t>
            </a:r>
            <a:endParaRPr lang="en-US" sz="1500" dirty="0"/>
          </a:p>
        </p:txBody>
      </p:sp>
      <p:sp>
        <p:nvSpPr>
          <p:cNvPr id="15" name="marker-884"/>
          <p:cNvSpPr/>
          <p:nvPr/>
        </p:nvSpPr>
        <p:spPr>
          <a:xfrm>
            <a:off x="7818120" y="2468880"/>
            <a:ext cx="329184" cy="329184"/>
          </a:xfrm>
          <a:prstGeom prst="ellipse">
            <a:avLst/>
          </a:prstGeom>
          <a:solidFill>
            <a:schemeClr val="accent2"/>
          </a:solidFill>
          <a:ln w="12700">
            <a:solidFill>
              <a:schemeClr val="accent2"/>
            </a:solidFill>
            <a:prstDash val="solid"/>
          </a:ln>
        </p:spPr>
      </p:sp>
      <p:sp>
        <p:nvSpPr>
          <p:cNvPr id="16" name="marker-n-885"/>
          <p:cNvSpPr txBox="1"/>
          <p:nvPr/>
        </p:nvSpPr>
        <p:spPr>
          <a:xfrm>
            <a:off x="7818120" y="2468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7" name="callout-886"/>
          <p:cNvSpPr txBox="1"/>
          <p:nvPr/>
        </p:nvSpPr>
        <p:spPr>
          <a:xfrm>
            <a:off x="8275320" y="245059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Then delegate from management</a:t>
            </a:r>
            <a:endParaRPr lang="en-US" sz="1500" dirty="0"/>
          </a:p>
          <a:p>
            <a:pPr indent="0" marL="0">
              <a:spcAft>
                <a:spcPts val="200"/>
              </a:spcAft>
              <a:buNone/>
            </a:pPr>
            <a:r>
              <a:rPr lang="en-US" sz="1400" dirty="0">
                <a:solidFill>
                  <a:schemeClr val="tx1"/>
                </a:solidFill>
              </a:rPr>
              <a:t>No provider line, so this runs as the management account.</a:t>
            </a:r>
            <a:endParaRPr lang="en-US" sz="1500" dirty="0"/>
          </a:p>
        </p:txBody>
      </p:sp>
      <p:sp>
        <p:nvSpPr>
          <p:cNvPr id="18" name="marker-887"/>
          <p:cNvSpPr/>
          <p:nvPr/>
        </p:nvSpPr>
        <p:spPr>
          <a:xfrm>
            <a:off x="7818120" y="3398520"/>
            <a:ext cx="329184" cy="329184"/>
          </a:xfrm>
          <a:prstGeom prst="ellipse">
            <a:avLst/>
          </a:prstGeom>
          <a:solidFill>
            <a:schemeClr val="accent2"/>
          </a:solidFill>
          <a:ln w="12700">
            <a:solidFill>
              <a:schemeClr val="accent2"/>
            </a:solidFill>
            <a:prstDash val="solid"/>
          </a:ln>
        </p:spPr>
      </p:sp>
      <p:sp>
        <p:nvSpPr>
          <p:cNvPr id="19" name="marker-n-888"/>
          <p:cNvSpPr txBox="1"/>
          <p:nvPr/>
        </p:nvSpPr>
        <p:spPr>
          <a:xfrm>
            <a:off x="7818120" y="3398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0" name="callout-889"/>
          <p:cNvSpPr txBox="1"/>
          <p:nvPr/>
        </p:nvSpPr>
        <p:spPr>
          <a:xfrm>
            <a:off x="8275320" y="338023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Then cover every account</a:t>
            </a:r>
            <a:endParaRPr lang="en-US" sz="1500" dirty="0"/>
          </a:p>
          <a:p>
            <a:pPr indent="0" marL="0">
              <a:spcAft>
                <a:spcPts val="200"/>
              </a:spcAft>
              <a:buNone/>
            </a:pPr>
            <a:r>
              <a:rPr lang="en-US" sz="1400" dirty="0">
                <a:solidFill>
                  <a:schemeClr val="tx1"/>
                </a:solidFill>
              </a:rPr>
              <a:t>ALL includes existing members and any created later.</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Modules: calling a function six times</a:t>
            </a:r>
            <a:endParaRPr lang="en-US" sz="3400" dirty="0"/>
          </a:p>
        </p:txBody>
      </p:sp>
      <p:sp>
        <p:nvSpPr>
          <p:cNvPr id="3" name="code-label-890"/>
          <p:cNvSpPr txBox="1"/>
          <p:nvPr/>
        </p:nvSpPr>
        <p:spPr>
          <a:xfrm>
            <a:off x="868680" y="1280160"/>
            <a:ext cx="6583680" cy="274320"/>
          </a:xfrm>
          <a:prstGeom prst="rect">
            <a:avLst/>
          </a:prstGeom>
          <a:noFill/>
          <a:ln/>
        </p:spPr>
        <p:txBody>
          <a:bodyPr wrap="square" lIns="0" tIns="0" rIns="0" bIns="0" rtlCol="0" anchor="ctr"/>
          <a:lstStyle/>
          <a:p>
            <a:pPr indent="0" marL="0">
              <a:buNone/>
            </a:pPr>
            <a:r>
              <a:rPr lang="en-US" sz="1100" b="1" dirty="0">
                <a:solidFill>
                  <a:schemeClr val="tx2"/>
                </a:solidFill>
              </a:rPr>
              <a:t>layers/04-security/config.tf</a:t>
            </a:r>
            <a:endParaRPr lang="en-US" sz="1100" dirty="0"/>
          </a:p>
        </p:txBody>
      </p:sp>
      <p:sp>
        <p:nvSpPr>
          <p:cNvPr id="4" name="code-bg-891"/>
          <p:cNvSpPr/>
          <p:nvPr/>
        </p:nvSpPr>
        <p:spPr>
          <a:xfrm>
            <a:off x="868680" y="1572768"/>
            <a:ext cx="6583680" cy="3567684"/>
          </a:xfrm>
          <a:prstGeom prst="roundRect">
            <a:avLst>
              <a:gd name="adj" fmla="val 2050"/>
            </a:avLst>
          </a:prstGeom>
          <a:solidFill>
            <a:schemeClr val="tx1"/>
          </a:solidFill>
          <a:ln w="12700">
            <a:solidFill>
              <a:schemeClr val="tx1"/>
            </a:solidFill>
            <a:prstDash val="solid"/>
          </a:ln>
        </p:spPr>
      </p:sp>
      <p:sp>
        <p:nvSpPr>
          <p:cNvPr id="5" name="code-892"/>
          <p:cNvSpPr txBox="1"/>
          <p:nvPr/>
        </p:nvSpPr>
        <p:spPr>
          <a:xfrm>
            <a:off x="1051560" y="1737360"/>
            <a:ext cx="6263640" cy="3256788"/>
          </a:xfrm>
          <a:prstGeom prst="rect">
            <a:avLst/>
          </a:prstGeom>
          <a:noFill/>
          <a:ln/>
        </p:spPr>
        <p:txBody>
          <a:bodyPr wrap="square" lIns="0" tIns="0" rIns="0" bIns="0" rtlCol="0" anchor="t"/>
          <a:lstStyle/>
          <a:p>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module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"config_dev"</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source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"../../modules/config-recorder"</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count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var</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enable_config</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1</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0</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providers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aws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aws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dev</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bucket_name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local</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log_bucket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kms_key_arn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local</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log_kms_key</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module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"config_management"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source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"../../modules/config-recorder"</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count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var</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enable_config</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1</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0</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bucket_name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local</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log_bucket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kms_key_arn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local</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log_kms_key</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record_global_resources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5"/>
                </a:solidFill>
                <a:latin typeface="Courier New" pitchFamily="34" charset="0"/>
                <a:ea typeface="Courier New" pitchFamily="34" charset="-122"/>
                <a:cs typeface="Courier New" pitchFamily="34" charset="-120"/>
              </a:rPr>
              <a:t>true</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p:txBody>
      </p:sp>
      <p:sp>
        <p:nvSpPr>
          <p:cNvPr id="6" name="marker-893"/>
          <p:cNvSpPr/>
          <p:nvPr/>
        </p:nvSpPr>
        <p:spPr>
          <a:xfrm>
            <a:off x="484632" y="1876806"/>
            <a:ext cx="292608" cy="292608"/>
          </a:xfrm>
          <a:prstGeom prst="ellipse">
            <a:avLst/>
          </a:prstGeom>
          <a:solidFill>
            <a:schemeClr val="accent2"/>
          </a:solidFill>
          <a:ln w="12700">
            <a:solidFill>
              <a:schemeClr val="accent2"/>
            </a:solidFill>
            <a:prstDash val="solid"/>
          </a:ln>
        </p:spPr>
      </p:sp>
      <p:sp>
        <p:nvSpPr>
          <p:cNvPr id="7" name="marker-n-894"/>
          <p:cNvSpPr txBox="1"/>
          <p:nvPr/>
        </p:nvSpPr>
        <p:spPr>
          <a:xfrm>
            <a:off x="484632" y="1876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895"/>
          <p:cNvSpPr/>
          <p:nvPr/>
        </p:nvSpPr>
        <p:spPr>
          <a:xfrm>
            <a:off x="484632" y="2257806"/>
            <a:ext cx="292608" cy="292608"/>
          </a:xfrm>
          <a:prstGeom prst="ellipse">
            <a:avLst/>
          </a:prstGeom>
          <a:solidFill>
            <a:schemeClr val="accent2"/>
          </a:solidFill>
          <a:ln w="12700">
            <a:solidFill>
              <a:schemeClr val="accent2"/>
            </a:solidFill>
            <a:prstDash val="solid"/>
          </a:ln>
        </p:spPr>
      </p:sp>
      <p:sp>
        <p:nvSpPr>
          <p:cNvPr id="9" name="marker-n-896"/>
          <p:cNvSpPr txBox="1"/>
          <p:nvPr/>
        </p:nvSpPr>
        <p:spPr>
          <a:xfrm>
            <a:off x="484632" y="2257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897"/>
          <p:cNvSpPr/>
          <p:nvPr/>
        </p:nvSpPr>
        <p:spPr>
          <a:xfrm>
            <a:off x="484632" y="2638806"/>
            <a:ext cx="292608" cy="292608"/>
          </a:xfrm>
          <a:prstGeom prst="ellipse">
            <a:avLst/>
          </a:prstGeom>
          <a:solidFill>
            <a:schemeClr val="accent2"/>
          </a:solidFill>
          <a:ln w="12700">
            <a:solidFill>
              <a:schemeClr val="accent2"/>
            </a:solidFill>
            <a:prstDash val="solid"/>
          </a:ln>
        </p:spPr>
      </p:sp>
      <p:sp>
        <p:nvSpPr>
          <p:cNvPr id="11" name="marker-n-898"/>
          <p:cNvSpPr txBox="1"/>
          <p:nvPr/>
        </p:nvSpPr>
        <p:spPr>
          <a:xfrm>
            <a:off x="484632" y="2638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899"/>
          <p:cNvSpPr/>
          <p:nvPr/>
        </p:nvSpPr>
        <p:spPr>
          <a:xfrm>
            <a:off x="484632" y="4543806"/>
            <a:ext cx="292608" cy="292608"/>
          </a:xfrm>
          <a:prstGeom prst="ellipse">
            <a:avLst/>
          </a:prstGeom>
          <a:solidFill>
            <a:schemeClr val="accent2"/>
          </a:solidFill>
          <a:ln w="12700">
            <a:solidFill>
              <a:schemeClr val="accent2"/>
            </a:solidFill>
            <a:prstDash val="solid"/>
          </a:ln>
        </p:spPr>
      </p:sp>
      <p:sp>
        <p:nvSpPr>
          <p:cNvPr id="13" name="marker-n-900"/>
          <p:cNvSpPr txBox="1"/>
          <p:nvPr/>
        </p:nvSpPr>
        <p:spPr>
          <a:xfrm>
            <a:off x="484632" y="4543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14" name="marker-901"/>
          <p:cNvSpPr/>
          <p:nvPr/>
        </p:nvSpPr>
        <p:spPr>
          <a:xfrm>
            <a:off x="7818120" y="1325880"/>
            <a:ext cx="329184" cy="329184"/>
          </a:xfrm>
          <a:prstGeom prst="ellipse">
            <a:avLst/>
          </a:prstGeom>
          <a:solidFill>
            <a:schemeClr val="accent2"/>
          </a:solidFill>
          <a:ln w="12700">
            <a:solidFill>
              <a:schemeClr val="accent2"/>
            </a:solidFill>
            <a:prstDash val="solid"/>
          </a:ln>
        </p:spPr>
      </p:sp>
      <p:sp>
        <p:nvSpPr>
          <p:cNvPr id="15" name="marker-n-902"/>
          <p:cNvSpPr txBox="1"/>
          <p:nvPr/>
        </p:nvSpPr>
        <p:spPr>
          <a:xfrm>
            <a:off x="781812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6" name="callout-903"/>
          <p:cNvSpPr txBox="1"/>
          <p:nvPr/>
        </p:nvSpPr>
        <p:spPr>
          <a:xfrm>
            <a:off x="8275320" y="130759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source is the function</a:t>
            </a:r>
            <a:endParaRPr lang="en-US" sz="1500" dirty="0"/>
          </a:p>
          <a:p>
            <a:pPr indent="0" marL="0">
              <a:spcAft>
                <a:spcPts val="200"/>
              </a:spcAft>
              <a:buNone/>
            </a:pPr>
            <a:r>
              <a:rPr lang="en-US" sz="1400" dirty="0">
                <a:solidFill>
                  <a:schemeClr val="tx1"/>
                </a:solidFill>
              </a:rPr>
              <a:t>A folder with its own variables (parameters) and outputs (return values).</a:t>
            </a:r>
            <a:endParaRPr lang="en-US" sz="1500" dirty="0"/>
          </a:p>
        </p:txBody>
      </p:sp>
      <p:sp>
        <p:nvSpPr>
          <p:cNvPr id="17" name="marker-904"/>
          <p:cNvSpPr/>
          <p:nvPr/>
        </p:nvSpPr>
        <p:spPr>
          <a:xfrm>
            <a:off x="7818120" y="2255520"/>
            <a:ext cx="329184" cy="329184"/>
          </a:xfrm>
          <a:prstGeom prst="ellipse">
            <a:avLst/>
          </a:prstGeom>
          <a:solidFill>
            <a:schemeClr val="accent2"/>
          </a:solidFill>
          <a:ln w="12700">
            <a:solidFill>
              <a:schemeClr val="accent2"/>
            </a:solidFill>
            <a:prstDash val="solid"/>
          </a:ln>
        </p:spPr>
      </p:sp>
      <p:sp>
        <p:nvSpPr>
          <p:cNvPr id="18" name="marker-n-905"/>
          <p:cNvSpPr txBox="1"/>
          <p:nvPr/>
        </p:nvSpPr>
        <p:spPr>
          <a:xfrm>
            <a:off x="7818120" y="2255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9" name="callout-906"/>
          <p:cNvSpPr txBox="1"/>
          <p:nvPr/>
        </p:nvSpPr>
        <p:spPr>
          <a:xfrm>
            <a:off x="8275320" y="223723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Which account to run in</a:t>
            </a:r>
            <a:endParaRPr lang="en-US" sz="1500" dirty="0"/>
          </a:p>
          <a:p>
            <a:pPr indent="0" marL="0">
              <a:spcAft>
                <a:spcPts val="200"/>
              </a:spcAft>
              <a:buNone/>
            </a:pPr>
            <a:r>
              <a:rPr lang="en-US" sz="1400" dirty="0">
                <a:solidFill>
                  <a:schemeClr val="tx1"/>
                </a:solidFill>
              </a:rPr>
              <a:t>Passes a provider in, like dependency injection.</a:t>
            </a:r>
            <a:endParaRPr lang="en-US" sz="1500" dirty="0"/>
          </a:p>
        </p:txBody>
      </p:sp>
      <p:sp>
        <p:nvSpPr>
          <p:cNvPr id="20" name="marker-907"/>
          <p:cNvSpPr/>
          <p:nvPr/>
        </p:nvSpPr>
        <p:spPr>
          <a:xfrm>
            <a:off x="7818120" y="3185160"/>
            <a:ext cx="329184" cy="329184"/>
          </a:xfrm>
          <a:prstGeom prst="ellipse">
            <a:avLst/>
          </a:prstGeom>
          <a:solidFill>
            <a:schemeClr val="accent2"/>
          </a:solidFill>
          <a:ln w="12700">
            <a:solidFill>
              <a:schemeClr val="accent2"/>
            </a:solidFill>
            <a:prstDash val="solid"/>
          </a:ln>
        </p:spPr>
      </p:sp>
      <p:sp>
        <p:nvSpPr>
          <p:cNvPr id="21" name="marker-n-908"/>
          <p:cNvSpPr txBox="1"/>
          <p:nvPr/>
        </p:nvSpPr>
        <p:spPr>
          <a:xfrm>
            <a:off x="7818120" y="318516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2" name="callout-909"/>
          <p:cNvSpPr txBox="1"/>
          <p:nvPr/>
        </p:nvSpPr>
        <p:spPr>
          <a:xfrm>
            <a:off x="8275320" y="316687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Arguments are parameters</a:t>
            </a:r>
            <a:endParaRPr lang="en-US" sz="1500" dirty="0"/>
          </a:p>
          <a:p>
            <a:pPr indent="0" marL="0">
              <a:spcAft>
                <a:spcPts val="200"/>
              </a:spcAft>
              <a:buNone/>
            </a:pPr>
            <a:r>
              <a:rPr lang="en-US" sz="1400" dirty="0">
                <a:solidFill>
                  <a:schemeClr val="tx1"/>
                </a:solidFill>
              </a:rPr>
              <a:t>count = 0 or 1 also switches the whole call on or off.</a:t>
            </a:r>
            <a:endParaRPr lang="en-US" sz="1500" dirty="0"/>
          </a:p>
        </p:txBody>
      </p:sp>
      <p:sp>
        <p:nvSpPr>
          <p:cNvPr id="23" name="marker-910"/>
          <p:cNvSpPr/>
          <p:nvPr/>
        </p:nvSpPr>
        <p:spPr>
          <a:xfrm>
            <a:off x="7818120" y="4114800"/>
            <a:ext cx="329184" cy="329184"/>
          </a:xfrm>
          <a:prstGeom prst="ellipse">
            <a:avLst/>
          </a:prstGeom>
          <a:solidFill>
            <a:schemeClr val="accent2"/>
          </a:solidFill>
          <a:ln w="12700">
            <a:solidFill>
              <a:schemeClr val="accent2"/>
            </a:solidFill>
            <a:prstDash val="solid"/>
          </a:ln>
        </p:spPr>
      </p:sp>
      <p:sp>
        <p:nvSpPr>
          <p:cNvPr id="24" name="marker-n-911"/>
          <p:cNvSpPr txBox="1"/>
          <p:nvPr/>
        </p:nvSpPr>
        <p:spPr>
          <a:xfrm>
            <a:off x="7818120" y="411480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5" name="callout-912"/>
          <p:cNvSpPr txBox="1"/>
          <p:nvPr/>
        </p:nvSpPr>
        <p:spPr>
          <a:xfrm>
            <a:off x="8275320" y="409651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IAM recorded once</a:t>
            </a:r>
            <a:endParaRPr lang="en-US" sz="1500" dirty="0"/>
          </a:p>
          <a:p>
            <a:pPr indent="0" marL="0">
              <a:spcAft>
                <a:spcPts val="200"/>
              </a:spcAft>
              <a:buNone/>
            </a:pPr>
            <a:r>
              <a:rPr lang="en-US" sz="1400" dirty="0">
                <a:solidFill>
                  <a:schemeClr val="tx1"/>
                </a:solidFill>
              </a:rPr>
              <a:t>Global resources only in one account, so they are not billed six times.</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913"/>
          <p:cNvSpPr txBox="1"/>
          <p:nvPr/>
        </p:nvSpPr>
        <p:spPr>
          <a:xfrm>
            <a:off x="731520" y="1463040"/>
            <a:ext cx="2743200" cy="1005840"/>
          </a:xfrm>
          <a:prstGeom prst="rect">
            <a:avLst/>
          </a:prstGeom>
          <a:noFill/>
          <a:ln/>
        </p:spPr>
        <p:txBody>
          <a:bodyPr wrap="square" lIns="0" tIns="0" rIns="0" bIns="0" rtlCol="0" anchor="t"/>
          <a:lstStyle/>
          <a:p>
            <a:pPr indent="0" marL="0">
              <a:buNone/>
            </a:pPr>
            <a:r>
              <a:rPr lang="en-US" sz="6000" b="1" dirty="0">
                <a:solidFill>
                  <a:schemeClr val="accent2"/>
                </a:solidFill>
                <a:latin typeface="Arial" pitchFamily="34" charset="0"/>
                <a:ea typeface="Arial" pitchFamily="34" charset="-122"/>
                <a:cs typeface="Arial" pitchFamily="34" charset="-120"/>
              </a:rPr>
              <a:t>07</a:t>
            </a:r>
            <a:endParaRPr lang="en-US" sz="6000" dirty="0"/>
          </a:p>
        </p:txBody>
      </p:sp>
      <p:sp>
        <p:nvSpPr>
          <p:cNvPr id="3" name="Text 0"/>
          <p:cNvSpPr/>
          <p:nvPr>
            <p:ph idx="100" type="title" hasCustomPrompt="1"/>
          </p:nvPr>
        </p:nvSpPr>
        <p:spPr>
          <a:xfrm>
            <a:off x="731520" y="2651760"/>
            <a:ext cx="8046720" cy="1097280"/>
          </a:xfrm>
          <a:prstGeom prst="rect">
            <a:avLst/>
          </a:prstGeom>
          <a:noFill/>
          <a:ln/>
        </p:spPr>
        <p:txBody>
          <a:bodyPr wrap="square" lIns="0" tIns="0" rIns="0" bIns="0" rtlCol="0" anchor="t"/>
          <a:lstStyle/>
          <a:p>
            <a:pPr algn="l" indent="0" marL="0">
              <a:buNone/>
            </a:pPr>
            <a:r>
              <a:rPr lang="en-US" sz="4400" b="1" dirty="0">
                <a:solidFill>
                  <a:schemeClr val="bg1"/>
                </a:solidFill>
              </a:rPr>
              <a:t>Layer 05: Network</a:t>
            </a:r>
            <a:endParaRPr lang="en-US" sz="4400" dirty="0"/>
          </a:p>
        </p:txBody>
      </p:sp>
      <p:sp>
        <p:nvSpPr>
          <p:cNvPr id="4" name="Text 0"/>
          <p:cNvSpPr/>
          <p:nvPr>
            <p:ph idx="101" type="body" hasCustomPrompt="1"/>
          </p:nvPr>
        </p:nvSpPr>
        <p:spPr>
          <a:xfrm>
            <a:off x="731520" y="3840480"/>
            <a:ext cx="7863840" cy="1371600"/>
          </a:xfrm>
          <a:prstGeom prst="rect">
            <a:avLst/>
          </a:prstGeom>
          <a:noFill/>
          <a:ln/>
        </p:spPr>
        <p:txBody>
          <a:bodyPr wrap="square" lIns="0" tIns="0" rIns="0" bIns="0" rtlCol="0" anchor="t"/>
          <a:lstStyle/>
          <a:p>
            <a:pPr algn="l" indent="0" marL="0">
              <a:buNone/>
            </a:pPr>
            <a:r>
              <a:rPr lang="en-US" sz="2000" dirty="0">
                <a:solidFill>
                  <a:schemeClr val="bg2"/>
                </a:solidFill>
              </a:rPr>
              <a:t>A hub that lets dev and prod reach shared services, not each other</a:t>
            </a:r>
            <a:endParaRPr lang="en-US" sz="2000" dirty="0"/>
          </a:p>
        </p:txBody>
      </p:sp>
      <p:sp>
        <p:nvSpPr>
          <p:cNvPr id="5" name="icon-circle-914"/>
          <p:cNvSpPr/>
          <p:nvPr/>
        </p:nvSpPr>
        <p:spPr>
          <a:xfrm>
            <a:off x="9052560" y="2011680"/>
            <a:ext cx="2377440" cy="2377440"/>
          </a:xfrm>
          <a:prstGeom prst="ellipse">
            <a:avLst/>
          </a:prstGeom>
          <a:solidFill>
            <a:schemeClr val="tx1"/>
          </a:solidFill>
          <a:ln w="12700">
            <a:solidFill>
              <a:schemeClr val="tx1"/>
            </a:solidFill>
            <a:prstDash val="solid"/>
          </a:ln>
        </p:spPr>
      </p:sp>
      <p:pic>
        <p:nvPicPr>
          <p:cNvPr id="6" name="icon-915" descr="preencoded.png">    </p:cNvPr>
          <p:cNvPicPr>
            <a:picLocks noChangeAspect="1"/>
          </p:cNvPicPr>
          <p:nvPr/>
        </p:nvPicPr>
        <p:blipFill>
          <a:blip r:embed="rId1"/>
          <a:stretch>
            <a:fillRect/>
          </a:stretch>
        </p:blipFill>
        <p:spPr>
          <a:xfrm>
            <a:off x="9646920" y="2606040"/>
            <a:ext cx="1188720" cy="118872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Hub and spoke with two route tables</a:t>
            </a:r>
            <a:endParaRPr lang="en-US" sz="3400" dirty="0"/>
          </a:p>
        </p:txBody>
      </p:sp>
      <p:sp>
        <p:nvSpPr>
          <p:cNvPr id="3" name="box-916"/>
          <p:cNvSpPr/>
          <p:nvPr/>
        </p:nvSpPr>
        <p:spPr>
          <a:xfrm>
            <a:off x="4206240" y="1234440"/>
            <a:ext cx="3749040" cy="914400"/>
          </a:xfrm>
          <a:prstGeom prst="roundRect">
            <a:avLst>
              <a:gd name="adj" fmla="val 8000"/>
            </a:avLst>
          </a:prstGeom>
          <a:solidFill>
            <a:schemeClr val="accent3"/>
          </a:solidFill>
          <a:ln w="9525">
            <a:solidFill>
              <a:schemeClr val="accent3"/>
            </a:solidFill>
            <a:prstDash val="solid"/>
          </a:ln>
        </p:spPr>
      </p:sp>
      <p:sp>
        <p:nvSpPr>
          <p:cNvPr id="4" name="box-t-917"/>
          <p:cNvSpPr txBox="1"/>
          <p:nvPr/>
        </p:nvSpPr>
        <p:spPr>
          <a:xfrm>
            <a:off x="4251960" y="1234440"/>
            <a:ext cx="3657600" cy="914400"/>
          </a:xfrm>
          <a:prstGeom prst="rect">
            <a:avLst/>
          </a:prstGeom>
          <a:noFill/>
          <a:ln/>
        </p:spPr>
        <p:txBody>
          <a:bodyPr wrap="square" lIns="508" tIns="508" rIns="508" bIns="508" rtlCol="0" anchor="ctr"/>
          <a:lstStyle/>
          <a:p>
            <a:pPr algn="ctr" indent="0" marL="0">
              <a:buNone/>
            </a:pPr>
            <a:r>
              <a:rPr lang="en-US" sz="1600" b="1" dirty="0">
                <a:solidFill>
                  <a:schemeClr val="bg1"/>
                </a:solidFill>
              </a:rPr>
              <a:t>shared-services VPC</a:t>
            </a:r>
            <a:endParaRPr lang="en-US" sz="1600" dirty="0"/>
          </a:p>
          <a:p>
            <a:pPr algn="ctr" indent="0" marL="0">
              <a:buNone/>
            </a:pPr>
            <a:r>
              <a:rPr lang="en-US" sz="1200" dirty="0">
                <a:solidFill>
                  <a:schemeClr val="bg1"/>
                </a:solidFill>
              </a:rPr>
              <a:t>10.0.0.0/16  |  network account</a:t>
            </a:r>
            <a:endParaRPr lang="en-US" sz="1600" dirty="0"/>
          </a:p>
        </p:txBody>
      </p:sp>
      <p:sp>
        <p:nvSpPr>
          <p:cNvPr id="5" name="box-918"/>
          <p:cNvSpPr/>
          <p:nvPr/>
        </p:nvSpPr>
        <p:spPr>
          <a:xfrm>
            <a:off x="3108960" y="2697480"/>
            <a:ext cx="5943600" cy="1737360"/>
          </a:xfrm>
          <a:prstGeom prst="roundRect">
            <a:avLst>
              <a:gd name="adj" fmla="val 4211"/>
            </a:avLst>
          </a:prstGeom>
          <a:solidFill>
            <a:schemeClr val="tx1"/>
          </a:solidFill>
          <a:ln w="9525">
            <a:solidFill>
              <a:schemeClr val="tx1"/>
            </a:solidFill>
            <a:prstDash val="solid"/>
          </a:ln>
        </p:spPr>
      </p:sp>
      <p:sp>
        <p:nvSpPr>
          <p:cNvPr id="6" name="text-919"/>
          <p:cNvSpPr txBox="1"/>
          <p:nvPr/>
        </p:nvSpPr>
        <p:spPr>
          <a:xfrm>
            <a:off x="3291840" y="2788920"/>
            <a:ext cx="5577840" cy="365760"/>
          </a:xfrm>
          <a:prstGeom prst="rect">
            <a:avLst/>
          </a:prstGeom>
          <a:noFill/>
          <a:ln/>
        </p:spPr>
        <p:txBody>
          <a:bodyPr wrap="square" lIns="0" tIns="0" rIns="0" bIns="0" rtlCol="0" anchor="t"/>
          <a:lstStyle/>
          <a:p>
            <a:pPr algn="ctr" indent="0" marL="0">
              <a:buNone/>
            </a:pPr>
            <a:r>
              <a:rPr lang="en-US" sz="1500" b="1" dirty="0">
                <a:solidFill>
                  <a:schemeClr val="bg1"/>
                </a:solidFill>
              </a:rPr>
              <a:t>Transit Gateway (network account)</a:t>
            </a:r>
            <a:endParaRPr lang="en-US" sz="1500" dirty="0"/>
          </a:p>
        </p:txBody>
      </p:sp>
      <p:sp>
        <p:nvSpPr>
          <p:cNvPr id="7" name="box-920"/>
          <p:cNvSpPr/>
          <p:nvPr/>
        </p:nvSpPr>
        <p:spPr>
          <a:xfrm>
            <a:off x="3337560" y="3246120"/>
            <a:ext cx="2697480" cy="1005840"/>
          </a:xfrm>
          <a:prstGeom prst="roundRect">
            <a:avLst>
              <a:gd name="adj" fmla="val 7273"/>
            </a:avLst>
          </a:prstGeom>
          <a:solidFill>
            <a:schemeClr val="accent1"/>
          </a:solidFill>
          <a:ln w="9525">
            <a:solidFill>
              <a:schemeClr val="accent1"/>
            </a:solidFill>
            <a:prstDash val="solid"/>
          </a:ln>
        </p:spPr>
      </p:sp>
      <p:sp>
        <p:nvSpPr>
          <p:cNvPr id="8" name="box-t-921"/>
          <p:cNvSpPr txBox="1"/>
          <p:nvPr/>
        </p:nvSpPr>
        <p:spPr>
          <a:xfrm>
            <a:off x="3383280" y="3246120"/>
            <a:ext cx="2606040" cy="1005840"/>
          </a:xfrm>
          <a:prstGeom prst="rect">
            <a:avLst/>
          </a:prstGeom>
          <a:noFill/>
          <a:ln/>
        </p:spPr>
        <p:txBody>
          <a:bodyPr wrap="square" lIns="508" tIns="508" rIns="508" bIns="508" rtlCol="0" anchor="ctr"/>
          <a:lstStyle/>
          <a:p>
            <a:pPr algn="ctr" indent="0" marL="0">
              <a:buNone/>
            </a:pPr>
            <a:r>
              <a:rPr lang="en-US" sz="1400" b="1" dirty="0">
                <a:solidFill>
                  <a:schemeClr val="bg1"/>
                </a:solidFill>
              </a:rPr>
              <a:t>rt-spokes</a:t>
            </a:r>
            <a:endParaRPr lang="en-US" sz="1400" dirty="0"/>
          </a:p>
          <a:p>
            <a:pPr algn="ctr" indent="0" marL="0">
              <a:buNone/>
            </a:pPr>
            <a:r>
              <a:rPr lang="en-US" sz="1100" dirty="0">
                <a:solidFill>
                  <a:schemeClr val="bg1"/>
                </a:solidFill>
              </a:rPr>
              <a:t>dev, prod use this. Knows only shared.</a:t>
            </a:r>
            <a:endParaRPr lang="en-US" sz="1400" dirty="0"/>
          </a:p>
        </p:txBody>
      </p:sp>
      <p:sp>
        <p:nvSpPr>
          <p:cNvPr id="9" name="box-922"/>
          <p:cNvSpPr/>
          <p:nvPr/>
        </p:nvSpPr>
        <p:spPr>
          <a:xfrm>
            <a:off x="6172200" y="3246120"/>
            <a:ext cx="2697480" cy="1005840"/>
          </a:xfrm>
          <a:prstGeom prst="roundRect">
            <a:avLst>
              <a:gd name="adj" fmla="val 7273"/>
            </a:avLst>
          </a:prstGeom>
          <a:solidFill>
            <a:schemeClr val="accent1"/>
          </a:solidFill>
          <a:ln w="9525">
            <a:solidFill>
              <a:schemeClr val="accent1"/>
            </a:solidFill>
            <a:prstDash val="solid"/>
          </a:ln>
        </p:spPr>
      </p:sp>
      <p:sp>
        <p:nvSpPr>
          <p:cNvPr id="10" name="box-t-923"/>
          <p:cNvSpPr txBox="1"/>
          <p:nvPr/>
        </p:nvSpPr>
        <p:spPr>
          <a:xfrm>
            <a:off x="6217920" y="3246120"/>
            <a:ext cx="2606040" cy="1005840"/>
          </a:xfrm>
          <a:prstGeom prst="rect">
            <a:avLst/>
          </a:prstGeom>
          <a:noFill/>
          <a:ln/>
        </p:spPr>
        <p:txBody>
          <a:bodyPr wrap="square" lIns="508" tIns="508" rIns="508" bIns="508" rtlCol="0" anchor="ctr"/>
          <a:lstStyle/>
          <a:p>
            <a:pPr algn="ctr" indent="0" marL="0">
              <a:buNone/>
            </a:pPr>
            <a:r>
              <a:rPr lang="en-US" sz="1400" b="1" dirty="0">
                <a:solidFill>
                  <a:schemeClr val="bg1"/>
                </a:solidFill>
              </a:rPr>
              <a:t>rt-shared</a:t>
            </a:r>
            <a:endParaRPr lang="en-US" sz="1400" dirty="0"/>
          </a:p>
          <a:p>
            <a:pPr algn="ctr" indent="0" marL="0">
              <a:buNone/>
            </a:pPr>
            <a:r>
              <a:rPr lang="en-US" sz="1100" dirty="0">
                <a:solidFill>
                  <a:schemeClr val="bg1"/>
                </a:solidFill>
              </a:rPr>
              <a:t>shared uses this. Knows every spoke.</a:t>
            </a:r>
            <a:endParaRPr lang="en-US" sz="1400" dirty="0"/>
          </a:p>
        </p:txBody>
      </p:sp>
      <p:sp>
        <p:nvSpPr>
          <p:cNvPr id="11" name="box-924"/>
          <p:cNvSpPr/>
          <p:nvPr/>
        </p:nvSpPr>
        <p:spPr>
          <a:xfrm>
            <a:off x="731520" y="4983480"/>
            <a:ext cx="3108960" cy="914400"/>
          </a:xfrm>
          <a:prstGeom prst="roundRect">
            <a:avLst>
              <a:gd name="adj" fmla="val 8000"/>
            </a:avLst>
          </a:prstGeom>
          <a:solidFill>
            <a:schemeClr val="accent1"/>
          </a:solidFill>
          <a:ln w="9525">
            <a:solidFill>
              <a:schemeClr val="accent1"/>
            </a:solidFill>
            <a:prstDash val="solid"/>
          </a:ln>
        </p:spPr>
      </p:sp>
      <p:sp>
        <p:nvSpPr>
          <p:cNvPr id="12" name="box-t-925"/>
          <p:cNvSpPr txBox="1"/>
          <p:nvPr/>
        </p:nvSpPr>
        <p:spPr>
          <a:xfrm>
            <a:off x="777240" y="4983480"/>
            <a:ext cx="3017520" cy="914400"/>
          </a:xfrm>
          <a:prstGeom prst="rect">
            <a:avLst/>
          </a:prstGeom>
          <a:noFill/>
          <a:ln/>
        </p:spPr>
        <p:txBody>
          <a:bodyPr wrap="square" lIns="508" tIns="508" rIns="508" bIns="508" rtlCol="0" anchor="ctr"/>
          <a:lstStyle/>
          <a:p>
            <a:pPr algn="ctr" indent="0" marL="0">
              <a:buNone/>
            </a:pPr>
            <a:r>
              <a:rPr lang="en-US" sz="1600" b="1" dirty="0">
                <a:solidFill>
                  <a:schemeClr val="bg1"/>
                </a:solidFill>
              </a:rPr>
              <a:t>dev VPC</a:t>
            </a:r>
            <a:endParaRPr lang="en-US" sz="1600" dirty="0"/>
          </a:p>
          <a:p>
            <a:pPr algn="ctr" indent="0" marL="0">
              <a:buNone/>
            </a:pPr>
            <a:r>
              <a:rPr lang="en-US" sz="1200" dirty="0">
                <a:solidFill>
                  <a:schemeClr val="bg1"/>
                </a:solidFill>
              </a:rPr>
              <a:t>10.10.0.0/16  |  dev account</a:t>
            </a:r>
            <a:endParaRPr lang="en-US" sz="1600" dirty="0"/>
          </a:p>
        </p:txBody>
      </p:sp>
      <p:sp>
        <p:nvSpPr>
          <p:cNvPr id="13" name="box-926"/>
          <p:cNvSpPr/>
          <p:nvPr/>
        </p:nvSpPr>
        <p:spPr>
          <a:xfrm>
            <a:off x="8321040" y="4983480"/>
            <a:ext cx="3108960" cy="914400"/>
          </a:xfrm>
          <a:prstGeom prst="roundRect">
            <a:avLst>
              <a:gd name="adj" fmla="val 8000"/>
            </a:avLst>
          </a:prstGeom>
          <a:solidFill>
            <a:schemeClr val="accent1"/>
          </a:solidFill>
          <a:ln w="9525">
            <a:solidFill>
              <a:schemeClr val="accent1"/>
            </a:solidFill>
            <a:prstDash val="solid"/>
          </a:ln>
        </p:spPr>
      </p:sp>
      <p:sp>
        <p:nvSpPr>
          <p:cNvPr id="14" name="box-t-927"/>
          <p:cNvSpPr txBox="1"/>
          <p:nvPr/>
        </p:nvSpPr>
        <p:spPr>
          <a:xfrm>
            <a:off x="8366760" y="4983480"/>
            <a:ext cx="3017520" cy="914400"/>
          </a:xfrm>
          <a:prstGeom prst="rect">
            <a:avLst/>
          </a:prstGeom>
          <a:noFill/>
          <a:ln/>
        </p:spPr>
        <p:txBody>
          <a:bodyPr wrap="square" lIns="508" tIns="508" rIns="508" bIns="508" rtlCol="0" anchor="ctr"/>
          <a:lstStyle/>
          <a:p>
            <a:pPr algn="ctr" indent="0" marL="0">
              <a:buNone/>
            </a:pPr>
            <a:r>
              <a:rPr lang="en-US" sz="1600" b="1" dirty="0">
                <a:solidFill>
                  <a:schemeClr val="bg1"/>
                </a:solidFill>
              </a:rPr>
              <a:t>prod VPC</a:t>
            </a:r>
            <a:endParaRPr lang="en-US" sz="1600" dirty="0"/>
          </a:p>
          <a:p>
            <a:pPr algn="ctr" indent="0" marL="0">
              <a:buNone/>
            </a:pPr>
            <a:r>
              <a:rPr lang="en-US" sz="1200" dirty="0">
                <a:solidFill>
                  <a:schemeClr val="bg1"/>
                </a:solidFill>
              </a:rPr>
              <a:t>10.20.0.0/16  |  prod account</a:t>
            </a:r>
            <a:endParaRPr lang="en-US" sz="1600" dirty="0"/>
          </a:p>
        </p:txBody>
      </p:sp>
      <p:sp>
        <p:nvSpPr>
          <p:cNvPr id="15" name="arrow-928"/>
          <p:cNvSpPr/>
          <p:nvPr/>
        </p:nvSpPr>
        <p:spPr>
          <a:xfrm>
            <a:off x="6080760" y="2167128"/>
            <a:ext cx="0" cy="512064"/>
          </a:xfrm>
          <a:prstGeom prst="line">
            <a:avLst/>
          </a:prstGeom>
          <a:noFill/>
          <a:ln w="31750">
            <a:solidFill>
              <a:schemeClr val="accent3"/>
            </a:solidFill>
            <a:prstDash val="solid"/>
            <a:headEnd type="triangle"/>
            <a:tailEnd type="triangle"/>
          </a:ln>
        </p:spPr>
      </p:sp>
      <p:sp>
        <p:nvSpPr>
          <p:cNvPr id="16" name="arrow-929"/>
          <p:cNvSpPr/>
          <p:nvPr/>
        </p:nvSpPr>
        <p:spPr>
          <a:xfrm flipV="1">
            <a:off x="2286000" y="4453128"/>
            <a:ext cx="1554480" cy="512064"/>
          </a:xfrm>
          <a:prstGeom prst="line">
            <a:avLst/>
          </a:prstGeom>
          <a:noFill/>
          <a:ln w="31750">
            <a:solidFill>
              <a:schemeClr val="accent3"/>
            </a:solidFill>
            <a:prstDash val="solid"/>
            <a:headEnd type="triangle"/>
            <a:tailEnd type="triangle"/>
          </a:ln>
        </p:spPr>
      </p:sp>
      <p:sp>
        <p:nvSpPr>
          <p:cNvPr id="17" name="arrow-930"/>
          <p:cNvSpPr/>
          <p:nvPr/>
        </p:nvSpPr>
        <p:spPr>
          <a:xfrm flipH="1" flipV="1">
            <a:off x="8321040" y="4453128"/>
            <a:ext cx="1554480" cy="512064"/>
          </a:xfrm>
          <a:prstGeom prst="line">
            <a:avLst/>
          </a:prstGeom>
          <a:noFill/>
          <a:ln w="31750">
            <a:solidFill>
              <a:schemeClr val="accent3"/>
            </a:solidFill>
            <a:prstDash val="solid"/>
            <a:headEnd type="triangle"/>
            <a:tailEnd type="triangle"/>
          </a:ln>
        </p:spPr>
      </p:sp>
      <p:sp>
        <p:nvSpPr>
          <p:cNvPr id="18" name="arrow-931"/>
          <p:cNvSpPr/>
          <p:nvPr/>
        </p:nvSpPr>
        <p:spPr>
          <a:xfrm>
            <a:off x="3886200" y="5440680"/>
            <a:ext cx="4389120" cy="0"/>
          </a:xfrm>
          <a:prstGeom prst="line">
            <a:avLst/>
          </a:prstGeom>
          <a:noFill/>
          <a:ln w="31750">
            <a:solidFill>
              <a:schemeClr val="accent4"/>
            </a:solidFill>
            <a:prstDash val="dash"/>
          </a:ln>
        </p:spPr>
      </p:sp>
      <p:sp>
        <p:nvSpPr>
          <p:cNvPr id="19" name="box-932"/>
          <p:cNvSpPr/>
          <p:nvPr/>
        </p:nvSpPr>
        <p:spPr>
          <a:xfrm>
            <a:off x="5486400" y="5212080"/>
            <a:ext cx="1188720" cy="457200"/>
          </a:xfrm>
          <a:prstGeom prst="roundRect">
            <a:avLst>
              <a:gd name="adj" fmla="val 16000"/>
            </a:avLst>
          </a:prstGeom>
          <a:solidFill>
            <a:schemeClr val="accent4"/>
          </a:solidFill>
          <a:ln w="9525">
            <a:solidFill>
              <a:schemeClr val="accent4"/>
            </a:solidFill>
            <a:prstDash val="solid"/>
          </a:ln>
        </p:spPr>
      </p:sp>
      <p:sp>
        <p:nvSpPr>
          <p:cNvPr id="20" name="box-t-933"/>
          <p:cNvSpPr txBox="1"/>
          <p:nvPr/>
        </p:nvSpPr>
        <p:spPr>
          <a:xfrm>
            <a:off x="5532120" y="5212080"/>
            <a:ext cx="1097280" cy="457200"/>
          </a:xfrm>
          <a:prstGeom prst="rect">
            <a:avLst/>
          </a:prstGeom>
          <a:noFill/>
          <a:ln/>
        </p:spPr>
        <p:txBody>
          <a:bodyPr wrap="square" lIns="508" tIns="508" rIns="508" bIns="508" rtlCol="0" anchor="ctr"/>
          <a:lstStyle/>
          <a:p>
            <a:pPr algn="ctr" indent="0" marL="0">
              <a:buNone/>
            </a:pPr>
            <a:r>
              <a:rPr lang="en-US" sz="1300" b="1" dirty="0">
                <a:solidFill>
                  <a:schemeClr val="bg1"/>
                </a:solidFill>
              </a:rPr>
              <a:t>no route</a:t>
            </a:r>
            <a:endParaRPr lang="en-US" sz="1300" dirty="0"/>
          </a:p>
        </p:txBody>
      </p:sp>
      <p:sp>
        <p:nvSpPr>
          <p:cNvPr id="21" name="marker-934"/>
          <p:cNvSpPr/>
          <p:nvPr/>
        </p:nvSpPr>
        <p:spPr>
          <a:xfrm>
            <a:off x="502920" y="1234440"/>
            <a:ext cx="329184" cy="329184"/>
          </a:xfrm>
          <a:prstGeom prst="ellipse">
            <a:avLst/>
          </a:prstGeom>
          <a:solidFill>
            <a:schemeClr val="accent2"/>
          </a:solidFill>
          <a:ln w="12700">
            <a:solidFill>
              <a:schemeClr val="accent2"/>
            </a:solidFill>
            <a:prstDash val="solid"/>
          </a:ln>
        </p:spPr>
      </p:sp>
      <p:sp>
        <p:nvSpPr>
          <p:cNvPr id="22" name="marker-n-935"/>
          <p:cNvSpPr txBox="1"/>
          <p:nvPr/>
        </p:nvSpPr>
        <p:spPr>
          <a:xfrm>
            <a:off x="502920" y="123444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23" name="callout-936"/>
          <p:cNvSpPr txBox="1"/>
          <p:nvPr/>
        </p:nvSpPr>
        <p:spPr>
          <a:xfrm>
            <a:off x="960120" y="1216152"/>
            <a:ext cx="283464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Isolation lives in the hub</a:t>
            </a:r>
            <a:endParaRPr lang="en-US" sz="1500" dirty="0"/>
          </a:p>
          <a:p>
            <a:pPr indent="0" marL="0">
              <a:spcAft>
                <a:spcPts val="200"/>
              </a:spcAft>
              <a:buNone/>
            </a:pPr>
            <a:r>
              <a:rPr lang="en-US" sz="1400" dirty="0">
                <a:solidFill>
                  <a:schemeClr val="tx1"/>
                </a:solidFill>
              </a:rPr>
              <a:t>Dev adding a route to prod changes nothing.</a:t>
            </a:r>
            <a:endParaRPr lang="en-US" sz="1500" dirty="0"/>
          </a:p>
        </p:txBody>
      </p:sp>
      <p:sp>
        <p:nvSpPr>
          <p:cNvPr id="24" name="marker-937"/>
          <p:cNvSpPr/>
          <p:nvPr/>
        </p:nvSpPr>
        <p:spPr>
          <a:xfrm>
            <a:off x="8503920" y="1234440"/>
            <a:ext cx="329184" cy="329184"/>
          </a:xfrm>
          <a:prstGeom prst="ellipse">
            <a:avLst/>
          </a:prstGeom>
          <a:solidFill>
            <a:schemeClr val="accent2"/>
          </a:solidFill>
          <a:ln w="12700">
            <a:solidFill>
              <a:schemeClr val="accent2"/>
            </a:solidFill>
            <a:prstDash val="solid"/>
          </a:ln>
        </p:spPr>
      </p:sp>
      <p:sp>
        <p:nvSpPr>
          <p:cNvPr id="25" name="marker-n-938"/>
          <p:cNvSpPr txBox="1"/>
          <p:nvPr/>
        </p:nvSpPr>
        <p:spPr>
          <a:xfrm>
            <a:off x="8503920" y="123444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6" name="callout-939"/>
          <p:cNvSpPr txBox="1"/>
          <p:nvPr/>
        </p:nvSpPr>
        <p:spPr>
          <a:xfrm>
            <a:off x="8961120" y="1216152"/>
            <a:ext cx="27432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No internet gateways</a:t>
            </a:r>
            <a:endParaRPr lang="en-US" sz="1500" dirty="0"/>
          </a:p>
          <a:p>
            <a:pPr indent="0" marL="0">
              <a:spcAft>
                <a:spcPts val="200"/>
              </a:spcAft>
              <a:buNone/>
            </a:pPr>
            <a:r>
              <a:rPr lang="en-US" sz="1400" dirty="0">
                <a:solidFill>
                  <a:schemeClr val="tx1"/>
                </a:solidFill>
              </a:rPr>
              <a:t>An SCP blocks them, so the hub is the only path.</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The Transit Gateway and its route tables</a:t>
            </a:r>
            <a:endParaRPr lang="en-US" sz="3400" dirty="0"/>
          </a:p>
        </p:txBody>
      </p:sp>
      <p:sp>
        <p:nvSpPr>
          <p:cNvPr id="3" name="code-label-940"/>
          <p:cNvSpPr txBox="1"/>
          <p:nvPr/>
        </p:nvSpPr>
        <p:spPr>
          <a:xfrm>
            <a:off x="868680" y="1280160"/>
            <a:ext cx="6583680" cy="274320"/>
          </a:xfrm>
          <a:prstGeom prst="rect">
            <a:avLst/>
          </a:prstGeom>
          <a:noFill/>
          <a:ln/>
        </p:spPr>
        <p:txBody>
          <a:bodyPr wrap="square" lIns="0" tIns="0" rIns="0" bIns="0" rtlCol="0" anchor="ctr"/>
          <a:lstStyle/>
          <a:p>
            <a:pPr indent="0" marL="0">
              <a:buNone/>
            </a:pPr>
            <a:r>
              <a:rPr lang="en-US" sz="1100" b="1" dirty="0">
                <a:solidFill>
                  <a:schemeClr val="tx2"/>
                </a:solidFill>
              </a:rPr>
              <a:t>layers/05-network/main.tf</a:t>
            </a:r>
            <a:endParaRPr lang="en-US" sz="1100" dirty="0"/>
          </a:p>
        </p:txBody>
      </p:sp>
      <p:sp>
        <p:nvSpPr>
          <p:cNvPr id="4" name="code-bg-941"/>
          <p:cNvSpPr/>
          <p:nvPr/>
        </p:nvSpPr>
        <p:spPr>
          <a:xfrm>
            <a:off x="868680" y="1572768"/>
            <a:ext cx="6583680" cy="3186684"/>
          </a:xfrm>
          <a:prstGeom prst="roundRect">
            <a:avLst>
              <a:gd name="adj" fmla="val 2296"/>
            </a:avLst>
          </a:prstGeom>
          <a:solidFill>
            <a:schemeClr val="tx1"/>
          </a:solidFill>
          <a:ln w="12700">
            <a:solidFill>
              <a:schemeClr val="tx1"/>
            </a:solidFill>
            <a:prstDash val="solid"/>
          </a:ln>
        </p:spPr>
      </p:sp>
      <p:sp>
        <p:nvSpPr>
          <p:cNvPr id="5" name="code-942"/>
          <p:cNvSpPr txBox="1"/>
          <p:nvPr/>
        </p:nvSpPr>
        <p:spPr>
          <a:xfrm>
            <a:off x="1051560" y="1737360"/>
            <a:ext cx="6263640" cy="2875788"/>
          </a:xfrm>
          <a:prstGeom prst="rect">
            <a:avLst/>
          </a:prstGeom>
          <a:noFill/>
          <a:ln/>
        </p:spPr>
        <p:txBody>
          <a:bodyPr wrap="square" lIns="0" tIns="0" rIns="0" bIns="0" rtlCol="0" anchor="t"/>
          <a:lstStyle/>
          <a:p>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resource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"aws_ec2_transit_gateway"</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"hub"</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provider</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aws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network</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amazon_side_asn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64512</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default_route_table_association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"disable"</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default_route_table_propagation</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"disable"</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auto_accept_shared_attachments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"enable"</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resource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"aws_ec2_transit_gateway_route_table"</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accent6"/>
                </a:solidFill>
                <a:latin typeface="Courier New" pitchFamily="34" charset="0"/>
                <a:ea typeface="Courier New" pitchFamily="34" charset="-122"/>
                <a:cs typeface="Courier New" pitchFamily="34" charset="-120"/>
              </a:rPr>
              <a:t>"spokes"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provider</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aws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network</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transit_gateway_id</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aws_ec2_transit_gateway</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hub</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id</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i="1" dirty="0">
                <a:solidFill>
                  <a:schemeClr val="tx2"/>
                </a:solidFill>
                <a:latin typeface="Courier New" pitchFamily="34" charset="0"/>
                <a:ea typeface="Courier New" pitchFamily="34" charset="-122"/>
                <a:cs typeface="Courier New" pitchFamily="34" charset="-120"/>
              </a:rPr>
              <a:t># rt-shared is the same block with a different name</a:t>
            </a:r>
            <a:endParaRPr lang="en-US" sz="1200" dirty="0"/>
          </a:p>
        </p:txBody>
      </p:sp>
      <p:sp>
        <p:nvSpPr>
          <p:cNvPr id="6" name="marker-943"/>
          <p:cNvSpPr/>
          <p:nvPr/>
        </p:nvSpPr>
        <p:spPr>
          <a:xfrm>
            <a:off x="484632" y="2067306"/>
            <a:ext cx="292608" cy="292608"/>
          </a:xfrm>
          <a:prstGeom prst="ellipse">
            <a:avLst/>
          </a:prstGeom>
          <a:solidFill>
            <a:schemeClr val="accent2"/>
          </a:solidFill>
          <a:ln w="12700">
            <a:solidFill>
              <a:schemeClr val="accent2"/>
            </a:solidFill>
            <a:prstDash val="solid"/>
          </a:ln>
        </p:spPr>
      </p:sp>
      <p:sp>
        <p:nvSpPr>
          <p:cNvPr id="7" name="marker-n-944"/>
          <p:cNvSpPr txBox="1"/>
          <p:nvPr/>
        </p:nvSpPr>
        <p:spPr>
          <a:xfrm>
            <a:off x="484632" y="20673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945"/>
          <p:cNvSpPr/>
          <p:nvPr/>
        </p:nvSpPr>
        <p:spPr>
          <a:xfrm>
            <a:off x="484632" y="2448306"/>
            <a:ext cx="292608" cy="292608"/>
          </a:xfrm>
          <a:prstGeom prst="ellipse">
            <a:avLst/>
          </a:prstGeom>
          <a:solidFill>
            <a:schemeClr val="accent2"/>
          </a:solidFill>
          <a:ln w="12700">
            <a:solidFill>
              <a:schemeClr val="accent2"/>
            </a:solidFill>
            <a:prstDash val="solid"/>
          </a:ln>
        </p:spPr>
      </p:sp>
      <p:sp>
        <p:nvSpPr>
          <p:cNvPr id="9" name="marker-n-946"/>
          <p:cNvSpPr txBox="1"/>
          <p:nvPr/>
        </p:nvSpPr>
        <p:spPr>
          <a:xfrm>
            <a:off x="484632" y="24483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947"/>
          <p:cNvSpPr/>
          <p:nvPr/>
        </p:nvSpPr>
        <p:spPr>
          <a:xfrm>
            <a:off x="484632" y="3019806"/>
            <a:ext cx="292608" cy="292608"/>
          </a:xfrm>
          <a:prstGeom prst="ellipse">
            <a:avLst/>
          </a:prstGeom>
          <a:solidFill>
            <a:schemeClr val="accent2"/>
          </a:solidFill>
          <a:ln w="12700">
            <a:solidFill>
              <a:schemeClr val="accent2"/>
            </a:solidFill>
            <a:prstDash val="solid"/>
          </a:ln>
        </p:spPr>
      </p:sp>
      <p:sp>
        <p:nvSpPr>
          <p:cNvPr id="11" name="marker-n-948"/>
          <p:cNvSpPr txBox="1"/>
          <p:nvPr/>
        </p:nvSpPr>
        <p:spPr>
          <a:xfrm>
            <a:off x="484632" y="3019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949"/>
          <p:cNvSpPr/>
          <p:nvPr/>
        </p:nvSpPr>
        <p:spPr>
          <a:xfrm>
            <a:off x="7818120" y="1325880"/>
            <a:ext cx="329184" cy="329184"/>
          </a:xfrm>
          <a:prstGeom prst="ellipse">
            <a:avLst/>
          </a:prstGeom>
          <a:solidFill>
            <a:schemeClr val="accent2"/>
          </a:solidFill>
          <a:ln w="12700">
            <a:solidFill>
              <a:schemeClr val="accent2"/>
            </a:solidFill>
            <a:prstDash val="solid"/>
          </a:ln>
        </p:spPr>
      </p:sp>
      <p:sp>
        <p:nvSpPr>
          <p:cNvPr id="13" name="marker-n-950"/>
          <p:cNvSpPr txBox="1"/>
          <p:nvPr/>
        </p:nvSpPr>
        <p:spPr>
          <a:xfrm>
            <a:off x="781812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4" name="callout-951"/>
          <p:cNvSpPr txBox="1"/>
          <p:nvPr/>
        </p:nvSpPr>
        <p:spPr>
          <a:xfrm>
            <a:off x="8275320" y="130759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BGP number</a:t>
            </a:r>
            <a:endParaRPr lang="en-US" sz="1500" dirty="0"/>
          </a:p>
          <a:p>
            <a:pPr indent="0" marL="0">
              <a:spcAft>
                <a:spcPts val="200"/>
              </a:spcAft>
              <a:buNone/>
            </a:pPr>
            <a:r>
              <a:rPr lang="en-US" sz="1400" dirty="0">
                <a:solidFill>
                  <a:schemeClr val="tx1"/>
                </a:solidFill>
              </a:rPr>
              <a:t>A private ASN, used if you later add VPN or Direct Connect.</a:t>
            </a:r>
            <a:endParaRPr lang="en-US" sz="1500" dirty="0"/>
          </a:p>
        </p:txBody>
      </p:sp>
      <p:sp>
        <p:nvSpPr>
          <p:cNvPr id="15" name="marker-952"/>
          <p:cNvSpPr/>
          <p:nvPr/>
        </p:nvSpPr>
        <p:spPr>
          <a:xfrm>
            <a:off x="7818120" y="2255520"/>
            <a:ext cx="329184" cy="329184"/>
          </a:xfrm>
          <a:prstGeom prst="ellipse">
            <a:avLst/>
          </a:prstGeom>
          <a:solidFill>
            <a:schemeClr val="accent2"/>
          </a:solidFill>
          <a:ln w="12700">
            <a:solidFill>
              <a:schemeClr val="accent2"/>
            </a:solidFill>
            <a:prstDash val="solid"/>
          </a:ln>
        </p:spPr>
      </p:sp>
      <p:sp>
        <p:nvSpPr>
          <p:cNvPr id="16" name="marker-n-953"/>
          <p:cNvSpPr txBox="1"/>
          <p:nvPr/>
        </p:nvSpPr>
        <p:spPr>
          <a:xfrm>
            <a:off x="7818120" y="2255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7" name="callout-954"/>
          <p:cNvSpPr txBox="1"/>
          <p:nvPr/>
        </p:nvSpPr>
        <p:spPr>
          <a:xfrm>
            <a:off x="8275320" y="2237232"/>
            <a:ext cx="342900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No default route table</a:t>
            </a:r>
            <a:endParaRPr lang="en-US" sz="1500" dirty="0"/>
          </a:p>
          <a:p>
            <a:pPr indent="0" marL="0">
              <a:spcAft>
                <a:spcPts val="200"/>
              </a:spcAft>
              <a:buNone/>
            </a:pPr>
            <a:r>
              <a:rPr lang="en-US" sz="1400" dirty="0">
                <a:solidFill>
                  <a:schemeClr val="tx1"/>
                </a:solidFill>
              </a:rPr>
              <a:t>With the default on, every VPC could reach every other. We assign tables by hand.</a:t>
            </a:r>
            <a:endParaRPr lang="en-US" sz="1500" dirty="0"/>
          </a:p>
        </p:txBody>
      </p:sp>
      <p:sp>
        <p:nvSpPr>
          <p:cNvPr id="18" name="marker-955"/>
          <p:cNvSpPr/>
          <p:nvPr/>
        </p:nvSpPr>
        <p:spPr>
          <a:xfrm>
            <a:off x="7818120" y="3398520"/>
            <a:ext cx="329184" cy="329184"/>
          </a:xfrm>
          <a:prstGeom prst="ellipse">
            <a:avLst/>
          </a:prstGeom>
          <a:solidFill>
            <a:schemeClr val="accent2"/>
          </a:solidFill>
          <a:ln w="12700">
            <a:solidFill>
              <a:schemeClr val="accent2"/>
            </a:solidFill>
            <a:prstDash val="solid"/>
          </a:ln>
        </p:spPr>
      </p:sp>
      <p:sp>
        <p:nvSpPr>
          <p:cNvPr id="19" name="marker-n-956"/>
          <p:cNvSpPr txBox="1"/>
          <p:nvPr/>
        </p:nvSpPr>
        <p:spPr>
          <a:xfrm>
            <a:off x="7818120" y="3398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0" name="callout-957"/>
          <p:cNvSpPr txBox="1"/>
          <p:nvPr/>
        </p:nvSpPr>
        <p:spPr>
          <a:xfrm>
            <a:off x="8275320" y="3380232"/>
            <a:ext cx="342900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Auto-accept, safely</a:t>
            </a:r>
            <a:endParaRPr lang="en-US" sz="1500" dirty="0"/>
          </a:p>
          <a:p>
            <a:pPr indent="0" marL="0">
              <a:spcAft>
                <a:spcPts val="200"/>
              </a:spcAft>
              <a:buNone/>
            </a:pPr>
            <a:r>
              <a:rPr lang="en-US" sz="1400" dirty="0">
                <a:solidFill>
                  <a:schemeClr val="tx1"/>
                </a:solidFill>
              </a:rPr>
              <a:t>Attachments are accepted but join no route table, so they cannot send traffic yet.</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Sharing the hub with other accounts</a:t>
            </a:r>
            <a:endParaRPr lang="en-US" sz="3400" dirty="0"/>
          </a:p>
        </p:txBody>
      </p:sp>
      <p:sp>
        <p:nvSpPr>
          <p:cNvPr id="3" name="code-label-958"/>
          <p:cNvSpPr txBox="1"/>
          <p:nvPr/>
        </p:nvSpPr>
        <p:spPr>
          <a:xfrm>
            <a:off x="868680" y="1280160"/>
            <a:ext cx="6583680" cy="274320"/>
          </a:xfrm>
          <a:prstGeom prst="rect">
            <a:avLst/>
          </a:prstGeom>
          <a:noFill/>
          <a:ln/>
        </p:spPr>
        <p:txBody>
          <a:bodyPr wrap="square" lIns="0" tIns="0" rIns="0" bIns="0" rtlCol="0" anchor="ctr"/>
          <a:lstStyle/>
          <a:p>
            <a:pPr indent="0" marL="0">
              <a:buNone/>
            </a:pPr>
            <a:r>
              <a:rPr lang="en-US" sz="1100" b="1" dirty="0">
                <a:solidFill>
                  <a:schemeClr val="tx2"/>
                </a:solidFill>
              </a:rPr>
              <a:t>layers/05-network/main.tf</a:t>
            </a:r>
            <a:endParaRPr lang="en-US" sz="1100" dirty="0"/>
          </a:p>
        </p:txBody>
      </p:sp>
      <p:sp>
        <p:nvSpPr>
          <p:cNvPr id="4" name="code-bg-959"/>
          <p:cNvSpPr/>
          <p:nvPr/>
        </p:nvSpPr>
        <p:spPr>
          <a:xfrm>
            <a:off x="868680" y="1572768"/>
            <a:ext cx="6583680" cy="3351784"/>
          </a:xfrm>
          <a:prstGeom prst="roundRect">
            <a:avLst>
              <a:gd name="adj" fmla="val 2182"/>
            </a:avLst>
          </a:prstGeom>
          <a:solidFill>
            <a:schemeClr val="tx1"/>
          </a:solidFill>
          <a:ln w="12700">
            <a:solidFill>
              <a:schemeClr val="tx1"/>
            </a:solidFill>
            <a:prstDash val="solid"/>
          </a:ln>
        </p:spPr>
      </p:sp>
      <p:sp>
        <p:nvSpPr>
          <p:cNvPr id="5" name="code-960"/>
          <p:cNvSpPr txBox="1"/>
          <p:nvPr/>
        </p:nvSpPr>
        <p:spPr>
          <a:xfrm>
            <a:off x="1051560" y="1737360"/>
            <a:ext cx="6263640" cy="3040888"/>
          </a:xfrm>
          <a:prstGeom prst="rect">
            <a:avLst/>
          </a:prstGeom>
          <a:noFill/>
          <a:ln/>
        </p:spPr>
        <p:txBody>
          <a:bodyPr wrap="square" lIns="0" tIns="0" rIns="0" bIns="0" rtlCol="0" anchor="t"/>
          <a:lstStyle/>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"aws_ram_resource_share"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"tgw"</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provider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network</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name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"lz-tgw-hub"</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allow_external_principals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false</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"aws_ram_resource_association"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"tgw"</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provider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network</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resource_arn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aws_ec2_transit_gateway</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hub</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arn</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resource_share_arn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aws_ram_resource_share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tgw</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arn</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"aws_ram_principal_association"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"org"</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provider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network</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principal</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data</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terraform_remote_state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org</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outputs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organization_arn</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resource_share_arn</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aws_ram_resource_share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tgw</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arn</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6" name="marker-961"/>
          <p:cNvSpPr/>
          <p:nvPr/>
        </p:nvSpPr>
        <p:spPr>
          <a:xfrm>
            <a:off x="484632" y="1679956"/>
            <a:ext cx="292608" cy="292608"/>
          </a:xfrm>
          <a:prstGeom prst="ellipse">
            <a:avLst/>
          </a:prstGeom>
          <a:solidFill>
            <a:schemeClr val="accent2"/>
          </a:solidFill>
          <a:ln w="12700">
            <a:solidFill>
              <a:schemeClr val="accent2"/>
            </a:solidFill>
            <a:prstDash val="solid"/>
          </a:ln>
        </p:spPr>
      </p:sp>
      <p:sp>
        <p:nvSpPr>
          <p:cNvPr id="7" name="marker-n-962"/>
          <p:cNvSpPr txBox="1"/>
          <p:nvPr/>
        </p:nvSpPr>
        <p:spPr>
          <a:xfrm>
            <a:off x="484632" y="16799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963"/>
          <p:cNvSpPr/>
          <p:nvPr/>
        </p:nvSpPr>
        <p:spPr>
          <a:xfrm>
            <a:off x="484632" y="2213356"/>
            <a:ext cx="292608" cy="292608"/>
          </a:xfrm>
          <a:prstGeom prst="ellipse">
            <a:avLst/>
          </a:prstGeom>
          <a:solidFill>
            <a:schemeClr val="accent2"/>
          </a:solidFill>
          <a:ln w="12700">
            <a:solidFill>
              <a:schemeClr val="accent2"/>
            </a:solidFill>
            <a:prstDash val="solid"/>
          </a:ln>
        </p:spPr>
      </p:sp>
      <p:sp>
        <p:nvSpPr>
          <p:cNvPr id="9" name="marker-n-964"/>
          <p:cNvSpPr txBox="1"/>
          <p:nvPr/>
        </p:nvSpPr>
        <p:spPr>
          <a:xfrm>
            <a:off x="484632" y="22133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965"/>
          <p:cNvSpPr/>
          <p:nvPr/>
        </p:nvSpPr>
        <p:spPr>
          <a:xfrm>
            <a:off x="484632" y="3102356"/>
            <a:ext cx="292608" cy="292608"/>
          </a:xfrm>
          <a:prstGeom prst="ellipse">
            <a:avLst/>
          </a:prstGeom>
          <a:solidFill>
            <a:schemeClr val="accent2"/>
          </a:solidFill>
          <a:ln w="12700">
            <a:solidFill>
              <a:schemeClr val="accent2"/>
            </a:solidFill>
            <a:prstDash val="solid"/>
          </a:ln>
        </p:spPr>
      </p:sp>
      <p:sp>
        <p:nvSpPr>
          <p:cNvPr id="11" name="marker-n-966"/>
          <p:cNvSpPr txBox="1"/>
          <p:nvPr/>
        </p:nvSpPr>
        <p:spPr>
          <a:xfrm>
            <a:off x="484632" y="31023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967"/>
          <p:cNvSpPr/>
          <p:nvPr/>
        </p:nvSpPr>
        <p:spPr>
          <a:xfrm>
            <a:off x="484632" y="4169156"/>
            <a:ext cx="292608" cy="292608"/>
          </a:xfrm>
          <a:prstGeom prst="ellipse">
            <a:avLst/>
          </a:prstGeom>
          <a:solidFill>
            <a:schemeClr val="accent2"/>
          </a:solidFill>
          <a:ln w="12700">
            <a:solidFill>
              <a:schemeClr val="accent2"/>
            </a:solidFill>
            <a:prstDash val="solid"/>
          </a:ln>
        </p:spPr>
      </p:sp>
      <p:sp>
        <p:nvSpPr>
          <p:cNvPr id="13" name="marker-n-968"/>
          <p:cNvSpPr txBox="1"/>
          <p:nvPr/>
        </p:nvSpPr>
        <p:spPr>
          <a:xfrm>
            <a:off x="484632" y="41691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14" name="marker-969"/>
          <p:cNvSpPr/>
          <p:nvPr/>
        </p:nvSpPr>
        <p:spPr>
          <a:xfrm>
            <a:off x="7818120" y="1325880"/>
            <a:ext cx="329184" cy="329184"/>
          </a:xfrm>
          <a:prstGeom prst="ellipse">
            <a:avLst/>
          </a:prstGeom>
          <a:solidFill>
            <a:schemeClr val="accent2"/>
          </a:solidFill>
          <a:ln w="12700">
            <a:solidFill>
              <a:schemeClr val="accent2"/>
            </a:solidFill>
            <a:prstDash val="solid"/>
          </a:ln>
        </p:spPr>
      </p:sp>
      <p:sp>
        <p:nvSpPr>
          <p:cNvPr id="15" name="marker-n-970"/>
          <p:cNvSpPr txBox="1"/>
          <p:nvPr/>
        </p:nvSpPr>
        <p:spPr>
          <a:xfrm>
            <a:off x="781812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6" name="callout-971"/>
          <p:cNvSpPr txBox="1"/>
          <p:nvPr/>
        </p:nvSpPr>
        <p:spPr>
          <a:xfrm>
            <a:off x="8275320" y="130759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 share is a container</a:t>
            </a:r>
            <a:endParaRPr lang="en-US" sz="1500" dirty="0"/>
          </a:p>
          <a:p>
            <a:pPr indent="0" marL="0">
              <a:spcAft>
                <a:spcPts val="200"/>
              </a:spcAft>
              <a:buNone/>
            </a:pPr>
            <a:r>
              <a:rPr lang="en-US" sz="1400" dirty="0">
                <a:solidFill>
                  <a:schemeClr val="tx1"/>
                </a:solidFill>
              </a:rPr>
              <a:t>Resource Access Manager shares resources across accounts.</a:t>
            </a:r>
            <a:endParaRPr lang="en-US" sz="1500" dirty="0"/>
          </a:p>
        </p:txBody>
      </p:sp>
      <p:sp>
        <p:nvSpPr>
          <p:cNvPr id="17" name="marker-972"/>
          <p:cNvSpPr/>
          <p:nvPr/>
        </p:nvSpPr>
        <p:spPr>
          <a:xfrm>
            <a:off x="7818120" y="2255520"/>
            <a:ext cx="329184" cy="329184"/>
          </a:xfrm>
          <a:prstGeom prst="ellipse">
            <a:avLst/>
          </a:prstGeom>
          <a:solidFill>
            <a:schemeClr val="accent2"/>
          </a:solidFill>
          <a:ln w="12700">
            <a:solidFill>
              <a:schemeClr val="accent2"/>
            </a:solidFill>
            <a:prstDash val="solid"/>
          </a:ln>
        </p:spPr>
      </p:sp>
      <p:sp>
        <p:nvSpPr>
          <p:cNvPr id="18" name="marker-n-973"/>
          <p:cNvSpPr txBox="1"/>
          <p:nvPr/>
        </p:nvSpPr>
        <p:spPr>
          <a:xfrm>
            <a:off x="7818120" y="2255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9" name="callout-974"/>
          <p:cNvSpPr txBox="1"/>
          <p:nvPr/>
        </p:nvSpPr>
        <p:spPr>
          <a:xfrm>
            <a:off x="8275320" y="223723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Org members only</a:t>
            </a:r>
            <a:endParaRPr lang="en-US" sz="1500" dirty="0"/>
          </a:p>
          <a:p>
            <a:pPr indent="0" marL="0">
              <a:spcAft>
                <a:spcPts val="200"/>
              </a:spcAft>
              <a:buNone/>
            </a:pPr>
            <a:r>
              <a:rPr lang="en-US" sz="1400" dirty="0">
                <a:solidFill>
                  <a:schemeClr val="tx1"/>
                </a:solidFill>
              </a:rPr>
              <a:t>No account outside the organization can be added.</a:t>
            </a:r>
            <a:endParaRPr lang="en-US" sz="1500" dirty="0"/>
          </a:p>
        </p:txBody>
      </p:sp>
      <p:sp>
        <p:nvSpPr>
          <p:cNvPr id="20" name="marker-975"/>
          <p:cNvSpPr/>
          <p:nvPr/>
        </p:nvSpPr>
        <p:spPr>
          <a:xfrm>
            <a:off x="7818120" y="3185160"/>
            <a:ext cx="329184" cy="329184"/>
          </a:xfrm>
          <a:prstGeom prst="ellipse">
            <a:avLst/>
          </a:prstGeom>
          <a:solidFill>
            <a:schemeClr val="accent2"/>
          </a:solidFill>
          <a:ln w="12700">
            <a:solidFill>
              <a:schemeClr val="accent2"/>
            </a:solidFill>
            <a:prstDash val="solid"/>
          </a:ln>
        </p:spPr>
      </p:sp>
      <p:sp>
        <p:nvSpPr>
          <p:cNvPr id="21" name="marker-n-976"/>
          <p:cNvSpPr txBox="1"/>
          <p:nvPr/>
        </p:nvSpPr>
        <p:spPr>
          <a:xfrm>
            <a:off x="7818120" y="318516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2" name="callout-977"/>
          <p:cNvSpPr txBox="1"/>
          <p:nvPr/>
        </p:nvSpPr>
        <p:spPr>
          <a:xfrm>
            <a:off x="8275320" y="3166872"/>
            <a:ext cx="3429000" cy="533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What is shared</a:t>
            </a:r>
            <a:endParaRPr lang="en-US" sz="1500" dirty="0"/>
          </a:p>
          <a:p>
            <a:pPr indent="0" marL="0">
              <a:spcAft>
                <a:spcPts val="200"/>
              </a:spcAft>
              <a:buNone/>
            </a:pPr>
            <a:r>
              <a:rPr lang="en-US" sz="1400" dirty="0">
                <a:solidFill>
                  <a:schemeClr val="tx1"/>
                </a:solidFill>
              </a:rPr>
              <a:t>The Transit Gateway itself.</a:t>
            </a:r>
            <a:endParaRPr lang="en-US" sz="1500" dirty="0"/>
          </a:p>
        </p:txBody>
      </p:sp>
      <p:sp>
        <p:nvSpPr>
          <p:cNvPr id="23" name="marker-978"/>
          <p:cNvSpPr/>
          <p:nvPr/>
        </p:nvSpPr>
        <p:spPr>
          <a:xfrm>
            <a:off x="7818120" y="3901440"/>
            <a:ext cx="329184" cy="329184"/>
          </a:xfrm>
          <a:prstGeom prst="ellipse">
            <a:avLst/>
          </a:prstGeom>
          <a:solidFill>
            <a:schemeClr val="accent2"/>
          </a:solidFill>
          <a:ln w="12700">
            <a:solidFill>
              <a:schemeClr val="accent2"/>
            </a:solidFill>
            <a:prstDash val="solid"/>
          </a:ln>
        </p:spPr>
      </p:sp>
      <p:sp>
        <p:nvSpPr>
          <p:cNvPr id="24" name="marker-n-979"/>
          <p:cNvSpPr txBox="1"/>
          <p:nvPr/>
        </p:nvSpPr>
        <p:spPr>
          <a:xfrm>
            <a:off x="7818120" y="390144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5" name="callout-980"/>
          <p:cNvSpPr txBox="1"/>
          <p:nvPr/>
        </p:nvSpPr>
        <p:spPr>
          <a:xfrm>
            <a:off x="8275320" y="3883152"/>
            <a:ext cx="342900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Who it is shared with</a:t>
            </a:r>
            <a:endParaRPr lang="en-US" sz="1500" dirty="0"/>
          </a:p>
          <a:p>
            <a:pPr indent="0" marL="0">
              <a:spcAft>
                <a:spcPts val="200"/>
              </a:spcAft>
              <a:buNone/>
            </a:pPr>
            <a:r>
              <a:rPr lang="en-US" sz="1400" dirty="0">
                <a:solidFill>
                  <a:schemeClr val="tx1"/>
                </a:solidFill>
              </a:rPr>
              <a:t>The whole organization, by ARN, read from layer 01.</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The spoke VPC module: subnet math</a:t>
            </a:r>
            <a:endParaRPr lang="en-US" sz="3400" dirty="0"/>
          </a:p>
        </p:txBody>
      </p:sp>
      <p:sp>
        <p:nvSpPr>
          <p:cNvPr id="3" name="code-label-981"/>
          <p:cNvSpPr txBox="1"/>
          <p:nvPr/>
        </p:nvSpPr>
        <p:spPr>
          <a:xfrm>
            <a:off x="868680" y="1280160"/>
            <a:ext cx="6949440" cy="274320"/>
          </a:xfrm>
          <a:prstGeom prst="rect">
            <a:avLst/>
          </a:prstGeom>
          <a:noFill/>
          <a:ln/>
        </p:spPr>
        <p:txBody>
          <a:bodyPr wrap="square" lIns="0" tIns="0" rIns="0" bIns="0" rtlCol="0" anchor="ctr"/>
          <a:lstStyle/>
          <a:p>
            <a:pPr indent="0" marL="0">
              <a:buNone/>
            </a:pPr>
            <a:r>
              <a:rPr lang="en-US" sz="1100" b="1" dirty="0">
                <a:solidFill>
                  <a:schemeClr val="tx2"/>
                </a:solidFill>
              </a:rPr>
              <a:t>modules/spoke-vpc/main.tf</a:t>
            </a:r>
            <a:endParaRPr lang="en-US" sz="1100" dirty="0"/>
          </a:p>
        </p:txBody>
      </p:sp>
      <p:sp>
        <p:nvSpPr>
          <p:cNvPr id="4" name="code-bg-982"/>
          <p:cNvSpPr/>
          <p:nvPr/>
        </p:nvSpPr>
        <p:spPr>
          <a:xfrm>
            <a:off x="868680" y="1572768"/>
            <a:ext cx="6949440" cy="2640584"/>
          </a:xfrm>
          <a:prstGeom prst="roundRect">
            <a:avLst>
              <a:gd name="adj" fmla="val 2770"/>
            </a:avLst>
          </a:prstGeom>
          <a:solidFill>
            <a:schemeClr val="tx1"/>
          </a:solidFill>
          <a:ln w="12700">
            <a:solidFill>
              <a:schemeClr val="tx1"/>
            </a:solidFill>
            <a:prstDash val="solid"/>
          </a:ln>
        </p:spPr>
      </p:sp>
      <p:sp>
        <p:nvSpPr>
          <p:cNvPr id="5" name="code-983"/>
          <p:cNvSpPr txBox="1"/>
          <p:nvPr/>
        </p:nvSpPr>
        <p:spPr>
          <a:xfrm>
            <a:off x="1051560" y="1737360"/>
            <a:ext cx="6629400" cy="2329688"/>
          </a:xfrm>
          <a:prstGeom prst="rect">
            <a:avLst/>
          </a:prstGeom>
          <a:noFill/>
          <a:ln/>
        </p:spPr>
        <p:txBody>
          <a:bodyPr wrap="square" lIns="0" tIns="0" rIns="0" bIns="0" rtlCol="0" anchor="t"/>
          <a:lstStyle/>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"aws_subnet"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"private"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count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length</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var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az_ids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vpc_id</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aws_vpc</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this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availability_zone_id</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var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az_ids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count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index</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cidr_block</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cidrsubnet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var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cidr_block</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8,</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count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index</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"aws_subnet"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"tgw"</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count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length</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var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az_ids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availability_zone_id</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var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az_ids</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count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index</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cidr_block</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cidrsubnet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var</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cidr_block</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12,</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4080</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5"/>
                </a:solidFill>
                <a:latin typeface="Courier New" pitchFamily="34" charset="0"/>
                <a:ea typeface="Courier New" pitchFamily="34" charset="-122"/>
                <a:cs typeface="Courier New" pitchFamily="34" charset="-120"/>
              </a:rPr>
              <a:t>count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index</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6" name="marker-984"/>
          <p:cNvSpPr/>
          <p:nvPr/>
        </p:nvSpPr>
        <p:spPr>
          <a:xfrm>
            <a:off x="484632" y="1857756"/>
            <a:ext cx="292608" cy="292608"/>
          </a:xfrm>
          <a:prstGeom prst="ellipse">
            <a:avLst/>
          </a:prstGeom>
          <a:solidFill>
            <a:schemeClr val="accent2"/>
          </a:solidFill>
          <a:ln w="12700">
            <a:solidFill>
              <a:schemeClr val="accent2"/>
            </a:solidFill>
            <a:prstDash val="solid"/>
          </a:ln>
        </p:spPr>
      </p:sp>
      <p:sp>
        <p:nvSpPr>
          <p:cNvPr id="7" name="marker-n-985"/>
          <p:cNvSpPr txBox="1"/>
          <p:nvPr/>
        </p:nvSpPr>
        <p:spPr>
          <a:xfrm>
            <a:off x="484632" y="18577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986"/>
          <p:cNvSpPr/>
          <p:nvPr/>
        </p:nvSpPr>
        <p:spPr>
          <a:xfrm>
            <a:off x="484632" y="2568956"/>
            <a:ext cx="292608" cy="292608"/>
          </a:xfrm>
          <a:prstGeom prst="ellipse">
            <a:avLst/>
          </a:prstGeom>
          <a:solidFill>
            <a:schemeClr val="accent2"/>
          </a:solidFill>
          <a:ln w="12700">
            <a:solidFill>
              <a:schemeClr val="accent2"/>
            </a:solidFill>
            <a:prstDash val="solid"/>
          </a:ln>
        </p:spPr>
      </p:sp>
      <p:sp>
        <p:nvSpPr>
          <p:cNvPr id="9" name="marker-n-987"/>
          <p:cNvSpPr txBox="1"/>
          <p:nvPr/>
        </p:nvSpPr>
        <p:spPr>
          <a:xfrm>
            <a:off x="484632" y="25689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988"/>
          <p:cNvSpPr/>
          <p:nvPr/>
        </p:nvSpPr>
        <p:spPr>
          <a:xfrm>
            <a:off x="484632" y="3457956"/>
            <a:ext cx="292608" cy="292608"/>
          </a:xfrm>
          <a:prstGeom prst="ellipse">
            <a:avLst/>
          </a:prstGeom>
          <a:solidFill>
            <a:schemeClr val="accent2"/>
          </a:solidFill>
          <a:ln w="12700">
            <a:solidFill>
              <a:schemeClr val="accent2"/>
            </a:solidFill>
            <a:prstDash val="solid"/>
          </a:ln>
        </p:spPr>
      </p:sp>
      <p:sp>
        <p:nvSpPr>
          <p:cNvPr id="11" name="marker-n-989"/>
          <p:cNvSpPr txBox="1"/>
          <p:nvPr/>
        </p:nvSpPr>
        <p:spPr>
          <a:xfrm>
            <a:off x="484632" y="345795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990"/>
          <p:cNvSpPr/>
          <p:nvPr/>
        </p:nvSpPr>
        <p:spPr>
          <a:xfrm>
            <a:off x="8183880" y="1325880"/>
            <a:ext cx="329184" cy="329184"/>
          </a:xfrm>
          <a:prstGeom prst="ellipse">
            <a:avLst/>
          </a:prstGeom>
          <a:solidFill>
            <a:schemeClr val="accent2"/>
          </a:solidFill>
          <a:ln w="12700">
            <a:solidFill>
              <a:schemeClr val="accent2"/>
            </a:solidFill>
            <a:prstDash val="solid"/>
          </a:ln>
        </p:spPr>
      </p:sp>
      <p:sp>
        <p:nvSpPr>
          <p:cNvPr id="13" name="marker-n-991"/>
          <p:cNvSpPr txBox="1"/>
          <p:nvPr/>
        </p:nvSpPr>
        <p:spPr>
          <a:xfrm>
            <a:off x="818388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4" name="callout-992"/>
          <p:cNvSpPr txBox="1"/>
          <p:nvPr/>
        </p:nvSpPr>
        <p:spPr>
          <a:xfrm>
            <a:off x="8641080" y="1307592"/>
            <a:ext cx="306324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count makes copies</a:t>
            </a:r>
            <a:endParaRPr lang="en-US" sz="1500" dirty="0"/>
          </a:p>
          <a:p>
            <a:pPr indent="0" marL="0">
              <a:spcAft>
                <a:spcPts val="200"/>
              </a:spcAft>
              <a:buNone/>
            </a:pPr>
            <a:r>
              <a:rPr lang="en-US" sz="1400" dirty="0">
                <a:solidFill>
                  <a:schemeClr val="tx1"/>
                </a:solidFill>
              </a:rPr>
              <a:t>One subnet per AZ. count.index is 0, 1, ...</a:t>
            </a:r>
            <a:endParaRPr lang="en-US" sz="1500" dirty="0"/>
          </a:p>
        </p:txBody>
      </p:sp>
      <p:sp>
        <p:nvSpPr>
          <p:cNvPr id="15" name="marker-993"/>
          <p:cNvSpPr/>
          <p:nvPr/>
        </p:nvSpPr>
        <p:spPr>
          <a:xfrm>
            <a:off x="8183880" y="2255520"/>
            <a:ext cx="329184" cy="329184"/>
          </a:xfrm>
          <a:prstGeom prst="ellipse">
            <a:avLst/>
          </a:prstGeom>
          <a:solidFill>
            <a:schemeClr val="accent2"/>
          </a:solidFill>
          <a:ln w="12700">
            <a:solidFill>
              <a:schemeClr val="accent2"/>
            </a:solidFill>
            <a:prstDash val="solid"/>
          </a:ln>
        </p:spPr>
      </p:sp>
      <p:sp>
        <p:nvSpPr>
          <p:cNvPr id="16" name="marker-n-994"/>
          <p:cNvSpPr txBox="1"/>
          <p:nvPr/>
        </p:nvSpPr>
        <p:spPr>
          <a:xfrm>
            <a:off x="8183880" y="2255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7" name="callout-995"/>
          <p:cNvSpPr txBox="1"/>
          <p:nvPr/>
        </p:nvSpPr>
        <p:spPr>
          <a:xfrm>
            <a:off x="8641080" y="2237232"/>
            <a:ext cx="306324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cidrsubnet(range, bits, n)</a:t>
            </a:r>
            <a:endParaRPr lang="en-US" sz="1500" dirty="0"/>
          </a:p>
          <a:p>
            <a:pPr indent="0" marL="0">
              <a:spcAft>
                <a:spcPts val="200"/>
              </a:spcAft>
              <a:buNone/>
            </a:pPr>
            <a:r>
              <a:rPr lang="en-US" sz="1400" dirty="0">
                <a:solidFill>
                  <a:schemeClr val="tx1"/>
                </a:solidFill>
              </a:rPr>
              <a:t>Adds 8 bits: /16 becomes /24 slices, and n picks which slice.</a:t>
            </a:r>
            <a:endParaRPr lang="en-US" sz="1500" dirty="0"/>
          </a:p>
        </p:txBody>
      </p:sp>
      <p:sp>
        <p:nvSpPr>
          <p:cNvPr id="18" name="marker-996"/>
          <p:cNvSpPr/>
          <p:nvPr/>
        </p:nvSpPr>
        <p:spPr>
          <a:xfrm>
            <a:off x="8183880" y="3185160"/>
            <a:ext cx="329184" cy="329184"/>
          </a:xfrm>
          <a:prstGeom prst="ellipse">
            <a:avLst/>
          </a:prstGeom>
          <a:solidFill>
            <a:schemeClr val="accent2"/>
          </a:solidFill>
          <a:ln w="12700">
            <a:solidFill>
              <a:schemeClr val="accent2"/>
            </a:solidFill>
            <a:prstDash val="solid"/>
          </a:ln>
        </p:spPr>
      </p:sp>
      <p:sp>
        <p:nvSpPr>
          <p:cNvPr id="19" name="marker-n-997"/>
          <p:cNvSpPr txBox="1"/>
          <p:nvPr/>
        </p:nvSpPr>
        <p:spPr>
          <a:xfrm>
            <a:off x="8183880" y="318516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0" name="callout-998"/>
          <p:cNvSpPr txBox="1"/>
          <p:nvPr/>
        </p:nvSpPr>
        <p:spPr>
          <a:xfrm>
            <a:off x="8641080" y="3166872"/>
            <a:ext cx="306324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AZ ID, not AZ name</a:t>
            </a:r>
            <a:endParaRPr lang="en-US" sz="1500" dirty="0"/>
          </a:p>
          <a:p>
            <a:pPr indent="0" marL="0">
              <a:spcAft>
                <a:spcPts val="200"/>
              </a:spcAft>
              <a:buNone/>
            </a:pPr>
            <a:r>
              <a:rPr lang="en-US" sz="1400" dirty="0">
                <a:solidFill>
                  <a:schemeClr val="tx1"/>
                </a:solidFill>
              </a:rPr>
              <a:t>us-east-1a differs per account. use1-az1 is the same building everywhere.</a:t>
            </a:r>
            <a:endParaRPr lang="en-US" sz="1500" dirty="0"/>
          </a:p>
        </p:txBody>
      </p:sp>
      <p:sp>
        <p:nvSpPr>
          <p:cNvPr id="21" name="text-999"/>
          <p:cNvSpPr txBox="1"/>
          <p:nvPr/>
        </p:nvSpPr>
        <p:spPr>
          <a:xfrm>
            <a:off x="868680" y="4434840"/>
            <a:ext cx="6949440" cy="320040"/>
          </a:xfrm>
          <a:prstGeom prst="rect">
            <a:avLst/>
          </a:prstGeom>
          <a:noFill/>
          <a:ln/>
        </p:spPr>
        <p:txBody>
          <a:bodyPr wrap="square" lIns="0" tIns="0" rIns="0" bIns="0" rtlCol="0" anchor="t"/>
          <a:lstStyle/>
          <a:p>
            <a:pPr indent="0" marL="0">
              <a:buNone/>
            </a:pPr>
            <a:r>
              <a:rPr lang="en-US" sz="1400" b="1" dirty="0">
                <a:solidFill>
                  <a:schemeClr val="tx1"/>
                </a:solidFill>
              </a:rPr>
              <a:t>cidrsubnet on the dev VPC, 10.10.0.0/16</a:t>
            </a:r>
            <a:endParaRPr lang="en-US" sz="1400" dirty="0"/>
          </a:p>
        </p:txBody>
      </p:sp>
      <p:sp>
        <p:nvSpPr>
          <p:cNvPr id="22" name="box-1000"/>
          <p:cNvSpPr/>
          <p:nvPr/>
        </p:nvSpPr>
        <p:spPr>
          <a:xfrm>
            <a:off x="868680" y="4846320"/>
            <a:ext cx="1371600" cy="868680"/>
          </a:xfrm>
          <a:prstGeom prst="rect">
            <a:avLst/>
          </a:prstGeom>
          <a:solidFill>
            <a:schemeClr val="accent1"/>
          </a:solidFill>
          <a:ln w="9525">
            <a:solidFill>
              <a:schemeClr val="accent1"/>
            </a:solidFill>
            <a:prstDash val="solid"/>
          </a:ln>
        </p:spPr>
      </p:sp>
      <p:sp>
        <p:nvSpPr>
          <p:cNvPr id="23" name="box-t-1001"/>
          <p:cNvSpPr txBox="1"/>
          <p:nvPr/>
        </p:nvSpPr>
        <p:spPr>
          <a:xfrm>
            <a:off x="914400" y="4846320"/>
            <a:ext cx="1280160" cy="868680"/>
          </a:xfrm>
          <a:prstGeom prst="rect">
            <a:avLst/>
          </a:prstGeom>
          <a:noFill/>
          <a:ln/>
        </p:spPr>
        <p:txBody>
          <a:bodyPr wrap="square" lIns="508" tIns="508" rIns="508" bIns="508" rtlCol="0" anchor="ctr"/>
          <a:lstStyle/>
          <a:p>
            <a:pPr algn="ctr" indent="0" marL="0">
              <a:buNone/>
            </a:pPr>
            <a:r>
              <a:rPr lang="en-US" sz="1100" b="1" dirty="0">
                <a:solidFill>
                  <a:schemeClr val="bg1"/>
                </a:solidFill>
              </a:rPr>
              <a:t>10.10.0.0/24</a:t>
            </a:r>
            <a:endParaRPr lang="en-US" sz="1100" dirty="0"/>
          </a:p>
          <a:p>
            <a:pPr algn="ctr" indent="0" marL="0">
              <a:buNone/>
            </a:pPr>
            <a:r>
              <a:rPr lang="en-US" sz="1000" dirty="0">
                <a:solidFill>
                  <a:schemeClr val="bg1"/>
                </a:solidFill>
              </a:rPr>
              <a:t>private az1</a:t>
            </a:r>
            <a:endParaRPr lang="en-US" sz="1100" dirty="0"/>
          </a:p>
        </p:txBody>
      </p:sp>
      <p:sp>
        <p:nvSpPr>
          <p:cNvPr id="24" name="box-1002"/>
          <p:cNvSpPr/>
          <p:nvPr/>
        </p:nvSpPr>
        <p:spPr>
          <a:xfrm>
            <a:off x="2240280" y="4846320"/>
            <a:ext cx="1371600" cy="868680"/>
          </a:xfrm>
          <a:prstGeom prst="rect">
            <a:avLst/>
          </a:prstGeom>
          <a:solidFill>
            <a:schemeClr val="accent1"/>
          </a:solidFill>
          <a:ln w="9525">
            <a:solidFill>
              <a:schemeClr val="accent1"/>
            </a:solidFill>
            <a:prstDash val="solid"/>
          </a:ln>
        </p:spPr>
      </p:sp>
      <p:sp>
        <p:nvSpPr>
          <p:cNvPr id="25" name="box-t-1003"/>
          <p:cNvSpPr txBox="1"/>
          <p:nvPr/>
        </p:nvSpPr>
        <p:spPr>
          <a:xfrm>
            <a:off x="2286000" y="4846320"/>
            <a:ext cx="1280160" cy="868680"/>
          </a:xfrm>
          <a:prstGeom prst="rect">
            <a:avLst/>
          </a:prstGeom>
          <a:noFill/>
          <a:ln/>
        </p:spPr>
        <p:txBody>
          <a:bodyPr wrap="square" lIns="508" tIns="508" rIns="508" bIns="508" rtlCol="0" anchor="ctr"/>
          <a:lstStyle/>
          <a:p>
            <a:pPr algn="ctr" indent="0" marL="0">
              <a:buNone/>
            </a:pPr>
            <a:r>
              <a:rPr lang="en-US" sz="1100" b="1" dirty="0">
                <a:solidFill>
                  <a:schemeClr val="bg1"/>
                </a:solidFill>
              </a:rPr>
              <a:t>10.10.1.0/24</a:t>
            </a:r>
            <a:endParaRPr lang="en-US" sz="1100" dirty="0"/>
          </a:p>
          <a:p>
            <a:pPr algn="ctr" indent="0" marL="0">
              <a:buNone/>
            </a:pPr>
            <a:r>
              <a:rPr lang="en-US" sz="1000" dirty="0">
                <a:solidFill>
                  <a:schemeClr val="bg1"/>
                </a:solidFill>
              </a:rPr>
              <a:t>private az2</a:t>
            </a:r>
            <a:endParaRPr lang="en-US" sz="1100" dirty="0"/>
          </a:p>
        </p:txBody>
      </p:sp>
      <p:sp>
        <p:nvSpPr>
          <p:cNvPr id="26" name="box-1004"/>
          <p:cNvSpPr/>
          <p:nvPr/>
        </p:nvSpPr>
        <p:spPr>
          <a:xfrm>
            <a:off x="3611880" y="4846320"/>
            <a:ext cx="2743200" cy="868680"/>
          </a:xfrm>
          <a:prstGeom prst="rect">
            <a:avLst/>
          </a:prstGeom>
          <a:solidFill>
            <a:schemeClr val="bg2"/>
          </a:solidFill>
          <a:ln w="9525">
            <a:solidFill>
              <a:schemeClr val="bg2"/>
            </a:solidFill>
            <a:prstDash val="solid"/>
          </a:ln>
        </p:spPr>
      </p:sp>
      <p:sp>
        <p:nvSpPr>
          <p:cNvPr id="27" name="box-t-1005"/>
          <p:cNvSpPr txBox="1"/>
          <p:nvPr/>
        </p:nvSpPr>
        <p:spPr>
          <a:xfrm>
            <a:off x="3657600" y="4846320"/>
            <a:ext cx="2651760" cy="868680"/>
          </a:xfrm>
          <a:prstGeom prst="rect">
            <a:avLst/>
          </a:prstGeom>
          <a:noFill/>
          <a:ln/>
        </p:spPr>
        <p:txBody>
          <a:bodyPr wrap="square" lIns="508" tIns="508" rIns="508" bIns="508" rtlCol="0" anchor="ctr"/>
          <a:lstStyle/>
          <a:p>
            <a:pPr algn="ctr" indent="0" marL="0">
              <a:buNone/>
            </a:pPr>
            <a:r>
              <a:rPr lang="en-US" sz="1100" b="1" dirty="0">
                <a:solidFill>
                  <a:schemeClr val="tx2"/>
                </a:solidFill>
              </a:rPr>
              <a:t>free space for growth</a:t>
            </a:r>
            <a:endParaRPr lang="en-US" sz="1100" dirty="0"/>
          </a:p>
        </p:txBody>
      </p:sp>
      <p:sp>
        <p:nvSpPr>
          <p:cNvPr id="28" name="box-1006"/>
          <p:cNvSpPr/>
          <p:nvPr/>
        </p:nvSpPr>
        <p:spPr>
          <a:xfrm>
            <a:off x="6355080" y="4846320"/>
            <a:ext cx="1463040" cy="868680"/>
          </a:xfrm>
          <a:prstGeom prst="rect">
            <a:avLst/>
          </a:prstGeom>
          <a:solidFill>
            <a:schemeClr val="accent3"/>
          </a:solidFill>
          <a:ln w="9525">
            <a:solidFill>
              <a:schemeClr val="accent3"/>
            </a:solidFill>
            <a:prstDash val="solid"/>
          </a:ln>
        </p:spPr>
      </p:sp>
      <p:sp>
        <p:nvSpPr>
          <p:cNvPr id="29" name="box-t-1007"/>
          <p:cNvSpPr txBox="1"/>
          <p:nvPr/>
        </p:nvSpPr>
        <p:spPr>
          <a:xfrm>
            <a:off x="6400800" y="4846320"/>
            <a:ext cx="1371600" cy="868680"/>
          </a:xfrm>
          <a:prstGeom prst="rect">
            <a:avLst/>
          </a:prstGeom>
          <a:noFill/>
          <a:ln/>
        </p:spPr>
        <p:txBody>
          <a:bodyPr wrap="square" lIns="508" tIns="508" rIns="508" bIns="508" rtlCol="0" anchor="ctr"/>
          <a:lstStyle/>
          <a:p>
            <a:pPr algn="ctr" indent="0" marL="0">
              <a:buNone/>
            </a:pPr>
            <a:r>
              <a:rPr lang="en-US" sz="1100" b="1" dirty="0">
                <a:solidFill>
                  <a:schemeClr val="bg1"/>
                </a:solidFill>
              </a:rPr>
              <a:t>10.10.255.0/28 and .16/28</a:t>
            </a:r>
            <a:endParaRPr lang="en-US" sz="1100" dirty="0"/>
          </a:p>
          <a:p>
            <a:pPr algn="ctr" indent="0" marL="0">
              <a:buNone/>
            </a:pPr>
            <a:r>
              <a:rPr lang="en-US" sz="1000" dirty="0">
                <a:solidFill>
                  <a:schemeClr val="bg1"/>
                </a:solidFill>
              </a:rPr>
              <a:t>TGW subnets</a:t>
            </a:r>
            <a:endParaRPr lang="en-US" sz="11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Wiring segmentation together</a:t>
            </a:r>
            <a:endParaRPr lang="en-US" sz="3400" dirty="0"/>
          </a:p>
        </p:txBody>
      </p:sp>
      <p:sp>
        <p:nvSpPr>
          <p:cNvPr id="3" name="code-label-1008"/>
          <p:cNvSpPr txBox="1"/>
          <p:nvPr/>
        </p:nvSpPr>
        <p:spPr>
          <a:xfrm>
            <a:off x="868680" y="1280160"/>
            <a:ext cx="7223760" cy="274320"/>
          </a:xfrm>
          <a:prstGeom prst="rect">
            <a:avLst/>
          </a:prstGeom>
          <a:noFill/>
          <a:ln/>
        </p:spPr>
        <p:txBody>
          <a:bodyPr wrap="square" lIns="0" tIns="0" rIns="0" bIns="0" rtlCol="0" anchor="ctr"/>
          <a:lstStyle/>
          <a:p>
            <a:pPr indent="0" marL="0">
              <a:buNone/>
            </a:pPr>
            <a:r>
              <a:rPr lang="en-US" sz="1100" b="1" dirty="0">
                <a:solidFill>
                  <a:schemeClr val="tx2"/>
                </a:solidFill>
              </a:rPr>
              <a:t>layers/05-network/main.tf</a:t>
            </a:r>
            <a:endParaRPr lang="en-US" sz="1100" dirty="0"/>
          </a:p>
        </p:txBody>
      </p:sp>
      <p:sp>
        <p:nvSpPr>
          <p:cNvPr id="4" name="code-bg-1009"/>
          <p:cNvSpPr/>
          <p:nvPr/>
        </p:nvSpPr>
        <p:spPr>
          <a:xfrm>
            <a:off x="868680" y="1572768"/>
            <a:ext cx="7223760" cy="3466084"/>
          </a:xfrm>
          <a:prstGeom prst="roundRect">
            <a:avLst>
              <a:gd name="adj" fmla="val 2111"/>
            </a:avLst>
          </a:prstGeom>
          <a:solidFill>
            <a:schemeClr val="tx1"/>
          </a:solidFill>
          <a:ln w="12700">
            <a:solidFill>
              <a:schemeClr val="tx1"/>
            </a:solidFill>
            <a:prstDash val="solid"/>
          </a:ln>
        </p:spPr>
      </p:sp>
      <p:sp>
        <p:nvSpPr>
          <p:cNvPr id="5" name="code-1010"/>
          <p:cNvSpPr txBox="1"/>
          <p:nvPr/>
        </p:nvSpPr>
        <p:spPr>
          <a:xfrm>
            <a:off x="1051560" y="1737360"/>
            <a:ext cx="6903720" cy="3155188"/>
          </a:xfrm>
          <a:prstGeom prst="rect">
            <a:avLst/>
          </a:prstGeom>
          <a:noFill/>
          <a:ln/>
        </p:spPr>
        <p:txBody>
          <a:bodyPr wrap="square" lIns="0" tIns="0" rIns="0" bIns="0" rtlCol="0" anchor="t"/>
          <a:lstStyle/>
          <a:p>
            <a:pPr indent="0" marL="0">
              <a:lnSpc>
                <a:spcPts val="1300"/>
              </a:lnSpc>
              <a:buNone/>
            </a:pPr>
            <a:r>
              <a:rPr lang="en-US" sz="1000" b="1" dirty="0">
                <a:solidFill>
                  <a:schemeClr val="accent2"/>
                </a:solidFill>
                <a:latin typeface="Courier New" pitchFamily="34" charset="0"/>
                <a:ea typeface="Courier New" pitchFamily="34" charset="-122"/>
                <a:cs typeface="Courier New" pitchFamily="34" charset="-120"/>
              </a:rPr>
              <a:t>locals</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endParaRPr lang="en-US" sz="1000" dirty="0"/>
          </a:p>
          <a:p>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spoke_attachments</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endParaRPr lang="en-US" sz="1000" dirty="0"/>
          </a:p>
          <a:p>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dev</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accent5"/>
                </a:solidFill>
                <a:latin typeface="Courier New" pitchFamily="34" charset="0"/>
                <a:ea typeface="Courier New" pitchFamily="34" charset="-122"/>
                <a:cs typeface="Courier New" pitchFamily="34" charset="-120"/>
              </a:rPr>
              <a:t>module</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dev_vpc</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attachment_id</a:t>
            </a:r>
            <a:endParaRPr lang="en-US" sz="1000" dirty="0"/>
          </a:p>
          <a:p>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prod</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accent5"/>
                </a:solidFill>
                <a:latin typeface="Courier New" pitchFamily="34" charset="0"/>
                <a:ea typeface="Courier New" pitchFamily="34" charset="-122"/>
                <a:cs typeface="Courier New" pitchFamily="34" charset="-120"/>
              </a:rPr>
              <a:t>module</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prod_vpc</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attachment_id</a:t>
            </a:r>
            <a:endParaRPr lang="en-US" sz="1000" dirty="0"/>
          </a:p>
          <a:p>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endParaRPr lang="en-US" sz="1000" dirty="0"/>
          </a:p>
          <a:p>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endParaRPr lang="en-US" sz="1000" dirty="0"/>
          </a:p>
          <a:p>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endParaRPr lang="en-US" sz="1000" dirty="0"/>
          </a:p>
          <a:p>
            <a:pPr indent="0" marL="0">
              <a:lnSpc>
                <a:spcPts val="1300"/>
              </a:lnSpc>
              <a:buNone/>
            </a:pPr>
            <a:r>
              <a:rPr lang="en-US" sz="1000" b="1" dirty="0">
                <a:solidFill>
                  <a:schemeClr val="accent2"/>
                </a:solidFill>
                <a:latin typeface="Courier New" pitchFamily="34" charset="0"/>
                <a:ea typeface="Courier New" pitchFamily="34" charset="-122"/>
                <a:cs typeface="Courier New" pitchFamily="34" charset="-120"/>
              </a:rPr>
              <a:t>resource</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accent6"/>
                </a:solidFill>
                <a:latin typeface="Courier New" pitchFamily="34" charset="0"/>
                <a:ea typeface="Courier New" pitchFamily="34" charset="-122"/>
                <a:cs typeface="Courier New" pitchFamily="34" charset="-120"/>
              </a:rPr>
              <a:t>"aws_ec2_transit_gateway_route_table_association"</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accent6"/>
                </a:solidFill>
                <a:latin typeface="Courier New" pitchFamily="34" charset="0"/>
                <a:ea typeface="Courier New" pitchFamily="34" charset="-122"/>
                <a:cs typeface="Courier New" pitchFamily="34" charset="-120"/>
              </a:rPr>
              <a:t>"spokes"</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endParaRPr lang="en-US" sz="1000" dirty="0"/>
          </a:p>
          <a:p>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accent5"/>
                </a:solidFill>
                <a:latin typeface="Courier New" pitchFamily="34" charset="0"/>
                <a:ea typeface="Courier New" pitchFamily="34" charset="-122"/>
                <a:cs typeface="Courier New" pitchFamily="34" charset="-120"/>
              </a:rPr>
              <a:t>for_each</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accent5"/>
                </a:solidFill>
                <a:latin typeface="Courier New" pitchFamily="34" charset="0"/>
                <a:ea typeface="Courier New" pitchFamily="34" charset="-122"/>
                <a:cs typeface="Courier New" pitchFamily="34" charset="-120"/>
              </a:rPr>
              <a:t>local</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spoke_attachments</a:t>
            </a:r>
            <a:endParaRPr lang="en-US" sz="1000" dirty="0"/>
          </a:p>
          <a:p>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b="1" dirty="0">
                <a:solidFill>
                  <a:schemeClr val="accent2"/>
                </a:solidFill>
                <a:latin typeface="Courier New" pitchFamily="34" charset="0"/>
                <a:ea typeface="Courier New" pitchFamily="34" charset="-122"/>
                <a:cs typeface="Courier New" pitchFamily="34" charset="-120"/>
              </a:rPr>
              <a:t>provider</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aws</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network</a:t>
            </a:r>
            <a:endParaRPr lang="en-US" sz="1000" dirty="0"/>
          </a:p>
          <a:p>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transit_gateway_attachment_id</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accent5"/>
                </a:solidFill>
                <a:latin typeface="Courier New" pitchFamily="34" charset="0"/>
                <a:ea typeface="Courier New" pitchFamily="34" charset="-122"/>
                <a:cs typeface="Courier New" pitchFamily="34" charset="-120"/>
              </a:rPr>
              <a:t>each</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value</a:t>
            </a:r>
            <a:endParaRPr lang="en-US" sz="1000" dirty="0"/>
          </a:p>
          <a:p>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transit_gateway_route_table_id</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aws_ec2_transit_gateway_route_table</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spokes</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id</a:t>
            </a:r>
            <a:endParaRPr lang="en-US" sz="1000" dirty="0"/>
          </a:p>
          <a:p>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endParaRPr lang="en-US" sz="1000" dirty="0"/>
          </a:p>
          <a:p>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endParaRPr lang="en-US" sz="1000" dirty="0"/>
          </a:p>
          <a:p>
            <a:pPr indent="0" marL="0">
              <a:lnSpc>
                <a:spcPts val="1300"/>
              </a:lnSpc>
              <a:buNone/>
            </a:pPr>
            <a:r>
              <a:rPr lang="en-US" sz="1000" b="1" dirty="0">
                <a:solidFill>
                  <a:schemeClr val="accent2"/>
                </a:solidFill>
                <a:latin typeface="Courier New" pitchFamily="34" charset="0"/>
                <a:ea typeface="Courier New" pitchFamily="34" charset="-122"/>
                <a:cs typeface="Courier New" pitchFamily="34" charset="-120"/>
              </a:rPr>
              <a:t>resource</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accent6"/>
                </a:solidFill>
                <a:latin typeface="Courier New" pitchFamily="34" charset="0"/>
                <a:ea typeface="Courier New" pitchFamily="34" charset="-122"/>
                <a:cs typeface="Courier New" pitchFamily="34" charset="-120"/>
              </a:rPr>
              <a:t>"aws_ec2_transit_gateway_route_table_propagation"</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accent6"/>
                </a:solidFill>
                <a:latin typeface="Courier New" pitchFamily="34" charset="0"/>
                <a:ea typeface="Courier New" pitchFamily="34" charset="-122"/>
                <a:cs typeface="Courier New" pitchFamily="34" charset="-120"/>
              </a:rPr>
              <a:t>"shared_to_spokes"</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endParaRPr lang="en-US" sz="1000" dirty="0"/>
          </a:p>
          <a:p>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b="1" dirty="0">
                <a:solidFill>
                  <a:schemeClr val="accent2"/>
                </a:solidFill>
                <a:latin typeface="Courier New" pitchFamily="34" charset="0"/>
                <a:ea typeface="Courier New" pitchFamily="34" charset="-122"/>
                <a:cs typeface="Courier New" pitchFamily="34" charset="-120"/>
              </a:rPr>
              <a:t>provider</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aws</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network</a:t>
            </a:r>
            <a:endParaRPr lang="en-US" sz="1000" dirty="0"/>
          </a:p>
          <a:p>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transit_gateway_attachment_id</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accent5"/>
                </a:solidFill>
                <a:latin typeface="Courier New" pitchFamily="34" charset="0"/>
                <a:ea typeface="Courier New" pitchFamily="34" charset="-122"/>
                <a:cs typeface="Courier New" pitchFamily="34" charset="-120"/>
              </a:rPr>
              <a:t>module</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shared_vpc</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attachment_id</a:t>
            </a:r>
            <a:endParaRPr lang="en-US" sz="1000" dirty="0"/>
          </a:p>
          <a:p>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transit_gateway_route_table_id</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 </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aws_ec2_transit_gateway_route_table</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spokes</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id</a:t>
            </a:r>
            <a:endParaRPr lang="en-US" sz="1000" dirty="0"/>
          </a:p>
          <a:p>
            <a:pPr indent="0" marL="0">
              <a:lnSpc>
                <a:spcPts val="1300"/>
              </a:lnSpc>
              <a:buNone/>
            </a:pPr>
            <a:r>
              <a:rPr lang="en-US" sz="1000" dirty="0">
                <a:solidFill>
                  <a:schemeClr val="bg2"/>
                </a:solidFill>
                <a:latin typeface="Courier New" pitchFamily="34" charset="0"/>
                <a:ea typeface="Courier New" pitchFamily="34" charset="-122"/>
                <a:cs typeface="Courier New" pitchFamily="34" charset="-120"/>
              </a:rPr>
              <a:t>}</a:t>
            </a:r>
            <a:endParaRPr lang="en-US" sz="1000" dirty="0"/>
          </a:p>
        </p:txBody>
      </p:sp>
      <p:sp>
        <p:nvSpPr>
          <p:cNvPr id="6" name="marker-1011"/>
          <p:cNvSpPr/>
          <p:nvPr/>
        </p:nvSpPr>
        <p:spPr>
          <a:xfrm>
            <a:off x="484632" y="2003806"/>
            <a:ext cx="292608" cy="292608"/>
          </a:xfrm>
          <a:prstGeom prst="ellipse">
            <a:avLst/>
          </a:prstGeom>
          <a:solidFill>
            <a:schemeClr val="accent2"/>
          </a:solidFill>
          <a:ln w="12700">
            <a:solidFill>
              <a:schemeClr val="accent2"/>
            </a:solidFill>
            <a:prstDash val="solid"/>
          </a:ln>
        </p:spPr>
      </p:sp>
      <p:sp>
        <p:nvSpPr>
          <p:cNvPr id="7" name="marker-n-1012"/>
          <p:cNvSpPr txBox="1"/>
          <p:nvPr/>
        </p:nvSpPr>
        <p:spPr>
          <a:xfrm>
            <a:off x="484632" y="20038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marker-1013"/>
          <p:cNvSpPr/>
          <p:nvPr/>
        </p:nvSpPr>
        <p:spPr>
          <a:xfrm>
            <a:off x="484632" y="2829306"/>
            <a:ext cx="292608" cy="292608"/>
          </a:xfrm>
          <a:prstGeom prst="ellipse">
            <a:avLst/>
          </a:prstGeom>
          <a:solidFill>
            <a:schemeClr val="accent2"/>
          </a:solidFill>
          <a:ln w="12700">
            <a:solidFill>
              <a:schemeClr val="accent2"/>
            </a:solidFill>
            <a:prstDash val="solid"/>
          </a:ln>
        </p:spPr>
      </p:sp>
      <p:sp>
        <p:nvSpPr>
          <p:cNvPr id="9" name="marker-n-1014"/>
          <p:cNvSpPr txBox="1"/>
          <p:nvPr/>
        </p:nvSpPr>
        <p:spPr>
          <a:xfrm>
            <a:off x="484632" y="28293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marker-1015"/>
          <p:cNvSpPr/>
          <p:nvPr/>
        </p:nvSpPr>
        <p:spPr>
          <a:xfrm>
            <a:off x="484632" y="3985006"/>
            <a:ext cx="292608" cy="292608"/>
          </a:xfrm>
          <a:prstGeom prst="ellipse">
            <a:avLst/>
          </a:prstGeom>
          <a:solidFill>
            <a:schemeClr val="accent2"/>
          </a:solidFill>
          <a:ln w="12700">
            <a:solidFill>
              <a:schemeClr val="accent2"/>
            </a:solidFill>
            <a:prstDash val="solid"/>
          </a:ln>
        </p:spPr>
      </p:sp>
      <p:sp>
        <p:nvSpPr>
          <p:cNvPr id="11" name="marker-n-1016"/>
          <p:cNvSpPr txBox="1"/>
          <p:nvPr/>
        </p:nvSpPr>
        <p:spPr>
          <a:xfrm>
            <a:off x="484632" y="3985006"/>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marker-1017"/>
          <p:cNvSpPr/>
          <p:nvPr/>
        </p:nvSpPr>
        <p:spPr>
          <a:xfrm>
            <a:off x="8458200" y="1325880"/>
            <a:ext cx="329184" cy="329184"/>
          </a:xfrm>
          <a:prstGeom prst="ellipse">
            <a:avLst/>
          </a:prstGeom>
          <a:solidFill>
            <a:schemeClr val="accent2"/>
          </a:solidFill>
          <a:ln w="12700">
            <a:solidFill>
              <a:schemeClr val="accent2"/>
            </a:solidFill>
            <a:prstDash val="solid"/>
          </a:ln>
        </p:spPr>
      </p:sp>
      <p:sp>
        <p:nvSpPr>
          <p:cNvPr id="13" name="marker-n-1018"/>
          <p:cNvSpPr txBox="1"/>
          <p:nvPr/>
        </p:nvSpPr>
        <p:spPr>
          <a:xfrm>
            <a:off x="8458200" y="13258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4" name="callout-1019"/>
          <p:cNvSpPr txBox="1"/>
          <p:nvPr/>
        </p:nvSpPr>
        <p:spPr>
          <a:xfrm>
            <a:off x="8915400" y="1307592"/>
            <a:ext cx="278892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Module outputs</a:t>
            </a:r>
            <a:endParaRPr lang="en-US" sz="1500" dirty="0"/>
          </a:p>
          <a:p>
            <a:pPr indent="0" marL="0">
              <a:spcAft>
                <a:spcPts val="200"/>
              </a:spcAft>
              <a:buNone/>
            </a:pPr>
            <a:r>
              <a:rPr lang="en-US" sz="1400" dirty="0">
                <a:solidFill>
                  <a:schemeClr val="tx1"/>
                </a:solidFill>
              </a:rPr>
              <a:t>module.NAME.OUTPUT reads a return value.</a:t>
            </a:r>
            <a:endParaRPr lang="en-US" sz="1500" dirty="0"/>
          </a:p>
        </p:txBody>
      </p:sp>
      <p:sp>
        <p:nvSpPr>
          <p:cNvPr id="15" name="marker-1020"/>
          <p:cNvSpPr/>
          <p:nvPr/>
        </p:nvSpPr>
        <p:spPr>
          <a:xfrm>
            <a:off x="8458200" y="2255520"/>
            <a:ext cx="329184" cy="329184"/>
          </a:xfrm>
          <a:prstGeom prst="ellipse">
            <a:avLst/>
          </a:prstGeom>
          <a:solidFill>
            <a:schemeClr val="accent2"/>
          </a:solidFill>
          <a:ln w="12700">
            <a:solidFill>
              <a:schemeClr val="accent2"/>
            </a:solidFill>
            <a:prstDash val="solid"/>
          </a:ln>
        </p:spPr>
      </p:sp>
      <p:sp>
        <p:nvSpPr>
          <p:cNvPr id="16" name="marker-n-1021"/>
          <p:cNvSpPr txBox="1"/>
          <p:nvPr/>
        </p:nvSpPr>
        <p:spPr>
          <a:xfrm>
            <a:off x="8458200" y="22555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7" name="callout-1022"/>
          <p:cNvSpPr txBox="1"/>
          <p:nvPr/>
        </p:nvSpPr>
        <p:spPr>
          <a:xfrm>
            <a:off x="8915400" y="2237232"/>
            <a:ext cx="278892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Association</a:t>
            </a:r>
            <a:endParaRPr lang="en-US" sz="1500" dirty="0"/>
          </a:p>
          <a:p>
            <a:pPr indent="0" marL="0">
              <a:spcAft>
                <a:spcPts val="200"/>
              </a:spcAft>
              <a:buNone/>
            </a:pPr>
            <a:r>
              <a:rPr lang="en-US" sz="1400" dirty="0">
                <a:solidFill>
                  <a:schemeClr val="tx1"/>
                </a:solidFill>
              </a:rPr>
              <a:t>Dev and prod look up routes in rt-spokes.</a:t>
            </a:r>
            <a:endParaRPr lang="en-US" sz="1500" dirty="0"/>
          </a:p>
        </p:txBody>
      </p:sp>
      <p:sp>
        <p:nvSpPr>
          <p:cNvPr id="18" name="marker-1023"/>
          <p:cNvSpPr/>
          <p:nvPr/>
        </p:nvSpPr>
        <p:spPr>
          <a:xfrm>
            <a:off x="8458200" y="3185160"/>
            <a:ext cx="329184" cy="329184"/>
          </a:xfrm>
          <a:prstGeom prst="ellipse">
            <a:avLst/>
          </a:prstGeom>
          <a:solidFill>
            <a:schemeClr val="accent2"/>
          </a:solidFill>
          <a:ln w="12700">
            <a:solidFill>
              <a:schemeClr val="accent2"/>
            </a:solidFill>
            <a:prstDash val="solid"/>
          </a:ln>
        </p:spPr>
      </p:sp>
      <p:sp>
        <p:nvSpPr>
          <p:cNvPr id="19" name="marker-n-1024"/>
          <p:cNvSpPr txBox="1"/>
          <p:nvPr/>
        </p:nvSpPr>
        <p:spPr>
          <a:xfrm>
            <a:off x="8458200" y="318516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0" name="callout-1025"/>
          <p:cNvSpPr txBox="1"/>
          <p:nvPr/>
        </p:nvSpPr>
        <p:spPr>
          <a:xfrm>
            <a:off x="8915400" y="3166872"/>
            <a:ext cx="278892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Propagation</a:t>
            </a:r>
            <a:endParaRPr lang="en-US" sz="1500" dirty="0"/>
          </a:p>
          <a:p>
            <a:pPr indent="0" marL="0">
              <a:spcAft>
                <a:spcPts val="200"/>
              </a:spcAft>
              <a:buNone/>
            </a:pPr>
            <a:r>
              <a:rPr lang="en-US" sz="1400" dirty="0">
                <a:solidFill>
                  <a:schemeClr val="tx1"/>
                </a:solidFill>
              </a:rPr>
              <a:t>Only the shared CIDR is put into rt-spokes.</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1026"/>
          <p:cNvSpPr txBox="1"/>
          <p:nvPr/>
        </p:nvSpPr>
        <p:spPr>
          <a:xfrm>
            <a:off x="731520" y="1463040"/>
            <a:ext cx="2743200" cy="1005840"/>
          </a:xfrm>
          <a:prstGeom prst="rect">
            <a:avLst/>
          </a:prstGeom>
          <a:noFill/>
          <a:ln/>
        </p:spPr>
        <p:txBody>
          <a:bodyPr wrap="square" lIns="0" tIns="0" rIns="0" bIns="0" rtlCol="0" anchor="t"/>
          <a:lstStyle/>
          <a:p>
            <a:pPr indent="0" marL="0">
              <a:buNone/>
            </a:pPr>
            <a:r>
              <a:rPr lang="en-US" sz="6000" b="1" dirty="0">
                <a:solidFill>
                  <a:schemeClr val="accent2"/>
                </a:solidFill>
                <a:latin typeface="Arial" pitchFamily="34" charset="0"/>
                <a:ea typeface="Arial" pitchFamily="34" charset="-122"/>
                <a:cs typeface="Arial" pitchFamily="34" charset="-120"/>
              </a:rPr>
              <a:t>08</a:t>
            </a:r>
            <a:endParaRPr lang="en-US" sz="6000" dirty="0"/>
          </a:p>
        </p:txBody>
      </p:sp>
      <p:sp>
        <p:nvSpPr>
          <p:cNvPr id="3" name="Text 0"/>
          <p:cNvSpPr/>
          <p:nvPr>
            <p:ph idx="100" type="title" hasCustomPrompt="1"/>
          </p:nvPr>
        </p:nvSpPr>
        <p:spPr>
          <a:xfrm>
            <a:off x="731520" y="2651760"/>
            <a:ext cx="8046720" cy="1097280"/>
          </a:xfrm>
          <a:prstGeom prst="rect">
            <a:avLst/>
          </a:prstGeom>
          <a:noFill/>
          <a:ln/>
        </p:spPr>
        <p:txBody>
          <a:bodyPr wrap="square" lIns="0" tIns="0" rIns="0" bIns="0" rtlCol="0" anchor="t"/>
          <a:lstStyle/>
          <a:p>
            <a:pPr algn="l" indent="0" marL="0">
              <a:buNone/>
            </a:pPr>
            <a:r>
              <a:rPr lang="en-US" sz="4400" b="1" dirty="0">
                <a:solidFill>
                  <a:schemeClr val="bg1"/>
                </a:solidFill>
              </a:rPr>
              <a:t>Prove it, ship it, pay for it</a:t>
            </a:r>
            <a:endParaRPr lang="en-US" sz="4400" dirty="0"/>
          </a:p>
        </p:txBody>
      </p:sp>
      <p:sp>
        <p:nvSpPr>
          <p:cNvPr id="4" name="Text 0"/>
          <p:cNvSpPr/>
          <p:nvPr>
            <p:ph idx="101" type="body" hasCustomPrompt="1"/>
          </p:nvPr>
        </p:nvSpPr>
        <p:spPr>
          <a:xfrm>
            <a:off x="731520" y="3840480"/>
            <a:ext cx="7863840" cy="1371600"/>
          </a:xfrm>
          <a:prstGeom prst="rect">
            <a:avLst/>
          </a:prstGeom>
          <a:noFill/>
          <a:ln/>
        </p:spPr>
        <p:txBody>
          <a:bodyPr wrap="square" lIns="0" tIns="0" rIns="0" bIns="0" rtlCol="0" anchor="t"/>
          <a:lstStyle/>
          <a:p>
            <a:pPr algn="l" indent="0" marL="0">
              <a:buNone/>
            </a:pPr>
            <a:r>
              <a:rPr lang="en-US" sz="2000" dirty="0">
                <a:solidFill>
                  <a:schemeClr val="bg2"/>
                </a:solidFill>
              </a:rPr>
              <a:t>Verification, CI, cost, and teardown</a:t>
            </a:r>
            <a:endParaRPr lang="en-US" sz="2000" dirty="0"/>
          </a:p>
        </p:txBody>
      </p:sp>
      <p:sp>
        <p:nvSpPr>
          <p:cNvPr id="5" name="icon-circle-1027"/>
          <p:cNvSpPr/>
          <p:nvPr/>
        </p:nvSpPr>
        <p:spPr>
          <a:xfrm>
            <a:off x="9052560" y="2011680"/>
            <a:ext cx="2377440" cy="2377440"/>
          </a:xfrm>
          <a:prstGeom prst="ellipse">
            <a:avLst/>
          </a:prstGeom>
          <a:solidFill>
            <a:schemeClr val="tx1"/>
          </a:solidFill>
          <a:ln w="12700">
            <a:solidFill>
              <a:schemeClr val="tx1"/>
            </a:solidFill>
            <a:prstDash val="solid"/>
          </a:ln>
        </p:spPr>
      </p:sp>
      <p:pic>
        <p:nvPicPr>
          <p:cNvPr id="6" name="icon-1028" descr="preencoded.png">    </p:cNvPr>
          <p:cNvPicPr>
            <a:picLocks noChangeAspect="1"/>
          </p:cNvPicPr>
          <p:nvPr/>
        </p:nvPicPr>
        <p:blipFill>
          <a:blip r:embed="rId1"/>
          <a:stretch>
            <a:fillRect/>
          </a:stretch>
        </p:blipFill>
        <p:spPr>
          <a:xfrm>
            <a:off x="9646920" y="2606040"/>
            <a:ext cx="1188720" cy="118872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Proving the guardrails by breaking them</a:t>
            </a:r>
            <a:endParaRPr lang="en-US" sz="3400" dirty="0"/>
          </a:p>
        </p:txBody>
      </p:sp>
      <p:sp>
        <p:nvSpPr>
          <p:cNvPr id="3" name="code-label-1029"/>
          <p:cNvSpPr txBox="1"/>
          <p:nvPr/>
        </p:nvSpPr>
        <p:spPr>
          <a:xfrm>
            <a:off x="868680" y="1280160"/>
            <a:ext cx="5943600" cy="274320"/>
          </a:xfrm>
          <a:prstGeom prst="rect">
            <a:avLst/>
          </a:prstGeom>
          <a:noFill/>
          <a:ln/>
        </p:spPr>
        <p:txBody>
          <a:bodyPr wrap="square" lIns="0" tIns="0" rIns="0" bIns="0" rtlCol="0" anchor="ctr"/>
          <a:lstStyle/>
          <a:p>
            <a:pPr indent="0" marL="0">
              <a:buNone/>
            </a:pPr>
            <a:r>
              <a:rPr lang="en-US" sz="1100" b="1" dirty="0">
                <a:solidFill>
                  <a:schemeClr val="tx2"/>
                </a:solidFill>
              </a:rPr>
              <a:t>scripts/verify-guardrails.sh output</a:t>
            </a:r>
            <a:endParaRPr lang="en-US" sz="1100" dirty="0"/>
          </a:p>
        </p:txBody>
      </p:sp>
      <p:sp>
        <p:nvSpPr>
          <p:cNvPr id="4" name="code-bg-1030"/>
          <p:cNvSpPr/>
          <p:nvPr/>
        </p:nvSpPr>
        <p:spPr>
          <a:xfrm>
            <a:off x="868680" y="1572768"/>
            <a:ext cx="5943600" cy="2818384"/>
          </a:xfrm>
          <a:prstGeom prst="roundRect">
            <a:avLst>
              <a:gd name="adj" fmla="val 2596"/>
            </a:avLst>
          </a:prstGeom>
          <a:solidFill>
            <a:schemeClr val="tx1"/>
          </a:solidFill>
          <a:ln w="12700">
            <a:solidFill>
              <a:schemeClr val="tx1"/>
            </a:solidFill>
            <a:prstDash val="solid"/>
          </a:ln>
        </p:spPr>
      </p:sp>
      <p:sp>
        <p:nvSpPr>
          <p:cNvPr id="5" name="code-1031"/>
          <p:cNvSpPr txBox="1"/>
          <p:nvPr/>
        </p:nvSpPr>
        <p:spPr>
          <a:xfrm>
            <a:off x="1051560" y="1737360"/>
            <a:ext cx="5623560" cy="2507488"/>
          </a:xfrm>
          <a:prstGeom prst="rect">
            <a:avLst/>
          </a:prstGeom>
          <a:noFill/>
          <a:ln/>
        </p:spPr>
        <p:txBody>
          <a:bodyPr wrap="square" lIns="0" tIns="0" rIns="0" bIns="0" rtlCol="0" anchor="t"/>
          <a:lstStyle/>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Workload guardrails (Workloads OU)</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PASS  IAM user creation is denied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PASS  Internet gateway creation is denied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PASS  VPC peering is denied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Baseline guardrails (whole org)</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PASS  Region eu-west-1 is denied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PASS  AWS Config recorder cannot be stopped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PASS  GuardDuty cannot be disabled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PASS  OrganizationAccountAccessRole cannot be modified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Network segmentation (Transit Gateway)</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PASS  Spokes can reach shared services</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PASS  Dev has no route to prod</a:t>
            </a:r>
            <a:endParaRPr lang="en-US" sz="1100" dirty="0"/>
          </a:p>
        </p:txBody>
      </p:sp>
      <p:sp>
        <p:nvSpPr>
          <p:cNvPr id="6" name="marker-1032"/>
          <p:cNvSpPr/>
          <p:nvPr/>
        </p:nvSpPr>
        <p:spPr>
          <a:xfrm>
            <a:off x="7223760" y="1371600"/>
            <a:ext cx="329184" cy="329184"/>
          </a:xfrm>
          <a:prstGeom prst="ellipse">
            <a:avLst/>
          </a:prstGeom>
          <a:solidFill>
            <a:schemeClr val="accent2"/>
          </a:solidFill>
          <a:ln w="12700">
            <a:solidFill>
              <a:schemeClr val="accent2"/>
            </a:solidFill>
            <a:prstDash val="solid"/>
          </a:ln>
        </p:spPr>
      </p:sp>
      <p:sp>
        <p:nvSpPr>
          <p:cNvPr id="7" name="marker-n-1033"/>
          <p:cNvSpPr txBox="1"/>
          <p:nvPr/>
        </p:nvSpPr>
        <p:spPr>
          <a:xfrm>
            <a:off x="7223760" y="137160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8" name="callout-1034"/>
          <p:cNvSpPr txBox="1"/>
          <p:nvPr/>
        </p:nvSpPr>
        <p:spPr>
          <a:xfrm>
            <a:off x="7680960" y="1353312"/>
            <a:ext cx="402336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Runs as an admin in dev</a:t>
            </a:r>
            <a:endParaRPr lang="en-US" sz="1500" dirty="0"/>
          </a:p>
          <a:p>
            <a:pPr indent="0" marL="0">
              <a:spcAft>
                <a:spcPts val="200"/>
              </a:spcAft>
              <a:buNone/>
            </a:pPr>
            <a:r>
              <a:rPr lang="en-US" sz="1400" dirty="0">
                <a:solidFill>
                  <a:schemeClr val="tx1"/>
                </a:solidFill>
              </a:rPr>
              <a:t>The point is that SCPs stop even administrators.</a:t>
            </a:r>
            <a:endParaRPr lang="en-US" sz="1500" dirty="0"/>
          </a:p>
        </p:txBody>
      </p:sp>
      <p:sp>
        <p:nvSpPr>
          <p:cNvPr id="9" name="marker-1035"/>
          <p:cNvSpPr/>
          <p:nvPr/>
        </p:nvSpPr>
        <p:spPr>
          <a:xfrm>
            <a:off x="7223760" y="2301240"/>
            <a:ext cx="329184" cy="329184"/>
          </a:xfrm>
          <a:prstGeom prst="ellipse">
            <a:avLst/>
          </a:prstGeom>
          <a:solidFill>
            <a:schemeClr val="accent2"/>
          </a:solidFill>
          <a:ln w="12700">
            <a:solidFill>
              <a:schemeClr val="accent2"/>
            </a:solidFill>
            <a:prstDash val="solid"/>
          </a:ln>
        </p:spPr>
      </p:sp>
      <p:sp>
        <p:nvSpPr>
          <p:cNvPr id="10" name="marker-n-1036"/>
          <p:cNvSpPr txBox="1"/>
          <p:nvPr/>
        </p:nvSpPr>
        <p:spPr>
          <a:xfrm>
            <a:off x="7223760" y="230124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1" name="callout-1037"/>
          <p:cNvSpPr txBox="1"/>
          <p:nvPr/>
        </p:nvSpPr>
        <p:spPr>
          <a:xfrm>
            <a:off x="7680960" y="2282952"/>
            <a:ext cx="4023360" cy="9601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The dry-run trick</a:t>
            </a:r>
            <a:endParaRPr lang="en-US" sz="1500" dirty="0"/>
          </a:p>
          <a:p>
            <a:pPr indent="0" marL="0">
              <a:spcAft>
                <a:spcPts val="200"/>
              </a:spcAft>
              <a:buNone/>
            </a:pPr>
            <a:r>
              <a:rPr lang="en-US" sz="1400" dirty="0">
                <a:solidFill>
                  <a:schemeClr val="tx1"/>
                </a:solidFill>
              </a:rPr>
              <a:t>With --dry-run, AWS says DryRunOperation if a call would succeed and AccessDenied if a policy blocks it.</a:t>
            </a:r>
            <a:endParaRPr lang="en-US" sz="1500" dirty="0"/>
          </a:p>
        </p:txBody>
      </p:sp>
      <p:sp>
        <p:nvSpPr>
          <p:cNvPr id="12" name="marker-1038"/>
          <p:cNvSpPr/>
          <p:nvPr/>
        </p:nvSpPr>
        <p:spPr>
          <a:xfrm>
            <a:off x="7223760" y="3444240"/>
            <a:ext cx="329184" cy="329184"/>
          </a:xfrm>
          <a:prstGeom prst="ellipse">
            <a:avLst/>
          </a:prstGeom>
          <a:solidFill>
            <a:schemeClr val="accent2"/>
          </a:solidFill>
          <a:ln w="12700">
            <a:solidFill>
              <a:schemeClr val="accent2"/>
            </a:solidFill>
            <a:prstDash val="solid"/>
          </a:ln>
        </p:spPr>
      </p:sp>
      <p:sp>
        <p:nvSpPr>
          <p:cNvPr id="13" name="marker-n-1039"/>
          <p:cNvSpPr txBox="1"/>
          <p:nvPr/>
        </p:nvSpPr>
        <p:spPr>
          <a:xfrm>
            <a:off x="7223760" y="344424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4" name="callout-1040"/>
          <p:cNvSpPr txBox="1"/>
          <p:nvPr/>
        </p:nvSpPr>
        <p:spPr>
          <a:xfrm>
            <a:off x="7680960" y="3425952"/>
            <a:ext cx="4023360" cy="74676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Self-healing tests</a:t>
            </a:r>
            <a:endParaRPr lang="en-US" sz="1500" dirty="0"/>
          </a:p>
          <a:p>
            <a:pPr indent="0" marL="0">
              <a:spcAft>
                <a:spcPts val="200"/>
              </a:spcAft>
              <a:buNone/>
            </a:pPr>
            <a:r>
              <a:rPr lang="en-US" sz="1400" dirty="0">
                <a:solidFill>
                  <a:schemeClr val="tx1"/>
                </a:solidFill>
              </a:rPr>
              <a:t>If a guardrail is missing and a change goes through, the script reverts it right away.</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CI checks on every push</a:t>
            </a:r>
            <a:endParaRPr lang="en-US" sz="3400" dirty="0"/>
          </a:p>
        </p:txBody>
      </p:sp>
      <p:sp>
        <p:nvSpPr>
          <p:cNvPr id="3" name="box-1041"/>
          <p:cNvSpPr/>
          <p:nvPr/>
        </p:nvSpPr>
        <p:spPr>
          <a:xfrm>
            <a:off x="502920" y="1463040"/>
            <a:ext cx="1920240" cy="1097280"/>
          </a:xfrm>
          <a:prstGeom prst="roundRect">
            <a:avLst>
              <a:gd name="adj" fmla="val 6667"/>
            </a:avLst>
          </a:prstGeom>
          <a:solidFill>
            <a:schemeClr val="tx1"/>
          </a:solidFill>
          <a:ln w="9525">
            <a:solidFill>
              <a:schemeClr val="tx1"/>
            </a:solidFill>
            <a:prstDash val="solid"/>
          </a:ln>
        </p:spPr>
      </p:sp>
      <p:sp>
        <p:nvSpPr>
          <p:cNvPr id="4" name="box-t-1042"/>
          <p:cNvSpPr txBox="1"/>
          <p:nvPr/>
        </p:nvSpPr>
        <p:spPr>
          <a:xfrm>
            <a:off x="548640" y="1463040"/>
            <a:ext cx="1828800" cy="1097280"/>
          </a:xfrm>
          <a:prstGeom prst="rect">
            <a:avLst/>
          </a:prstGeom>
          <a:noFill/>
          <a:ln/>
        </p:spPr>
        <p:txBody>
          <a:bodyPr wrap="square" lIns="508" tIns="508" rIns="508" bIns="508" rtlCol="0" anchor="ctr"/>
          <a:lstStyle/>
          <a:p>
            <a:pPr algn="ctr" indent="0" marL="0">
              <a:buNone/>
            </a:pPr>
            <a:r>
              <a:rPr lang="en-US" sz="1500" b="1" dirty="0">
                <a:solidFill>
                  <a:schemeClr val="bg1"/>
                </a:solidFill>
              </a:rPr>
              <a:t>git push</a:t>
            </a:r>
            <a:endParaRPr lang="en-US" sz="1500" dirty="0"/>
          </a:p>
          <a:p>
            <a:pPr algn="ctr" indent="0" marL="0">
              <a:buNone/>
            </a:pPr>
            <a:r>
              <a:rPr lang="en-US" sz="1200" dirty="0">
                <a:solidFill>
                  <a:schemeClr val="bg1"/>
                </a:solidFill>
              </a:rPr>
              <a:t>or pull request</a:t>
            </a:r>
            <a:endParaRPr lang="en-US" sz="1500" dirty="0"/>
          </a:p>
        </p:txBody>
      </p:sp>
      <p:sp>
        <p:nvSpPr>
          <p:cNvPr id="5" name="arrow-1043"/>
          <p:cNvSpPr/>
          <p:nvPr/>
        </p:nvSpPr>
        <p:spPr>
          <a:xfrm>
            <a:off x="2441448" y="2011680"/>
            <a:ext cx="329184" cy="0"/>
          </a:xfrm>
          <a:prstGeom prst="line">
            <a:avLst/>
          </a:prstGeom>
          <a:noFill/>
          <a:ln w="31750">
            <a:solidFill>
              <a:schemeClr val="accent2"/>
            </a:solidFill>
            <a:prstDash val="solid"/>
            <a:tailEnd type="triangle"/>
          </a:ln>
        </p:spPr>
      </p:sp>
      <p:sp>
        <p:nvSpPr>
          <p:cNvPr id="6" name="box-1044"/>
          <p:cNvSpPr/>
          <p:nvPr/>
        </p:nvSpPr>
        <p:spPr>
          <a:xfrm>
            <a:off x="2788920" y="1463040"/>
            <a:ext cx="1920240" cy="1097280"/>
          </a:xfrm>
          <a:prstGeom prst="roundRect">
            <a:avLst>
              <a:gd name="adj" fmla="val 6667"/>
            </a:avLst>
          </a:prstGeom>
          <a:solidFill>
            <a:schemeClr val="accent1"/>
          </a:solidFill>
          <a:ln w="9525">
            <a:solidFill>
              <a:schemeClr val="accent1"/>
            </a:solidFill>
            <a:prstDash val="solid"/>
          </a:ln>
        </p:spPr>
      </p:sp>
      <p:sp>
        <p:nvSpPr>
          <p:cNvPr id="7" name="box-t-1045"/>
          <p:cNvSpPr txBox="1"/>
          <p:nvPr/>
        </p:nvSpPr>
        <p:spPr>
          <a:xfrm>
            <a:off x="2834640" y="1463040"/>
            <a:ext cx="1828800" cy="1097280"/>
          </a:xfrm>
          <a:prstGeom prst="rect">
            <a:avLst/>
          </a:prstGeom>
          <a:noFill/>
          <a:ln/>
        </p:spPr>
        <p:txBody>
          <a:bodyPr wrap="square" lIns="508" tIns="508" rIns="508" bIns="508" rtlCol="0" anchor="ctr"/>
          <a:lstStyle/>
          <a:p>
            <a:pPr algn="ctr" indent="0" marL="0">
              <a:buNone/>
            </a:pPr>
            <a:r>
              <a:rPr lang="en-US" sz="1500" b="1" dirty="0">
                <a:solidFill>
                  <a:schemeClr val="bg1"/>
                </a:solidFill>
              </a:rPr>
              <a:t>terraform fmt</a:t>
            </a:r>
            <a:endParaRPr lang="en-US" sz="1500" dirty="0"/>
          </a:p>
          <a:p>
            <a:pPr algn="ctr" indent="0" marL="0">
              <a:buNone/>
            </a:pPr>
            <a:r>
              <a:rPr lang="en-US" sz="1200" dirty="0">
                <a:solidFill>
                  <a:schemeClr val="bg1"/>
                </a:solidFill>
              </a:rPr>
              <a:t>style check</a:t>
            </a:r>
            <a:endParaRPr lang="en-US" sz="1500" dirty="0"/>
          </a:p>
        </p:txBody>
      </p:sp>
      <p:sp>
        <p:nvSpPr>
          <p:cNvPr id="8" name="arrow-1046"/>
          <p:cNvSpPr/>
          <p:nvPr/>
        </p:nvSpPr>
        <p:spPr>
          <a:xfrm>
            <a:off x="4727448" y="2011680"/>
            <a:ext cx="329184" cy="0"/>
          </a:xfrm>
          <a:prstGeom prst="line">
            <a:avLst/>
          </a:prstGeom>
          <a:noFill/>
          <a:ln w="31750">
            <a:solidFill>
              <a:schemeClr val="accent2"/>
            </a:solidFill>
            <a:prstDash val="solid"/>
            <a:tailEnd type="triangle"/>
          </a:ln>
        </p:spPr>
      </p:sp>
      <p:sp>
        <p:nvSpPr>
          <p:cNvPr id="9" name="box-1047"/>
          <p:cNvSpPr/>
          <p:nvPr/>
        </p:nvSpPr>
        <p:spPr>
          <a:xfrm>
            <a:off x="5074920" y="1463040"/>
            <a:ext cx="1920240" cy="1097280"/>
          </a:xfrm>
          <a:prstGeom prst="roundRect">
            <a:avLst>
              <a:gd name="adj" fmla="val 6667"/>
            </a:avLst>
          </a:prstGeom>
          <a:solidFill>
            <a:schemeClr val="accent1"/>
          </a:solidFill>
          <a:ln w="9525">
            <a:solidFill>
              <a:schemeClr val="accent1"/>
            </a:solidFill>
            <a:prstDash val="solid"/>
          </a:ln>
        </p:spPr>
      </p:sp>
      <p:sp>
        <p:nvSpPr>
          <p:cNvPr id="10" name="box-t-1048"/>
          <p:cNvSpPr txBox="1"/>
          <p:nvPr/>
        </p:nvSpPr>
        <p:spPr>
          <a:xfrm>
            <a:off x="5120640" y="1463040"/>
            <a:ext cx="1828800" cy="1097280"/>
          </a:xfrm>
          <a:prstGeom prst="rect">
            <a:avLst/>
          </a:prstGeom>
          <a:noFill/>
          <a:ln/>
        </p:spPr>
        <p:txBody>
          <a:bodyPr wrap="square" lIns="508" tIns="508" rIns="508" bIns="508" rtlCol="0" anchor="ctr"/>
          <a:lstStyle/>
          <a:p>
            <a:pPr algn="ctr" indent="0" marL="0">
              <a:buNone/>
            </a:pPr>
            <a:r>
              <a:rPr lang="en-US" sz="1500" b="1" dirty="0">
                <a:solidFill>
                  <a:schemeClr val="bg1"/>
                </a:solidFill>
              </a:rPr>
              <a:t>validate</a:t>
            </a:r>
            <a:endParaRPr lang="en-US" sz="1500" dirty="0"/>
          </a:p>
          <a:p>
            <a:pPr algn="ctr" indent="0" marL="0">
              <a:buNone/>
            </a:pPr>
            <a:r>
              <a:rPr lang="en-US" sz="1200" dirty="0">
                <a:solidFill>
                  <a:schemeClr val="bg1"/>
                </a:solidFill>
              </a:rPr>
              <a:t>every layer and module</a:t>
            </a:r>
            <a:endParaRPr lang="en-US" sz="1500" dirty="0"/>
          </a:p>
        </p:txBody>
      </p:sp>
      <p:sp>
        <p:nvSpPr>
          <p:cNvPr id="11" name="arrow-1049"/>
          <p:cNvSpPr/>
          <p:nvPr/>
        </p:nvSpPr>
        <p:spPr>
          <a:xfrm>
            <a:off x="7013448" y="2011680"/>
            <a:ext cx="329184" cy="0"/>
          </a:xfrm>
          <a:prstGeom prst="line">
            <a:avLst/>
          </a:prstGeom>
          <a:noFill/>
          <a:ln w="31750">
            <a:solidFill>
              <a:schemeClr val="accent2"/>
            </a:solidFill>
            <a:prstDash val="solid"/>
            <a:tailEnd type="triangle"/>
          </a:ln>
        </p:spPr>
      </p:sp>
      <p:sp>
        <p:nvSpPr>
          <p:cNvPr id="12" name="box-1050"/>
          <p:cNvSpPr/>
          <p:nvPr/>
        </p:nvSpPr>
        <p:spPr>
          <a:xfrm>
            <a:off x="7360920" y="1463040"/>
            <a:ext cx="1920240" cy="1097280"/>
          </a:xfrm>
          <a:prstGeom prst="roundRect">
            <a:avLst>
              <a:gd name="adj" fmla="val 6667"/>
            </a:avLst>
          </a:prstGeom>
          <a:solidFill>
            <a:schemeClr val="accent1"/>
          </a:solidFill>
          <a:ln w="9525">
            <a:solidFill>
              <a:schemeClr val="accent1"/>
            </a:solidFill>
            <a:prstDash val="solid"/>
          </a:ln>
        </p:spPr>
      </p:sp>
      <p:sp>
        <p:nvSpPr>
          <p:cNvPr id="13" name="box-t-1051"/>
          <p:cNvSpPr txBox="1"/>
          <p:nvPr/>
        </p:nvSpPr>
        <p:spPr>
          <a:xfrm>
            <a:off x="7406640" y="1463040"/>
            <a:ext cx="1828800" cy="1097280"/>
          </a:xfrm>
          <a:prstGeom prst="rect">
            <a:avLst/>
          </a:prstGeom>
          <a:noFill/>
          <a:ln/>
        </p:spPr>
        <p:txBody>
          <a:bodyPr wrap="square" lIns="508" tIns="508" rIns="508" bIns="508" rtlCol="0" anchor="ctr"/>
          <a:lstStyle/>
          <a:p>
            <a:pPr algn="ctr" indent="0" marL="0">
              <a:buNone/>
            </a:pPr>
            <a:r>
              <a:rPr lang="en-US" sz="1500" b="1" dirty="0">
                <a:solidFill>
                  <a:schemeClr val="bg1"/>
                </a:solidFill>
              </a:rPr>
              <a:t>tflint</a:t>
            </a:r>
            <a:endParaRPr lang="en-US" sz="1500" dirty="0"/>
          </a:p>
          <a:p>
            <a:pPr algn="ctr" indent="0" marL="0">
              <a:buNone/>
            </a:pPr>
            <a:r>
              <a:rPr lang="en-US" sz="1200" dirty="0">
                <a:solidFill>
                  <a:schemeClr val="bg1"/>
                </a:solidFill>
              </a:rPr>
              <a:t>AWS rule set</a:t>
            </a:r>
            <a:endParaRPr lang="en-US" sz="1500" dirty="0"/>
          </a:p>
        </p:txBody>
      </p:sp>
      <p:sp>
        <p:nvSpPr>
          <p:cNvPr id="14" name="arrow-1052"/>
          <p:cNvSpPr/>
          <p:nvPr/>
        </p:nvSpPr>
        <p:spPr>
          <a:xfrm>
            <a:off x="9299448" y="2011680"/>
            <a:ext cx="329184" cy="0"/>
          </a:xfrm>
          <a:prstGeom prst="line">
            <a:avLst/>
          </a:prstGeom>
          <a:noFill/>
          <a:ln w="31750">
            <a:solidFill>
              <a:schemeClr val="accent2"/>
            </a:solidFill>
            <a:prstDash val="solid"/>
            <a:tailEnd type="triangle"/>
          </a:ln>
        </p:spPr>
      </p:sp>
      <p:sp>
        <p:nvSpPr>
          <p:cNvPr id="15" name="box-1053"/>
          <p:cNvSpPr/>
          <p:nvPr/>
        </p:nvSpPr>
        <p:spPr>
          <a:xfrm>
            <a:off x="9646920" y="1463040"/>
            <a:ext cx="1920240" cy="1097280"/>
          </a:xfrm>
          <a:prstGeom prst="roundRect">
            <a:avLst>
              <a:gd name="adj" fmla="val 6667"/>
            </a:avLst>
          </a:prstGeom>
          <a:solidFill>
            <a:schemeClr val="accent3"/>
          </a:solidFill>
          <a:ln w="9525">
            <a:solidFill>
              <a:schemeClr val="accent3"/>
            </a:solidFill>
            <a:prstDash val="solid"/>
          </a:ln>
        </p:spPr>
      </p:sp>
      <p:sp>
        <p:nvSpPr>
          <p:cNvPr id="16" name="box-t-1054"/>
          <p:cNvSpPr txBox="1"/>
          <p:nvPr/>
        </p:nvSpPr>
        <p:spPr>
          <a:xfrm>
            <a:off x="9692640" y="1463040"/>
            <a:ext cx="1828800" cy="1097280"/>
          </a:xfrm>
          <a:prstGeom prst="rect">
            <a:avLst/>
          </a:prstGeom>
          <a:noFill/>
          <a:ln/>
        </p:spPr>
        <p:txBody>
          <a:bodyPr wrap="square" lIns="508" tIns="508" rIns="508" bIns="508" rtlCol="0" anchor="ctr"/>
          <a:lstStyle/>
          <a:p>
            <a:pPr algn="ctr" indent="0" marL="0">
              <a:buNone/>
            </a:pPr>
            <a:r>
              <a:rPr lang="en-US" sz="1500" b="1" dirty="0">
                <a:solidFill>
                  <a:schemeClr val="bg1"/>
                </a:solidFill>
              </a:rPr>
              <a:t>checkov</a:t>
            </a:r>
            <a:endParaRPr lang="en-US" sz="1500" dirty="0"/>
          </a:p>
          <a:p>
            <a:pPr algn="ctr" indent="0" marL="0">
              <a:buNone/>
            </a:pPr>
            <a:r>
              <a:rPr lang="en-US" sz="1200" dirty="0">
                <a:solidFill>
                  <a:schemeClr val="bg1"/>
                </a:solidFill>
              </a:rPr>
              <a:t>security scan</a:t>
            </a:r>
            <a:endParaRPr lang="en-US" sz="1500" dirty="0"/>
          </a:p>
        </p:txBody>
      </p:sp>
      <p:sp>
        <p:nvSpPr>
          <p:cNvPr id="17" name="code-label-1055"/>
          <p:cNvSpPr txBox="1"/>
          <p:nvPr/>
        </p:nvSpPr>
        <p:spPr>
          <a:xfrm>
            <a:off x="868680" y="3154680"/>
            <a:ext cx="6675120" cy="274320"/>
          </a:xfrm>
          <a:prstGeom prst="rect">
            <a:avLst/>
          </a:prstGeom>
          <a:noFill/>
          <a:ln/>
        </p:spPr>
        <p:txBody>
          <a:bodyPr wrap="square" lIns="0" tIns="0" rIns="0" bIns="0" rtlCol="0" anchor="ctr"/>
          <a:lstStyle/>
          <a:p>
            <a:pPr indent="0" marL="0">
              <a:buNone/>
            </a:pPr>
            <a:r>
              <a:rPr lang="en-US" sz="1100" b="1" dirty="0">
                <a:solidFill>
                  <a:schemeClr val="tx2"/>
                </a:solidFill>
              </a:rPr>
              <a:t>A documented exception, next to the resource it applies to</a:t>
            </a:r>
            <a:endParaRPr lang="en-US" sz="1100" dirty="0"/>
          </a:p>
        </p:txBody>
      </p:sp>
      <p:sp>
        <p:nvSpPr>
          <p:cNvPr id="18" name="code-bg-1056"/>
          <p:cNvSpPr/>
          <p:nvPr/>
        </p:nvSpPr>
        <p:spPr>
          <a:xfrm>
            <a:off x="868680" y="3447288"/>
            <a:ext cx="6675120" cy="1218184"/>
          </a:xfrm>
          <a:prstGeom prst="roundRect">
            <a:avLst>
              <a:gd name="adj" fmla="val 6005"/>
            </a:avLst>
          </a:prstGeom>
          <a:solidFill>
            <a:schemeClr val="tx1"/>
          </a:solidFill>
          <a:ln w="12700">
            <a:solidFill>
              <a:schemeClr val="tx1"/>
            </a:solidFill>
            <a:prstDash val="solid"/>
          </a:ln>
        </p:spPr>
      </p:sp>
      <p:sp>
        <p:nvSpPr>
          <p:cNvPr id="19" name="code-1057"/>
          <p:cNvSpPr txBox="1"/>
          <p:nvPr/>
        </p:nvSpPr>
        <p:spPr>
          <a:xfrm>
            <a:off x="1051560" y="3611880"/>
            <a:ext cx="6355080" cy="907288"/>
          </a:xfrm>
          <a:prstGeom prst="rect">
            <a:avLst/>
          </a:prstGeom>
          <a:noFill/>
          <a:ln/>
        </p:spPr>
        <p:txBody>
          <a:bodyPr wrap="square" lIns="0" tIns="0" rIns="0" bIns="0" rtlCol="0" anchor="t"/>
          <a:lstStyle/>
          <a:p>
            <a:pPr indent="0" marL="0">
              <a:lnSpc>
                <a:spcPts val="1400"/>
              </a:lnSpc>
              <a:buNone/>
            </a:pPr>
            <a:r>
              <a:rPr lang="en-US" sz="1100" b="1" dirty="0">
                <a:solidFill>
                  <a:schemeClr val="accent2"/>
                </a:solidFill>
                <a:latin typeface="Courier New" pitchFamily="34" charset="0"/>
                <a:ea typeface="Courier New" pitchFamily="34" charset="-122"/>
                <a:cs typeface="Courier New" pitchFamily="34" charset="-120"/>
              </a:rPr>
              <a:t>resource</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"aws_ec2_transit_gateway"</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accent6"/>
                </a:solidFill>
                <a:latin typeface="Courier New" pitchFamily="34" charset="0"/>
                <a:ea typeface="Courier New" pitchFamily="34" charset="-122"/>
                <a:cs typeface="Courier New" pitchFamily="34" charset="-120"/>
              </a:rPr>
              <a:t>"hub"</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i="1" dirty="0">
                <a:solidFill>
                  <a:schemeClr val="tx2"/>
                </a:solidFill>
                <a:latin typeface="Courier New" pitchFamily="34" charset="0"/>
                <a:ea typeface="Courier New" pitchFamily="34" charset="-122"/>
                <a:cs typeface="Courier New" pitchFamily="34" charset="-120"/>
              </a:rPr>
              <a:t>#checkov:skip=CKV_AWS_331:Shared org-only, and new</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i="1" dirty="0">
                <a:solidFill>
                  <a:schemeClr val="tx2"/>
                </a:solidFill>
                <a:latin typeface="Courier New" pitchFamily="34" charset="0"/>
                <a:ea typeface="Courier New" pitchFamily="34" charset="-122"/>
                <a:cs typeface="Courier New" pitchFamily="34" charset="-120"/>
              </a:rPr>
              <a:t># attachments join no route table until associated.</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  </a:t>
            </a:r>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20" name="text-1058"/>
          <p:cNvSpPr txBox="1"/>
          <p:nvPr/>
        </p:nvSpPr>
        <p:spPr>
          <a:xfrm>
            <a:off x="8046720" y="3108960"/>
            <a:ext cx="3657600" cy="1463040"/>
          </a:xfrm>
          <a:prstGeom prst="rect">
            <a:avLst/>
          </a:prstGeom>
          <a:noFill/>
          <a:ln/>
        </p:spPr>
        <p:txBody>
          <a:bodyPr wrap="square" lIns="0" tIns="0" rIns="0" bIns="0" rtlCol="0" anchor="t"/>
          <a:lstStyle/>
          <a:p>
            <a:pPr indent="0" marL="0">
              <a:buNone/>
            </a:pPr>
            <a:r>
              <a:rPr lang="en-US" sz="6000" b="1" dirty="0">
                <a:solidFill>
                  <a:schemeClr val="accent3"/>
                </a:solidFill>
              </a:rPr>
              <a:t>103</a:t>
            </a:r>
            <a:endParaRPr lang="en-US" sz="1400" dirty="0"/>
          </a:p>
          <a:p>
            <a:pPr indent="0" marL="0">
              <a:buNone/>
            </a:pPr>
            <a:r>
              <a:rPr lang="en-US" sz="1500" dirty="0">
                <a:solidFill>
                  <a:schemeClr val="tx1"/>
                </a:solidFill>
              </a:rPr>
              <a:t>checkov checks passed, 0 failed</a:t>
            </a:r>
            <a:endParaRPr lang="en-US" sz="1400" dirty="0"/>
          </a:p>
        </p:txBody>
      </p:sp>
      <p:sp>
        <p:nvSpPr>
          <p:cNvPr id="21" name="text-1059"/>
          <p:cNvSpPr txBox="1"/>
          <p:nvPr/>
        </p:nvSpPr>
        <p:spPr>
          <a:xfrm>
            <a:off x="8046720" y="4709160"/>
            <a:ext cx="3657600" cy="1097280"/>
          </a:xfrm>
          <a:prstGeom prst="rect">
            <a:avLst/>
          </a:prstGeom>
          <a:noFill/>
          <a:ln/>
        </p:spPr>
        <p:txBody>
          <a:bodyPr wrap="square" lIns="0" tIns="0" rIns="0" bIns="0" rtlCol="0" anchor="t"/>
          <a:lstStyle/>
          <a:p>
            <a:pPr indent="0" marL="0">
              <a:buNone/>
            </a:pPr>
            <a:r>
              <a:rPr lang="en-US" sz="1500" dirty="0">
                <a:solidFill>
                  <a:schemeClr val="tx2"/>
                </a:solidFill>
              </a:rPr>
              <a:t>Every skip has a written reason. A scanner finding is a question to answer, not a box to silence.</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What it costs to run</a:t>
            </a:r>
            <a:endParaRPr lang="en-US" sz="3400" dirty="0"/>
          </a:p>
        </p:txBody>
      </p:sp>
      <p:sp>
        <p:nvSpPr>
          <p:cNvPr id="3" name="card-1060"/>
          <p:cNvSpPr/>
          <p:nvPr/>
        </p:nvSpPr>
        <p:spPr>
          <a:xfrm>
            <a:off x="502920" y="1371600"/>
            <a:ext cx="3611880" cy="2743200"/>
          </a:xfrm>
          <a:prstGeom prst="roundRect">
            <a:avLst>
              <a:gd name="adj" fmla="val 3333"/>
            </a:avLst>
          </a:prstGeom>
          <a:solidFill>
            <a:schemeClr val="bg2"/>
          </a:solidFill>
          <a:ln w="12700">
            <a:solidFill>
              <a:schemeClr val="bg2"/>
            </a:solidFill>
            <a:prstDash val="solid"/>
          </a:ln>
        </p:spPr>
      </p:sp>
      <p:sp>
        <p:nvSpPr>
          <p:cNvPr id="4" name="text-1061"/>
          <p:cNvSpPr txBox="1"/>
          <p:nvPr/>
        </p:nvSpPr>
        <p:spPr>
          <a:xfrm>
            <a:off x="777240" y="1554480"/>
            <a:ext cx="3108960" cy="1097280"/>
          </a:xfrm>
          <a:prstGeom prst="rect">
            <a:avLst/>
          </a:prstGeom>
          <a:noFill/>
          <a:ln/>
        </p:spPr>
        <p:txBody>
          <a:bodyPr wrap="square" lIns="0" tIns="0" rIns="0" bIns="0" rtlCol="0" anchor="t"/>
          <a:lstStyle/>
          <a:p>
            <a:pPr indent="0" marL="0">
              <a:buNone/>
            </a:pPr>
            <a:r>
              <a:rPr lang="en-US" sz="6000" b="1" dirty="0">
                <a:solidFill>
                  <a:schemeClr val="accent3"/>
                </a:solidFill>
                <a:latin typeface="Arial" pitchFamily="34" charset="0"/>
                <a:ea typeface="Arial" pitchFamily="34" charset="-122"/>
                <a:cs typeface="Arial" pitchFamily="34" charset="-120"/>
              </a:rPr>
              <a:t>$0</a:t>
            </a:r>
            <a:endParaRPr lang="en-US" sz="6000" dirty="0"/>
          </a:p>
        </p:txBody>
      </p:sp>
      <p:sp>
        <p:nvSpPr>
          <p:cNvPr id="5" name="text-1062"/>
          <p:cNvSpPr txBox="1"/>
          <p:nvPr/>
        </p:nvSpPr>
        <p:spPr>
          <a:xfrm>
            <a:off x="777240" y="2743200"/>
            <a:ext cx="3108960" cy="1188720"/>
          </a:xfrm>
          <a:prstGeom prst="rect">
            <a:avLst/>
          </a:prstGeom>
          <a:noFill/>
          <a:ln/>
        </p:spPr>
        <p:txBody>
          <a:bodyPr wrap="square" lIns="0" tIns="0" rIns="0" bIns="0" rtlCol="0" anchor="t"/>
          <a:lstStyle/>
          <a:p>
            <a:pPr indent="0" marL="0">
              <a:buNone/>
            </a:pPr>
            <a:r>
              <a:rPr lang="en-US" sz="1500" dirty="0">
                <a:solidFill>
                  <a:schemeClr val="tx1"/>
                </a:solidFill>
              </a:rPr>
              <a:t>Organizations, SCPs, Identity Center, Access Analyzer, budgets</a:t>
            </a:r>
            <a:endParaRPr lang="en-US" sz="1500" dirty="0"/>
          </a:p>
        </p:txBody>
      </p:sp>
      <p:sp>
        <p:nvSpPr>
          <p:cNvPr id="6" name="card-1063"/>
          <p:cNvSpPr/>
          <p:nvPr/>
        </p:nvSpPr>
        <p:spPr>
          <a:xfrm>
            <a:off x="4297680" y="1371600"/>
            <a:ext cx="3611880" cy="2743200"/>
          </a:xfrm>
          <a:prstGeom prst="roundRect">
            <a:avLst>
              <a:gd name="adj" fmla="val 3333"/>
            </a:avLst>
          </a:prstGeom>
          <a:solidFill>
            <a:schemeClr val="bg2"/>
          </a:solidFill>
          <a:ln w="12700">
            <a:solidFill>
              <a:schemeClr val="bg2"/>
            </a:solidFill>
            <a:prstDash val="solid"/>
          </a:ln>
        </p:spPr>
      </p:sp>
      <p:sp>
        <p:nvSpPr>
          <p:cNvPr id="7" name="text-1064"/>
          <p:cNvSpPr txBox="1"/>
          <p:nvPr/>
        </p:nvSpPr>
        <p:spPr>
          <a:xfrm>
            <a:off x="4572000" y="1554480"/>
            <a:ext cx="3108960" cy="1097280"/>
          </a:xfrm>
          <a:prstGeom prst="rect">
            <a:avLst/>
          </a:prstGeom>
          <a:noFill/>
          <a:ln/>
        </p:spPr>
        <p:txBody>
          <a:bodyPr wrap="square" lIns="0" tIns="0" rIns="0" bIns="0" rtlCol="0" anchor="t"/>
          <a:lstStyle/>
          <a:p>
            <a:pPr indent="0" marL="0">
              <a:buNone/>
            </a:pPr>
            <a:r>
              <a:rPr lang="en-US" sz="6000" b="1" dirty="0">
                <a:solidFill>
                  <a:schemeClr val="accent1"/>
                </a:solidFill>
                <a:latin typeface="Arial" pitchFamily="34" charset="0"/>
                <a:ea typeface="Arial" pitchFamily="34" charset="-122"/>
                <a:cs typeface="Arial" pitchFamily="34" charset="-120"/>
              </a:rPr>
              <a:t>~$2</a:t>
            </a:r>
            <a:endParaRPr lang="en-US" sz="6000" dirty="0"/>
          </a:p>
        </p:txBody>
      </p:sp>
      <p:sp>
        <p:nvSpPr>
          <p:cNvPr id="8" name="text-1065"/>
          <p:cNvSpPr txBox="1"/>
          <p:nvPr/>
        </p:nvSpPr>
        <p:spPr>
          <a:xfrm>
            <a:off x="4572000" y="2743200"/>
            <a:ext cx="3108960" cy="1188720"/>
          </a:xfrm>
          <a:prstGeom prst="rect">
            <a:avLst/>
          </a:prstGeom>
          <a:noFill/>
          <a:ln/>
        </p:spPr>
        <p:txBody>
          <a:bodyPr wrap="square" lIns="0" tIns="0" rIns="0" bIns="0" rtlCol="0" anchor="t"/>
          <a:lstStyle/>
          <a:p>
            <a:pPr indent="0" marL="0">
              <a:buNone/>
            </a:pPr>
            <a:r>
              <a:rPr lang="en-US" sz="1500" dirty="0">
                <a:solidFill>
                  <a:schemeClr val="tx1"/>
                </a:solidFill>
              </a:rPr>
              <a:t>per month for the two KMS keys</a:t>
            </a:r>
            <a:endParaRPr lang="en-US" sz="1500" dirty="0"/>
          </a:p>
        </p:txBody>
      </p:sp>
      <p:sp>
        <p:nvSpPr>
          <p:cNvPr id="9" name="card-1066"/>
          <p:cNvSpPr/>
          <p:nvPr/>
        </p:nvSpPr>
        <p:spPr>
          <a:xfrm>
            <a:off x="8092440" y="1371600"/>
            <a:ext cx="3611880" cy="2743200"/>
          </a:xfrm>
          <a:prstGeom prst="roundRect">
            <a:avLst>
              <a:gd name="adj" fmla="val 3333"/>
            </a:avLst>
          </a:prstGeom>
          <a:solidFill>
            <a:schemeClr val="bg2"/>
          </a:solidFill>
          <a:ln w="12700">
            <a:solidFill>
              <a:schemeClr val="bg2"/>
            </a:solidFill>
            <a:prstDash val="solid"/>
          </a:ln>
        </p:spPr>
      </p:sp>
      <p:sp>
        <p:nvSpPr>
          <p:cNvPr id="10" name="text-1067"/>
          <p:cNvSpPr txBox="1"/>
          <p:nvPr/>
        </p:nvSpPr>
        <p:spPr>
          <a:xfrm>
            <a:off x="8366760" y="1554480"/>
            <a:ext cx="3108960" cy="1097280"/>
          </a:xfrm>
          <a:prstGeom prst="rect">
            <a:avLst/>
          </a:prstGeom>
          <a:noFill/>
          <a:ln/>
        </p:spPr>
        <p:txBody>
          <a:bodyPr wrap="square" lIns="0" tIns="0" rIns="0" bIns="0" rtlCol="0" anchor="t"/>
          <a:lstStyle/>
          <a:p>
            <a:pPr indent="0" marL="0">
              <a:buNone/>
            </a:pPr>
            <a:r>
              <a:rPr lang="en-US" sz="6000" b="1" dirty="0">
                <a:solidFill>
                  <a:schemeClr val="accent4"/>
                </a:solidFill>
                <a:latin typeface="Arial" pitchFamily="34" charset="0"/>
                <a:ea typeface="Arial" pitchFamily="34" charset="-122"/>
                <a:cs typeface="Arial" pitchFamily="34" charset="-120"/>
              </a:rPr>
              <a:t>~$3.60</a:t>
            </a:r>
            <a:endParaRPr lang="en-US" sz="6000" dirty="0"/>
          </a:p>
        </p:txBody>
      </p:sp>
      <p:sp>
        <p:nvSpPr>
          <p:cNvPr id="11" name="text-1068"/>
          <p:cNvSpPr txBox="1"/>
          <p:nvPr/>
        </p:nvSpPr>
        <p:spPr>
          <a:xfrm>
            <a:off x="8366760" y="2743200"/>
            <a:ext cx="3108960" cy="1188720"/>
          </a:xfrm>
          <a:prstGeom prst="rect">
            <a:avLst/>
          </a:prstGeom>
          <a:noFill/>
          <a:ln/>
        </p:spPr>
        <p:txBody>
          <a:bodyPr wrap="square" lIns="0" tIns="0" rIns="0" bIns="0" rtlCol="0" anchor="t"/>
          <a:lstStyle/>
          <a:p>
            <a:pPr indent="0" marL="0">
              <a:buNone/>
            </a:pPr>
            <a:r>
              <a:rPr lang="en-US" sz="1500" dirty="0">
                <a:solidFill>
                  <a:schemeClr val="tx1"/>
                </a:solidFill>
              </a:rPr>
              <a:t>per day for the Transit Gateway: 3 attachments at $0.05 per hour</a:t>
            </a:r>
            <a:endParaRPr lang="en-US" sz="1500" dirty="0"/>
          </a:p>
        </p:txBody>
      </p:sp>
      <p:sp>
        <p:nvSpPr>
          <p:cNvPr id="12" name="marker-1069"/>
          <p:cNvSpPr/>
          <p:nvPr/>
        </p:nvSpPr>
        <p:spPr>
          <a:xfrm>
            <a:off x="502920" y="4480560"/>
            <a:ext cx="329184" cy="329184"/>
          </a:xfrm>
          <a:prstGeom prst="ellipse">
            <a:avLst/>
          </a:prstGeom>
          <a:solidFill>
            <a:schemeClr val="accent2"/>
          </a:solidFill>
          <a:ln w="12700">
            <a:solidFill>
              <a:schemeClr val="accent2"/>
            </a:solidFill>
            <a:prstDash val="solid"/>
          </a:ln>
        </p:spPr>
      </p:sp>
      <p:sp>
        <p:nvSpPr>
          <p:cNvPr id="13" name="marker-n-1070"/>
          <p:cNvSpPr txBox="1"/>
          <p:nvPr/>
        </p:nvSpPr>
        <p:spPr>
          <a:xfrm>
            <a:off x="502920" y="448056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4" name="callout-1071"/>
          <p:cNvSpPr txBox="1"/>
          <p:nvPr/>
        </p:nvSpPr>
        <p:spPr>
          <a:xfrm>
            <a:off x="960120" y="4462272"/>
            <a:ext cx="10698480" cy="533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GuardDuty and Security Hub</a:t>
            </a:r>
            <a:endParaRPr lang="en-US" sz="1500" dirty="0"/>
          </a:p>
          <a:p>
            <a:pPr indent="0" marL="0">
              <a:spcAft>
                <a:spcPts val="200"/>
              </a:spcAft>
              <a:buNone/>
            </a:pPr>
            <a:r>
              <a:rPr lang="en-US" sz="1400" dirty="0">
                <a:solidFill>
                  <a:schemeClr val="tx1"/>
                </a:solidFill>
              </a:rPr>
              <a:t>Free for 30 days, then usage-based. Each console shows a projected monthly cost during the trial.</a:t>
            </a:r>
            <a:endParaRPr lang="en-US" sz="1500" dirty="0"/>
          </a:p>
        </p:txBody>
      </p:sp>
      <p:sp>
        <p:nvSpPr>
          <p:cNvPr id="15" name="marker-1072"/>
          <p:cNvSpPr/>
          <p:nvPr/>
        </p:nvSpPr>
        <p:spPr>
          <a:xfrm>
            <a:off x="502920" y="5151120"/>
            <a:ext cx="329184" cy="329184"/>
          </a:xfrm>
          <a:prstGeom prst="ellipse">
            <a:avLst/>
          </a:prstGeom>
          <a:solidFill>
            <a:schemeClr val="accent2"/>
          </a:solidFill>
          <a:ln w="12700">
            <a:solidFill>
              <a:schemeClr val="accent2"/>
            </a:solidFill>
            <a:prstDash val="solid"/>
          </a:ln>
        </p:spPr>
      </p:sp>
      <p:sp>
        <p:nvSpPr>
          <p:cNvPr id="16" name="marker-n-1073"/>
          <p:cNvSpPr txBox="1"/>
          <p:nvPr/>
        </p:nvSpPr>
        <p:spPr>
          <a:xfrm>
            <a:off x="502920" y="515112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7" name="callout-1074"/>
          <p:cNvSpPr txBox="1"/>
          <p:nvPr/>
        </p:nvSpPr>
        <p:spPr>
          <a:xfrm>
            <a:off x="960120" y="5132832"/>
            <a:ext cx="10698480" cy="53340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Habit: apply the network to demo, then destroy it</a:t>
            </a:r>
            <a:endParaRPr lang="en-US" sz="1500" dirty="0"/>
          </a:p>
          <a:p>
            <a:pPr indent="0" marL="0">
              <a:spcAft>
                <a:spcPts val="200"/>
              </a:spcAft>
              <a:buNone/>
            </a:pPr>
            <a:r>
              <a:rPr lang="en-US" sz="1400" dirty="0">
                <a:solidFill>
                  <a:schemeClr val="tx1"/>
                </a:solidFill>
              </a:rPr>
              <a:t>The Transit Gateway is the only real cost. The budget alert from layer 01 is the backstop.</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Tearing it down in reverse</a:t>
            </a:r>
            <a:endParaRPr lang="en-US" sz="3400" dirty="0"/>
          </a:p>
        </p:txBody>
      </p:sp>
      <p:sp>
        <p:nvSpPr>
          <p:cNvPr id="3" name="box-1075"/>
          <p:cNvSpPr/>
          <p:nvPr/>
        </p:nvSpPr>
        <p:spPr>
          <a:xfrm>
            <a:off x="502920" y="1463040"/>
            <a:ext cx="2011680" cy="914400"/>
          </a:xfrm>
          <a:prstGeom prst="roundRect">
            <a:avLst>
              <a:gd name="adj" fmla="val 8000"/>
            </a:avLst>
          </a:prstGeom>
          <a:solidFill>
            <a:schemeClr val="accent1"/>
          </a:solidFill>
          <a:ln w="9525">
            <a:solidFill>
              <a:schemeClr val="accent1"/>
            </a:solidFill>
            <a:prstDash val="solid"/>
          </a:ln>
        </p:spPr>
      </p:sp>
      <p:sp>
        <p:nvSpPr>
          <p:cNvPr id="4" name="box-t-1076"/>
          <p:cNvSpPr txBox="1"/>
          <p:nvPr/>
        </p:nvSpPr>
        <p:spPr>
          <a:xfrm>
            <a:off x="548640" y="1463040"/>
            <a:ext cx="1920240" cy="914400"/>
          </a:xfrm>
          <a:prstGeom prst="rect">
            <a:avLst/>
          </a:prstGeom>
          <a:noFill/>
          <a:ln/>
        </p:spPr>
        <p:txBody>
          <a:bodyPr wrap="square" lIns="508" tIns="508" rIns="508" bIns="508" rtlCol="0" anchor="ctr"/>
          <a:lstStyle/>
          <a:p>
            <a:pPr algn="ctr" indent="0" marL="0">
              <a:buNone/>
            </a:pPr>
            <a:r>
              <a:rPr lang="en-US" sz="1600" b="1" dirty="0">
                <a:solidFill>
                  <a:schemeClr val="bg1"/>
                </a:solidFill>
              </a:rPr>
              <a:t>05 network</a:t>
            </a:r>
            <a:endParaRPr lang="en-US" sz="1600" dirty="0"/>
          </a:p>
        </p:txBody>
      </p:sp>
      <p:sp>
        <p:nvSpPr>
          <p:cNvPr id="5" name="arrow-1077"/>
          <p:cNvSpPr/>
          <p:nvPr/>
        </p:nvSpPr>
        <p:spPr>
          <a:xfrm>
            <a:off x="2532888" y="1920240"/>
            <a:ext cx="329184" cy="0"/>
          </a:xfrm>
          <a:prstGeom prst="line">
            <a:avLst/>
          </a:prstGeom>
          <a:noFill/>
          <a:ln w="31750">
            <a:solidFill>
              <a:schemeClr val="accent2"/>
            </a:solidFill>
            <a:prstDash val="solid"/>
            <a:tailEnd type="triangle"/>
          </a:ln>
        </p:spPr>
      </p:sp>
      <p:sp>
        <p:nvSpPr>
          <p:cNvPr id="6" name="box-1078"/>
          <p:cNvSpPr/>
          <p:nvPr/>
        </p:nvSpPr>
        <p:spPr>
          <a:xfrm>
            <a:off x="2880360" y="1463040"/>
            <a:ext cx="2011680" cy="914400"/>
          </a:xfrm>
          <a:prstGeom prst="roundRect">
            <a:avLst>
              <a:gd name="adj" fmla="val 8000"/>
            </a:avLst>
          </a:prstGeom>
          <a:solidFill>
            <a:schemeClr val="accent1"/>
          </a:solidFill>
          <a:ln w="9525">
            <a:solidFill>
              <a:schemeClr val="accent1"/>
            </a:solidFill>
            <a:prstDash val="solid"/>
          </a:ln>
        </p:spPr>
      </p:sp>
      <p:sp>
        <p:nvSpPr>
          <p:cNvPr id="7" name="box-t-1079"/>
          <p:cNvSpPr txBox="1"/>
          <p:nvPr/>
        </p:nvSpPr>
        <p:spPr>
          <a:xfrm>
            <a:off x="2926080" y="1463040"/>
            <a:ext cx="1920240" cy="914400"/>
          </a:xfrm>
          <a:prstGeom prst="rect">
            <a:avLst/>
          </a:prstGeom>
          <a:noFill/>
          <a:ln/>
        </p:spPr>
        <p:txBody>
          <a:bodyPr wrap="square" lIns="508" tIns="508" rIns="508" bIns="508" rtlCol="0" anchor="ctr"/>
          <a:lstStyle/>
          <a:p>
            <a:pPr algn="ctr" indent="0" marL="0">
              <a:buNone/>
            </a:pPr>
            <a:r>
              <a:rPr lang="en-US" sz="1600" b="1" dirty="0">
                <a:solidFill>
                  <a:schemeClr val="bg1"/>
                </a:solidFill>
              </a:rPr>
              <a:t>04 security</a:t>
            </a:r>
            <a:endParaRPr lang="en-US" sz="1600" dirty="0"/>
          </a:p>
        </p:txBody>
      </p:sp>
      <p:sp>
        <p:nvSpPr>
          <p:cNvPr id="8" name="arrow-1080"/>
          <p:cNvSpPr/>
          <p:nvPr/>
        </p:nvSpPr>
        <p:spPr>
          <a:xfrm>
            <a:off x="4910328" y="1920240"/>
            <a:ext cx="329184" cy="0"/>
          </a:xfrm>
          <a:prstGeom prst="line">
            <a:avLst/>
          </a:prstGeom>
          <a:noFill/>
          <a:ln w="31750">
            <a:solidFill>
              <a:schemeClr val="accent2"/>
            </a:solidFill>
            <a:prstDash val="solid"/>
            <a:tailEnd type="triangle"/>
          </a:ln>
        </p:spPr>
      </p:sp>
      <p:sp>
        <p:nvSpPr>
          <p:cNvPr id="9" name="box-1081"/>
          <p:cNvSpPr/>
          <p:nvPr/>
        </p:nvSpPr>
        <p:spPr>
          <a:xfrm>
            <a:off x="5257800" y="1463040"/>
            <a:ext cx="2011680" cy="914400"/>
          </a:xfrm>
          <a:prstGeom prst="roundRect">
            <a:avLst>
              <a:gd name="adj" fmla="val 8000"/>
            </a:avLst>
          </a:prstGeom>
          <a:solidFill>
            <a:schemeClr val="accent1"/>
          </a:solidFill>
          <a:ln w="9525">
            <a:solidFill>
              <a:schemeClr val="accent1"/>
            </a:solidFill>
            <a:prstDash val="solid"/>
          </a:ln>
        </p:spPr>
      </p:sp>
      <p:sp>
        <p:nvSpPr>
          <p:cNvPr id="10" name="box-t-1082"/>
          <p:cNvSpPr txBox="1"/>
          <p:nvPr/>
        </p:nvSpPr>
        <p:spPr>
          <a:xfrm>
            <a:off x="5303520" y="1463040"/>
            <a:ext cx="1920240" cy="914400"/>
          </a:xfrm>
          <a:prstGeom prst="rect">
            <a:avLst/>
          </a:prstGeom>
          <a:noFill/>
          <a:ln/>
        </p:spPr>
        <p:txBody>
          <a:bodyPr wrap="square" lIns="508" tIns="508" rIns="508" bIns="508" rtlCol="0" anchor="ctr"/>
          <a:lstStyle/>
          <a:p>
            <a:pPr algn="ctr" indent="0" marL="0">
              <a:buNone/>
            </a:pPr>
            <a:r>
              <a:rPr lang="en-US" sz="1600" b="1" dirty="0">
                <a:solidFill>
                  <a:schemeClr val="bg1"/>
                </a:solidFill>
              </a:rPr>
              <a:t>03 logging</a:t>
            </a:r>
            <a:endParaRPr lang="en-US" sz="1600" dirty="0"/>
          </a:p>
        </p:txBody>
      </p:sp>
      <p:sp>
        <p:nvSpPr>
          <p:cNvPr id="11" name="arrow-1083"/>
          <p:cNvSpPr/>
          <p:nvPr/>
        </p:nvSpPr>
        <p:spPr>
          <a:xfrm>
            <a:off x="7287768" y="1920240"/>
            <a:ext cx="329184" cy="0"/>
          </a:xfrm>
          <a:prstGeom prst="line">
            <a:avLst/>
          </a:prstGeom>
          <a:noFill/>
          <a:ln w="31750">
            <a:solidFill>
              <a:schemeClr val="accent2"/>
            </a:solidFill>
            <a:prstDash val="solid"/>
            <a:tailEnd type="triangle"/>
          </a:ln>
        </p:spPr>
      </p:sp>
      <p:sp>
        <p:nvSpPr>
          <p:cNvPr id="12" name="box-1084"/>
          <p:cNvSpPr/>
          <p:nvPr/>
        </p:nvSpPr>
        <p:spPr>
          <a:xfrm>
            <a:off x="7635240" y="1463040"/>
            <a:ext cx="2011680" cy="914400"/>
          </a:xfrm>
          <a:prstGeom prst="roundRect">
            <a:avLst>
              <a:gd name="adj" fmla="val 8000"/>
            </a:avLst>
          </a:prstGeom>
          <a:solidFill>
            <a:schemeClr val="accent1"/>
          </a:solidFill>
          <a:ln w="9525">
            <a:solidFill>
              <a:schemeClr val="accent1"/>
            </a:solidFill>
            <a:prstDash val="solid"/>
          </a:ln>
        </p:spPr>
      </p:sp>
      <p:sp>
        <p:nvSpPr>
          <p:cNvPr id="13" name="box-t-1085"/>
          <p:cNvSpPr txBox="1"/>
          <p:nvPr/>
        </p:nvSpPr>
        <p:spPr>
          <a:xfrm>
            <a:off x="7680960" y="1463040"/>
            <a:ext cx="1920240" cy="914400"/>
          </a:xfrm>
          <a:prstGeom prst="rect">
            <a:avLst/>
          </a:prstGeom>
          <a:noFill/>
          <a:ln/>
        </p:spPr>
        <p:txBody>
          <a:bodyPr wrap="square" lIns="508" tIns="508" rIns="508" bIns="508" rtlCol="0" anchor="ctr"/>
          <a:lstStyle/>
          <a:p>
            <a:pPr algn="ctr" indent="0" marL="0">
              <a:buNone/>
            </a:pPr>
            <a:r>
              <a:rPr lang="en-US" sz="1600" b="1" dirty="0">
                <a:solidFill>
                  <a:schemeClr val="bg1"/>
                </a:solidFill>
              </a:rPr>
              <a:t>02 identity</a:t>
            </a:r>
            <a:endParaRPr lang="en-US" sz="1600" dirty="0"/>
          </a:p>
        </p:txBody>
      </p:sp>
      <p:sp>
        <p:nvSpPr>
          <p:cNvPr id="14" name="box-1086"/>
          <p:cNvSpPr/>
          <p:nvPr/>
        </p:nvSpPr>
        <p:spPr>
          <a:xfrm>
            <a:off x="10012680" y="1463040"/>
            <a:ext cx="1691640" cy="914400"/>
          </a:xfrm>
          <a:prstGeom prst="roundRect">
            <a:avLst>
              <a:gd name="adj" fmla="val 8000"/>
            </a:avLst>
          </a:prstGeom>
          <a:solidFill>
            <a:schemeClr val="bg1"/>
          </a:solidFill>
          <a:ln w="19050">
            <a:solidFill>
              <a:schemeClr val="accent4"/>
            </a:solidFill>
            <a:prstDash val="dash"/>
          </a:ln>
        </p:spPr>
      </p:sp>
      <p:sp>
        <p:nvSpPr>
          <p:cNvPr id="15" name="box-t-1087"/>
          <p:cNvSpPr txBox="1"/>
          <p:nvPr/>
        </p:nvSpPr>
        <p:spPr>
          <a:xfrm>
            <a:off x="10058400" y="1463040"/>
            <a:ext cx="1600200" cy="914400"/>
          </a:xfrm>
          <a:prstGeom prst="rect">
            <a:avLst/>
          </a:prstGeom>
          <a:noFill/>
          <a:ln/>
        </p:spPr>
        <p:txBody>
          <a:bodyPr wrap="square" lIns="508" tIns="508" rIns="508" bIns="508" rtlCol="0" anchor="ctr"/>
          <a:lstStyle/>
          <a:p>
            <a:pPr algn="ctr" indent="0" marL="0">
              <a:buNone/>
            </a:pPr>
            <a:r>
              <a:rPr lang="en-US" sz="1600" b="1" dirty="0">
                <a:solidFill>
                  <a:schemeClr val="accent4"/>
                </a:solidFill>
              </a:rPr>
              <a:t>01 org</a:t>
            </a:r>
            <a:endParaRPr lang="en-US" sz="1600" dirty="0"/>
          </a:p>
          <a:p>
            <a:pPr algn="ctr" indent="0" marL="0">
              <a:buNone/>
            </a:pPr>
            <a:r>
              <a:rPr lang="en-US" sz="1100" dirty="0">
                <a:solidFill>
                  <a:schemeClr val="accent4"/>
                </a:solidFill>
              </a:rPr>
              <a:t>optional</a:t>
            </a:r>
            <a:endParaRPr lang="en-US" sz="1600" dirty="0"/>
          </a:p>
        </p:txBody>
      </p:sp>
      <p:sp>
        <p:nvSpPr>
          <p:cNvPr id="16" name="arrow-1088"/>
          <p:cNvSpPr/>
          <p:nvPr/>
        </p:nvSpPr>
        <p:spPr>
          <a:xfrm>
            <a:off x="9665208" y="1920240"/>
            <a:ext cx="329184" cy="0"/>
          </a:xfrm>
          <a:prstGeom prst="line">
            <a:avLst/>
          </a:prstGeom>
          <a:noFill/>
          <a:ln w="25400">
            <a:solidFill>
              <a:schemeClr val="accent4"/>
            </a:solidFill>
            <a:prstDash val="dash"/>
            <a:tailEnd type="triangle"/>
          </a:ln>
        </p:spPr>
      </p:sp>
      <p:sp>
        <p:nvSpPr>
          <p:cNvPr id="17" name="code-bg-1089"/>
          <p:cNvSpPr/>
          <p:nvPr/>
        </p:nvSpPr>
        <p:spPr>
          <a:xfrm>
            <a:off x="868680" y="2834640"/>
            <a:ext cx="5486400" cy="710184"/>
          </a:xfrm>
          <a:prstGeom prst="roundRect">
            <a:avLst>
              <a:gd name="adj" fmla="val 10300"/>
            </a:avLst>
          </a:prstGeom>
          <a:solidFill>
            <a:schemeClr val="tx1"/>
          </a:solidFill>
          <a:ln w="12700">
            <a:solidFill>
              <a:schemeClr val="tx1"/>
            </a:solidFill>
            <a:prstDash val="solid"/>
          </a:ln>
        </p:spPr>
      </p:sp>
      <p:sp>
        <p:nvSpPr>
          <p:cNvPr id="18" name="code-1090"/>
          <p:cNvSpPr txBox="1"/>
          <p:nvPr/>
        </p:nvSpPr>
        <p:spPr>
          <a:xfrm>
            <a:off x="1051560" y="2999232"/>
            <a:ext cx="5166360" cy="399288"/>
          </a:xfrm>
          <a:prstGeom prst="rect">
            <a:avLst/>
          </a:prstGeom>
          <a:noFill/>
          <a:ln/>
        </p:spPr>
        <p:txBody>
          <a:bodyPr wrap="square" lIns="0" tIns="0" rIns="0" bIns="0" rtlCol="0" anchor="t"/>
          <a:lstStyle/>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scripts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destroy</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sh</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i="1" dirty="0">
                <a:solidFill>
                  <a:schemeClr val="tx2"/>
                </a:solidFill>
                <a:latin typeface="Courier New" pitchFamily="34" charset="0"/>
                <a:ea typeface="Courier New" pitchFamily="34" charset="-122"/>
                <a:cs typeface="Courier New" pitchFamily="34" charset="-120"/>
              </a:rPr>
              <a:t># 05 to 02</a:t>
            </a:r>
            <a:endParaRPr lang="en-US" sz="1200" dirty="0"/>
          </a:p>
          <a:p>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b="1" dirty="0">
                <a:solidFill>
                  <a:schemeClr val="accent2"/>
                </a:solidFill>
                <a:latin typeface="Courier New" pitchFamily="34" charset="0"/>
                <a:ea typeface="Courier New" pitchFamily="34" charset="-122"/>
                <a:cs typeface="Courier New" pitchFamily="34" charset="-120"/>
              </a:rPr>
              <a:t>scripts</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destroy</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sh</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all</a:t>
            </a:r>
            <a:pPr indent="0" marL="0">
              <a:lnSpc>
                <a:spcPts val="1500"/>
              </a:lnSpc>
              <a:buNone/>
            </a:pPr>
            <a:r>
              <a:rPr lang="en-US" sz="1200" dirty="0">
                <a:solidFill>
                  <a:schemeClr val="bg2"/>
                </a:solidFill>
                <a:latin typeface="Courier New" pitchFamily="34" charset="0"/>
                <a:ea typeface="Courier New" pitchFamily="34" charset="-122"/>
                <a:cs typeface="Courier New" pitchFamily="34" charset="-120"/>
              </a:rPr>
              <a:t>  </a:t>
            </a:r>
            <a:pPr indent="0" marL="0">
              <a:lnSpc>
                <a:spcPts val="1500"/>
              </a:lnSpc>
              <a:buNone/>
            </a:pPr>
            <a:r>
              <a:rPr lang="en-US" sz="1200" i="1" dirty="0">
                <a:solidFill>
                  <a:schemeClr val="tx2"/>
                </a:solidFill>
                <a:latin typeface="Courier New" pitchFamily="34" charset="0"/>
                <a:ea typeface="Courier New" pitchFamily="34" charset="-122"/>
                <a:cs typeface="Courier New" pitchFamily="34" charset="-120"/>
              </a:rPr>
              <a:t># also closes accounts</a:t>
            </a:r>
            <a:endParaRPr lang="en-US" sz="1200" dirty="0"/>
          </a:p>
        </p:txBody>
      </p:sp>
      <p:sp>
        <p:nvSpPr>
          <p:cNvPr id="19" name="text-1091"/>
          <p:cNvSpPr txBox="1"/>
          <p:nvPr/>
        </p:nvSpPr>
        <p:spPr>
          <a:xfrm>
            <a:off x="6766560" y="2788920"/>
            <a:ext cx="4937760" cy="365760"/>
          </a:xfrm>
          <a:prstGeom prst="rect">
            <a:avLst/>
          </a:prstGeom>
          <a:noFill/>
          <a:ln/>
        </p:spPr>
        <p:txBody>
          <a:bodyPr wrap="square" lIns="0" tIns="0" rIns="0" bIns="0" rtlCol="0" anchor="t"/>
          <a:lstStyle/>
          <a:p>
            <a:pPr indent="0" marL="0">
              <a:buNone/>
            </a:pPr>
            <a:r>
              <a:rPr lang="en-US" sz="1800" b="1" dirty="0">
                <a:solidFill>
                  <a:schemeClr val="tx1"/>
                </a:solidFill>
              </a:rPr>
              <a:t>Why layer 01 usually stays</a:t>
            </a:r>
            <a:endParaRPr lang="en-US" sz="1800" dirty="0"/>
          </a:p>
        </p:txBody>
      </p:sp>
      <p:sp>
        <p:nvSpPr>
          <p:cNvPr id="20" name="list-1092"/>
          <p:cNvSpPr txBox="1"/>
          <p:nvPr/>
        </p:nvSpPr>
        <p:spPr>
          <a:xfrm>
            <a:off x="6766560" y="3246120"/>
            <a:ext cx="493776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The org, OUs, SCPs, and empty accounts cost nothing</a:t>
            </a:r>
            <a:endParaRPr lang="en-US" sz="1500" dirty="0"/>
          </a:p>
          <a:p>
            <a:pPr marL="342900" indent="-342900">
              <a:spcAft>
                <a:spcPts val="800"/>
              </a:spcAft>
              <a:buSzPct val="100000"/>
              <a:buChar char="•"/>
            </a:pPr>
            <a:r>
              <a:rPr lang="en-US" sz="1500" dirty="0">
                <a:solidFill>
                  <a:schemeClr val="tx1"/>
                </a:solidFill>
              </a:rPr>
              <a:t>Closed accounts stay suspended for 90 days</a:t>
            </a:r>
            <a:endParaRPr lang="en-US" sz="1500" dirty="0"/>
          </a:p>
          <a:p>
            <a:pPr marL="342900" indent="-342900">
              <a:spcAft>
                <a:spcPts val="800"/>
              </a:spcAft>
              <a:buSzPct val="100000"/>
              <a:buChar char="•"/>
            </a:pPr>
            <a:r>
              <a:rPr lang="en-US" sz="1500" dirty="0">
                <a:solidFill>
                  <a:schemeClr val="tx1"/>
                </a:solidFill>
              </a:rPr>
              <a:t>Their emails can never be reused</a:t>
            </a:r>
            <a:endParaRPr lang="en-US" sz="1500" dirty="0"/>
          </a:p>
          <a:p>
            <a:pPr marL="342900" indent="-342900">
              <a:spcAft>
                <a:spcPts val="800"/>
              </a:spcAft>
              <a:buSzPct val="100000"/>
              <a:buChar char="•"/>
            </a:pPr>
            <a:r>
              <a:rPr lang="en-US" sz="1500" dirty="0">
                <a:solidFill>
                  <a:schemeClr val="tx1"/>
                </a:solidFill>
              </a:rPr>
              <a:t>The org cannot be deleted until suspended accounts age out</a:t>
            </a:r>
            <a:endParaRPr lang="en-US" sz="1500" dirty="0"/>
          </a:p>
        </p:txBody>
      </p:sp>
      <p:sp>
        <p:nvSpPr>
          <p:cNvPr id="21" name="text-1093"/>
          <p:cNvSpPr txBox="1"/>
          <p:nvPr/>
        </p:nvSpPr>
        <p:spPr>
          <a:xfrm>
            <a:off x="868680" y="3840480"/>
            <a:ext cx="5486400" cy="1097280"/>
          </a:xfrm>
          <a:prstGeom prst="rect">
            <a:avLst/>
          </a:prstGeom>
          <a:noFill/>
          <a:ln/>
        </p:spPr>
        <p:txBody>
          <a:bodyPr wrap="square" lIns="0" tIns="0" rIns="0" bIns="0" rtlCol="0" anchor="t"/>
          <a:lstStyle/>
          <a:p>
            <a:pPr indent="0" marL="0">
              <a:buNone/>
            </a:pPr>
            <a:r>
              <a:rPr lang="en-US" sz="1500" dirty="0">
                <a:solidFill>
                  <a:schemeClr val="tx2"/>
                </a:solidFill>
              </a:rPr>
              <a:t>Reverse order matters: a layer cannot be destroyed while a later layer still uses its accounts, bucket, or gateway.</a:t>
            </a:r>
            <a:endParaRPr lang="en-US" sz="1500" dirty="0"/>
          </a:p>
        </p:txBody>
      </p:sp>
      <p:sp>
        <p:nvSpPr>
          <p:cNvPr id="22" name="card-1094"/>
          <p:cNvSpPr/>
          <p:nvPr/>
        </p:nvSpPr>
        <p:spPr>
          <a:xfrm>
            <a:off x="502920" y="5120640"/>
            <a:ext cx="11155680" cy="1097280"/>
          </a:xfrm>
          <a:prstGeom prst="roundRect">
            <a:avLst>
              <a:gd name="adj" fmla="val 8333"/>
            </a:avLst>
          </a:prstGeom>
          <a:solidFill>
            <a:schemeClr val="bg2"/>
          </a:solidFill>
          <a:ln w="12700">
            <a:solidFill>
              <a:schemeClr val="bg2"/>
            </a:solidFill>
            <a:prstDash val="solid"/>
          </a:ln>
        </p:spPr>
      </p:sp>
      <p:pic>
        <p:nvPicPr>
          <p:cNvPr id="23" name="icon-1095" descr="preencoded.png">    </p:cNvPr>
          <p:cNvPicPr>
            <a:picLocks noChangeAspect="1"/>
          </p:cNvPicPr>
          <p:nvPr/>
        </p:nvPicPr>
        <p:blipFill>
          <a:blip r:embed="rId1"/>
          <a:stretch>
            <a:fillRect/>
          </a:stretch>
        </p:blipFill>
        <p:spPr>
          <a:xfrm>
            <a:off x="777240" y="5349240"/>
            <a:ext cx="640080" cy="640080"/>
          </a:xfrm>
          <a:prstGeom prst="rect">
            <a:avLst/>
          </a:prstGeom>
        </p:spPr>
      </p:pic>
      <p:sp>
        <p:nvSpPr>
          <p:cNvPr id="24" name="text-1096"/>
          <p:cNvSpPr txBox="1"/>
          <p:nvPr/>
        </p:nvSpPr>
        <p:spPr>
          <a:xfrm>
            <a:off x="1691640" y="5212080"/>
            <a:ext cx="9784080" cy="914400"/>
          </a:xfrm>
          <a:prstGeom prst="rect">
            <a:avLst/>
          </a:prstGeom>
          <a:noFill/>
          <a:ln/>
        </p:spPr>
        <p:txBody>
          <a:bodyPr wrap="square" lIns="0" tIns="0" rIns="0" bIns="0" rtlCol="0" anchor="ctr"/>
          <a:lstStyle/>
          <a:p>
            <a:pPr indent="0" marL="0">
              <a:buNone/>
            </a:pPr>
            <a:r>
              <a:rPr lang="en-US" sz="1600" b="1" dirty="0">
                <a:solidFill>
                  <a:schemeClr val="tx1"/>
                </a:solidFill>
              </a:rPr>
              <a:t>Before any destroy, check where you are. </a:t>
            </a:r>
            <a:pPr indent="0" marL="0">
              <a:buNone/>
            </a:pPr>
            <a:r>
              <a:rPr lang="en-US" sz="1500" dirty="0">
                <a:solidFill>
                  <a:schemeClr val="tx1"/>
                </a:solidFill>
              </a:rPr>
              <a:t>Run aws sts get-caller-identity first. Terraform destroys whatever its state points at in the account your credentials reach.</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Where the hands-on build stands</a:t>
            </a:r>
            <a:endParaRPr lang="en-US" sz="3400" dirty="0"/>
          </a:p>
        </p:txBody>
      </p:sp>
      <p:sp>
        <p:nvSpPr>
          <p:cNvPr id="3" name="box-1097"/>
          <p:cNvSpPr/>
          <p:nvPr/>
        </p:nvSpPr>
        <p:spPr>
          <a:xfrm>
            <a:off x="502920" y="1280160"/>
            <a:ext cx="685800" cy="685800"/>
          </a:xfrm>
          <a:prstGeom prst="ellipse">
            <a:avLst/>
          </a:prstGeom>
          <a:solidFill>
            <a:schemeClr val="accent1"/>
          </a:solidFill>
          <a:ln w="9525">
            <a:solidFill>
              <a:schemeClr val="accent1"/>
            </a:solidFill>
            <a:prstDash val="solid"/>
          </a:ln>
        </p:spPr>
      </p:sp>
      <p:sp>
        <p:nvSpPr>
          <p:cNvPr id="4" name="box-t-1098"/>
          <p:cNvSpPr txBox="1"/>
          <p:nvPr/>
        </p:nvSpPr>
        <p:spPr>
          <a:xfrm>
            <a:off x="548640" y="1280160"/>
            <a:ext cx="594360" cy="685800"/>
          </a:xfrm>
          <a:prstGeom prst="rect">
            <a:avLst/>
          </a:prstGeom>
          <a:noFill/>
          <a:ln/>
        </p:spPr>
        <p:txBody>
          <a:bodyPr wrap="square" lIns="508" tIns="508" rIns="508" bIns="508" rtlCol="0" anchor="ctr"/>
          <a:lstStyle/>
          <a:p>
            <a:pPr algn="ctr" indent="0" marL="0">
              <a:buNone/>
            </a:pPr>
            <a:r>
              <a:rPr lang="en-US" sz="1800" b="1" dirty="0">
                <a:solidFill>
                  <a:schemeClr val="bg1"/>
                </a:solidFill>
              </a:rPr>
              <a:t>0</a:t>
            </a:r>
            <a:endParaRPr lang="en-US" sz="1800" dirty="0"/>
          </a:p>
        </p:txBody>
      </p:sp>
      <p:sp>
        <p:nvSpPr>
          <p:cNvPr id="5" name="text-1099"/>
          <p:cNvSpPr txBox="1"/>
          <p:nvPr/>
        </p:nvSpPr>
        <p:spPr>
          <a:xfrm>
            <a:off x="1371600" y="1298448"/>
            <a:ext cx="3291840" cy="731520"/>
          </a:xfrm>
          <a:prstGeom prst="rect">
            <a:avLst/>
          </a:prstGeom>
          <a:noFill/>
          <a:ln/>
        </p:spPr>
        <p:txBody>
          <a:bodyPr wrap="square" lIns="0" tIns="0" rIns="0" bIns="0" rtlCol="0" anchor="ctr"/>
          <a:lstStyle/>
          <a:p>
            <a:pPr indent="0" marL="0">
              <a:buNone/>
            </a:pPr>
            <a:r>
              <a:rPr lang="en-US" sz="1500" b="1" dirty="0">
                <a:solidFill>
                  <a:schemeClr val="tx1"/>
                </a:solidFill>
              </a:rPr>
              <a:t>Setup: account, tools, credentials</a:t>
            </a:r>
            <a:endParaRPr lang="en-US" sz="1400" dirty="0"/>
          </a:p>
          <a:p>
            <a:pPr indent="0" marL="0">
              <a:buNone/>
            </a:pPr>
            <a:r>
              <a:rPr lang="en-US" sz="1300" dirty="0">
                <a:solidFill>
                  <a:schemeClr val="tx2"/>
                </a:solidFill>
              </a:rPr>
              <a:t>Moving to a standalone account</a:t>
            </a:r>
            <a:endParaRPr lang="en-US" sz="1400" dirty="0"/>
          </a:p>
        </p:txBody>
      </p:sp>
      <p:sp>
        <p:nvSpPr>
          <p:cNvPr id="6" name="box-1100"/>
          <p:cNvSpPr/>
          <p:nvPr/>
        </p:nvSpPr>
        <p:spPr>
          <a:xfrm>
            <a:off x="4709160" y="1444752"/>
            <a:ext cx="1188720" cy="365760"/>
          </a:xfrm>
          <a:prstGeom prst="roundRect">
            <a:avLst>
              <a:gd name="adj" fmla="val 20000"/>
            </a:avLst>
          </a:prstGeom>
          <a:solidFill>
            <a:schemeClr val="accent2"/>
          </a:solidFill>
          <a:ln w="9525">
            <a:solidFill>
              <a:schemeClr val="accent2"/>
            </a:solidFill>
            <a:prstDash val="solid"/>
          </a:ln>
        </p:spPr>
      </p:sp>
      <p:sp>
        <p:nvSpPr>
          <p:cNvPr id="7" name="box-t-1101"/>
          <p:cNvSpPr txBox="1"/>
          <p:nvPr/>
        </p:nvSpPr>
        <p:spPr>
          <a:xfrm>
            <a:off x="4754880" y="1444752"/>
            <a:ext cx="1097280" cy="365760"/>
          </a:xfrm>
          <a:prstGeom prst="rect">
            <a:avLst/>
          </a:prstGeom>
          <a:noFill/>
          <a:ln/>
        </p:spPr>
        <p:txBody>
          <a:bodyPr wrap="square" lIns="508" tIns="508" rIns="508" bIns="508" rtlCol="0" anchor="ctr"/>
          <a:lstStyle/>
          <a:p>
            <a:pPr algn="ctr" indent="0" marL="0">
              <a:buNone/>
            </a:pPr>
            <a:r>
              <a:rPr lang="en-US" sz="1100" b="1" dirty="0">
                <a:solidFill>
                  <a:schemeClr val="tx1"/>
                </a:solidFill>
              </a:rPr>
              <a:t>In progress</a:t>
            </a:r>
            <a:endParaRPr lang="en-US" sz="1100" dirty="0"/>
          </a:p>
        </p:txBody>
      </p:sp>
      <p:sp>
        <p:nvSpPr>
          <p:cNvPr id="8" name="box-1102"/>
          <p:cNvSpPr/>
          <p:nvPr/>
        </p:nvSpPr>
        <p:spPr>
          <a:xfrm>
            <a:off x="502920" y="2267712"/>
            <a:ext cx="685800" cy="685800"/>
          </a:xfrm>
          <a:prstGeom prst="ellipse">
            <a:avLst/>
          </a:prstGeom>
          <a:solidFill>
            <a:schemeClr val="accent1"/>
          </a:solidFill>
          <a:ln w="9525">
            <a:solidFill>
              <a:schemeClr val="accent1"/>
            </a:solidFill>
            <a:prstDash val="solid"/>
          </a:ln>
        </p:spPr>
      </p:sp>
      <p:sp>
        <p:nvSpPr>
          <p:cNvPr id="9" name="box-t-1103"/>
          <p:cNvSpPr txBox="1"/>
          <p:nvPr/>
        </p:nvSpPr>
        <p:spPr>
          <a:xfrm>
            <a:off x="548640" y="2267712"/>
            <a:ext cx="594360" cy="685800"/>
          </a:xfrm>
          <a:prstGeom prst="rect">
            <a:avLst/>
          </a:prstGeom>
          <a:noFill/>
          <a:ln/>
        </p:spPr>
        <p:txBody>
          <a:bodyPr wrap="square" lIns="508" tIns="508" rIns="508" bIns="508" rtlCol="0" anchor="ctr"/>
          <a:lstStyle/>
          <a:p>
            <a:pPr algn="ctr" indent="0" marL="0">
              <a:buNone/>
            </a:pPr>
            <a:r>
              <a:rPr lang="en-US" sz="1800" b="1" dirty="0">
                <a:solidFill>
                  <a:schemeClr val="bg1"/>
                </a:solidFill>
              </a:rPr>
              <a:t>1</a:t>
            </a:r>
            <a:endParaRPr lang="en-US" sz="1800" dirty="0"/>
          </a:p>
        </p:txBody>
      </p:sp>
      <p:sp>
        <p:nvSpPr>
          <p:cNvPr id="10" name="text-1104"/>
          <p:cNvSpPr txBox="1"/>
          <p:nvPr/>
        </p:nvSpPr>
        <p:spPr>
          <a:xfrm>
            <a:off x="1371600" y="2286000"/>
            <a:ext cx="3291840" cy="731520"/>
          </a:xfrm>
          <a:prstGeom prst="rect">
            <a:avLst/>
          </a:prstGeom>
          <a:noFill/>
          <a:ln/>
        </p:spPr>
        <p:txBody>
          <a:bodyPr wrap="square" lIns="0" tIns="0" rIns="0" bIns="0" rtlCol="0" anchor="ctr"/>
          <a:lstStyle/>
          <a:p>
            <a:pPr indent="0" marL="0">
              <a:buNone/>
            </a:pPr>
            <a:r>
              <a:rPr lang="en-US" sz="1500" b="1" dirty="0">
                <a:solidFill>
                  <a:schemeClr val="tx1"/>
                </a:solidFill>
              </a:rPr>
              <a:t>Layer 00: state bucket</a:t>
            </a:r>
            <a:endParaRPr lang="en-US" sz="1400" dirty="0"/>
          </a:p>
          <a:p>
            <a:pPr indent="0" marL="0">
              <a:buNone/>
            </a:pPr>
            <a:r>
              <a:rPr lang="en-US" sz="1300" dirty="0">
                <a:solidFill>
                  <a:schemeClr val="tx2"/>
                </a:solidFill>
              </a:rPr>
              <a:t>Plan worked; re-apply in the new account</a:t>
            </a:r>
            <a:endParaRPr lang="en-US" sz="1400" dirty="0"/>
          </a:p>
        </p:txBody>
      </p:sp>
      <p:sp>
        <p:nvSpPr>
          <p:cNvPr id="11" name="box-1105"/>
          <p:cNvSpPr/>
          <p:nvPr/>
        </p:nvSpPr>
        <p:spPr>
          <a:xfrm>
            <a:off x="4709160" y="2432304"/>
            <a:ext cx="1188720" cy="365760"/>
          </a:xfrm>
          <a:prstGeom prst="roundRect">
            <a:avLst>
              <a:gd name="adj" fmla="val 20000"/>
            </a:avLst>
          </a:prstGeom>
          <a:solidFill>
            <a:schemeClr val="accent3"/>
          </a:solidFill>
          <a:ln w="9525">
            <a:solidFill>
              <a:schemeClr val="accent3"/>
            </a:solidFill>
            <a:prstDash val="solid"/>
          </a:ln>
        </p:spPr>
      </p:sp>
      <p:sp>
        <p:nvSpPr>
          <p:cNvPr id="12" name="box-t-1106"/>
          <p:cNvSpPr txBox="1"/>
          <p:nvPr/>
        </p:nvSpPr>
        <p:spPr>
          <a:xfrm>
            <a:off x="4754880" y="2432304"/>
            <a:ext cx="1097280" cy="365760"/>
          </a:xfrm>
          <a:prstGeom prst="rect">
            <a:avLst/>
          </a:prstGeom>
          <a:noFill/>
          <a:ln/>
        </p:spPr>
        <p:txBody>
          <a:bodyPr wrap="square" lIns="508" tIns="508" rIns="508" bIns="508" rtlCol="0" anchor="ctr"/>
          <a:lstStyle/>
          <a:p>
            <a:pPr algn="ctr" indent="0" marL="0">
              <a:buNone/>
            </a:pPr>
            <a:r>
              <a:rPr lang="en-US" sz="1100" b="1" dirty="0">
                <a:solidFill>
                  <a:schemeClr val="bg1"/>
                </a:solidFill>
              </a:rPr>
              <a:t>Written</a:t>
            </a:r>
            <a:endParaRPr lang="en-US" sz="1100" dirty="0"/>
          </a:p>
        </p:txBody>
      </p:sp>
      <p:sp>
        <p:nvSpPr>
          <p:cNvPr id="13" name="box-1107"/>
          <p:cNvSpPr/>
          <p:nvPr/>
        </p:nvSpPr>
        <p:spPr>
          <a:xfrm>
            <a:off x="502920" y="3255264"/>
            <a:ext cx="685800" cy="685800"/>
          </a:xfrm>
          <a:prstGeom prst="ellipse">
            <a:avLst/>
          </a:prstGeom>
          <a:solidFill>
            <a:schemeClr val="accent1"/>
          </a:solidFill>
          <a:ln w="9525">
            <a:solidFill>
              <a:schemeClr val="accent1"/>
            </a:solidFill>
            <a:prstDash val="solid"/>
          </a:ln>
        </p:spPr>
      </p:sp>
      <p:sp>
        <p:nvSpPr>
          <p:cNvPr id="14" name="box-t-1108"/>
          <p:cNvSpPr txBox="1"/>
          <p:nvPr/>
        </p:nvSpPr>
        <p:spPr>
          <a:xfrm>
            <a:off x="548640" y="3255264"/>
            <a:ext cx="594360" cy="685800"/>
          </a:xfrm>
          <a:prstGeom prst="rect">
            <a:avLst/>
          </a:prstGeom>
          <a:noFill/>
          <a:ln/>
        </p:spPr>
        <p:txBody>
          <a:bodyPr wrap="square" lIns="508" tIns="508" rIns="508" bIns="508" rtlCol="0" anchor="ctr"/>
          <a:lstStyle/>
          <a:p>
            <a:pPr algn="ctr" indent="0" marL="0">
              <a:buNone/>
            </a:pPr>
            <a:r>
              <a:rPr lang="en-US" sz="1800" b="1" dirty="0">
                <a:solidFill>
                  <a:schemeClr val="bg1"/>
                </a:solidFill>
              </a:rPr>
              <a:t>2</a:t>
            </a:r>
            <a:endParaRPr lang="en-US" sz="1800" dirty="0"/>
          </a:p>
        </p:txBody>
      </p:sp>
      <p:sp>
        <p:nvSpPr>
          <p:cNvPr id="15" name="text-1109"/>
          <p:cNvSpPr txBox="1"/>
          <p:nvPr/>
        </p:nvSpPr>
        <p:spPr>
          <a:xfrm>
            <a:off x="1371600" y="3273552"/>
            <a:ext cx="3291840" cy="731520"/>
          </a:xfrm>
          <a:prstGeom prst="rect">
            <a:avLst/>
          </a:prstGeom>
          <a:noFill/>
          <a:ln/>
        </p:spPr>
        <p:txBody>
          <a:bodyPr wrap="square" lIns="0" tIns="0" rIns="0" bIns="0" rtlCol="0" anchor="ctr"/>
          <a:lstStyle/>
          <a:p>
            <a:pPr indent="0" marL="0">
              <a:buNone/>
            </a:pPr>
            <a:r>
              <a:rPr lang="en-US" sz="1500" b="1" dirty="0">
                <a:solidFill>
                  <a:schemeClr val="tx1"/>
                </a:solidFill>
              </a:rPr>
              <a:t>Organization and OUs</a:t>
            </a:r>
            <a:endParaRPr lang="en-US" sz="1400" dirty="0"/>
          </a:p>
        </p:txBody>
      </p:sp>
      <p:sp>
        <p:nvSpPr>
          <p:cNvPr id="16" name="box-1110"/>
          <p:cNvSpPr/>
          <p:nvPr/>
        </p:nvSpPr>
        <p:spPr>
          <a:xfrm>
            <a:off x="4709160" y="3419856"/>
            <a:ext cx="1188720" cy="365760"/>
          </a:xfrm>
          <a:prstGeom prst="roundRect">
            <a:avLst>
              <a:gd name="adj" fmla="val 20000"/>
            </a:avLst>
          </a:prstGeom>
          <a:solidFill>
            <a:schemeClr val="accent1"/>
          </a:solidFill>
          <a:ln w="9525">
            <a:solidFill>
              <a:schemeClr val="accent1"/>
            </a:solidFill>
            <a:prstDash val="solid"/>
          </a:ln>
        </p:spPr>
      </p:sp>
      <p:sp>
        <p:nvSpPr>
          <p:cNvPr id="17" name="box-t-1111"/>
          <p:cNvSpPr txBox="1"/>
          <p:nvPr/>
        </p:nvSpPr>
        <p:spPr>
          <a:xfrm>
            <a:off x="4754880" y="3419856"/>
            <a:ext cx="1097280" cy="365760"/>
          </a:xfrm>
          <a:prstGeom prst="rect">
            <a:avLst/>
          </a:prstGeom>
          <a:noFill/>
          <a:ln/>
        </p:spPr>
        <p:txBody>
          <a:bodyPr wrap="square" lIns="508" tIns="508" rIns="508" bIns="508" rtlCol="0" anchor="ctr"/>
          <a:lstStyle/>
          <a:p>
            <a:pPr algn="ctr" indent="0" marL="0">
              <a:buNone/>
            </a:pPr>
            <a:r>
              <a:rPr lang="en-US" sz="1100" b="1" dirty="0">
                <a:solidFill>
                  <a:schemeClr val="bg1"/>
                </a:solidFill>
              </a:rPr>
              <a:t>Next</a:t>
            </a:r>
            <a:endParaRPr lang="en-US" sz="1100" dirty="0"/>
          </a:p>
        </p:txBody>
      </p:sp>
      <p:sp>
        <p:nvSpPr>
          <p:cNvPr id="18" name="box-1112"/>
          <p:cNvSpPr/>
          <p:nvPr/>
        </p:nvSpPr>
        <p:spPr>
          <a:xfrm>
            <a:off x="502920" y="4242816"/>
            <a:ext cx="685800" cy="685800"/>
          </a:xfrm>
          <a:prstGeom prst="ellipse">
            <a:avLst/>
          </a:prstGeom>
          <a:solidFill>
            <a:schemeClr val="bg2"/>
          </a:solidFill>
          <a:ln w="9525">
            <a:solidFill>
              <a:schemeClr val="bg2"/>
            </a:solidFill>
            <a:prstDash val="solid"/>
          </a:ln>
        </p:spPr>
      </p:sp>
      <p:sp>
        <p:nvSpPr>
          <p:cNvPr id="19" name="box-t-1113"/>
          <p:cNvSpPr txBox="1"/>
          <p:nvPr/>
        </p:nvSpPr>
        <p:spPr>
          <a:xfrm>
            <a:off x="548640" y="4242816"/>
            <a:ext cx="594360" cy="685800"/>
          </a:xfrm>
          <a:prstGeom prst="rect">
            <a:avLst/>
          </a:prstGeom>
          <a:noFill/>
          <a:ln/>
        </p:spPr>
        <p:txBody>
          <a:bodyPr wrap="square" lIns="508" tIns="508" rIns="508" bIns="508" rtlCol="0" anchor="ctr"/>
          <a:lstStyle/>
          <a:p>
            <a:pPr algn="ctr" indent="0" marL="0">
              <a:buNone/>
            </a:pPr>
            <a:r>
              <a:rPr lang="en-US" sz="1800" b="1" dirty="0">
                <a:solidFill>
                  <a:schemeClr val="tx1"/>
                </a:solidFill>
              </a:rPr>
              <a:t>3</a:t>
            </a:r>
            <a:endParaRPr lang="en-US" sz="1800" dirty="0"/>
          </a:p>
        </p:txBody>
      </p:sp>
      <p:sp>
        <p:nvSpPr>
          <p:cNvPr id="20" name="text-1114"/>
          <p:cNvSpPr txBox="1"/>
          <p:nvPr/>
        </p:nvSpPr>
        <p:spPr>
          <a:xfrm>
            <a:off x="1371600" y="4261104"/>
            <a:ext cx="3291840" cy="731520"/>
          </a:xfrm>
          <a:prstGeom prst="rect">
            <a:avLst/>
          </a:prstGeom>
          <a:noFill/>
          <a:ln/>
        </p:spPr>
        <p:txBody>
          <a:bodyPr wrap="square" lIns="0" tIns="0" rIns="0" bIns="0" rtlCol="0" anchor="ctr"/>
          <a:lstStyle/>
          <a:p>
            <a:pPr indent="0" marL="0">
              <a:buNone/>
            </a:pPr>
            <a:r>
              <a:rPr lang="en-US" sz="1500" b="1" dirty="0">
                <a:solidFill>
                  <a:schemeClr val="tx1"/>
                </a:solidFill>
              </a:rPr>
              <a:t>Member accounts</a:t>
            </a:r>
            <a:endParaRPr lang="en-US" sz="1400" dirty="0"/>
          </a:p>
        </p:txBody>
      </p:sp>
      <p:sp>
        <p:nvSpPr>
          <p:cNvPr id="21" name="box-1115"/>
          <p:cNvSpPr/>
          <p:nvPr/>
        </p:nvSpPr>
        <p:spPr>
          <a:xfrm>
            <a:off x="4709160" y="4407408"/>
            <a:ext cx="1188720" cy="365760"/>
          </a:xfrm>
          <a:prstGeom prst="roundRect">
            <a:avLst>
              <a:gd name="adj" fmla="val 20000"/>
            </a:avLst>
          </a:prstGeom>
          <a:solidFill>
            <a:schemeClr val="bg2"/>
          </a:solidFill>
          <a:ln w="9525">
            <a:solidFill>
              <a:schemeClr val="bg2"/>
            </a:solidFill>
            <a:prstDash val="solid"/>
          </a:ln>
        </p:spPr>
      </p:sp>
      <p:sp>
        <p:nvSpPr>
          <p:cNvPr id="22" name="box-t-1116"/>
          <p:cNvSpPr txBox="1"/>
          <p:nvPr/>
        </p:nvSpPr>
        <p:spPr>
          <a:xfrm>
            <a:off x="4754880" y="4407408"/>
            <a:ext cx="1097280" cy="365760"/>
          </a:xfrm>
          <a:prstGeom prst="rect">
            <a:avLst/>
          </a:prstGeom>
          <a:noFill/>
          <a:ln/>
        </p:spPr>
        <p:txBody>
          <a:bodyPr wrap="square" lIns="508" tIns="508" rIns="508" bIns="508" rtlCol="0" anchor="ctr"/>
          <a:lstStyle/>
          <a:p>
            <a:pPr algn="ctr" indent="0" marL="0">
              <a:buNone/>
            </a:pPr>
            <a:r>
              <a:rPr lang="en-US" sz="1100" b="1" dirty="0">
                <a:solidFill>
                  <a:schemeClr val="tx2"/>
                </a:solidFill>
              </a:rPr>
              <a:t>To do</a:t>
            </a:r>
            <a:endParaRPr lang="en-US" sz="1100" dirty="0"/>
          </a:p>
        </p:txBody>
      </p:sp>
      <p:sp>
        <p:nvSpPr>
          <p:cNvPr id="23" name="box-1117"/>
          <p:cNvSpPr/>
          <p:nvPr/>
        </p:nvSpPr>
        <p:spPr>
          <a:xfrm>
            <a:off x="502920" y="5230368"/>
            <a:ext cx="685800" cy="685800"/>
          </a:xfrm>
          <a:prstGeom prst="ellipse">
            <a:avLst/>
          </a:prstGeom>
          <a:solidFill>
            <a:schemeClr val="bg2"/>
          </a:solidFill>
          <a:ln w="9525">
            <a:solidFill>
              <a:schemeClr val="bg2"/>
            </a:solidFill>
            <a:prstDash val="solid"/>
          </a:ln>
        </p:spPr>
      </p:sp>
      <p:sp>
        <p:nvSpPr>
          <p:cNvPr id="24" name="box-t-1118"/>
          <p:cNvSpPr txBox="1"/>
          <p:nvPr/>
        </p:nvSpPr>
        <p:spPr>
          <a:xfrm>
            <a:off x="548640" y="5230368"/>
            <a:ext cx="594360" cy="685800"/>
          </a:xfrm>
          <a:prstGeom prst="rect">
            <a:avLst/>
          </a:prstGeom>
          <a:noFill/>
          <a:ln/>
        </p:spPr>
        <p:txBody>
          <a:bodyPr wrap="square" lIns="508" tIns="508" rIns="508" bIns="508" rtlCol="0" anchor="ctr"/>
          <a:lstStyle/>
          <a:p>
            <a:pPr algn="ctr" indent="0" marL="0">
              <a:buNone/>
            </a:pPr>
            <a:r>
              <a:rPr lang="en-US" sz="1800" b="1" dirty="0">
                <a:solidFill>
                  <a:schemeClr val="tx1"/>
                </a:solidFill>
              </a:rPr>
              <a:t>4</a:t>
            </a:r>
            <a:endParaRPr lang="en-US" sz="1800" dirty="0"/>
          </a:p>
        </p:txBody>
      </p:sp>
      <p:sp>
        <p:nvSpPr>
          <p:cNvPr id="25" name="text-1119"/>
          <p:cNvSpPr txBox="1"/>
          <p:nvPr/>
        </p:nvSpPr>
        <p:spPr>
          <a:xfrm>
            <a:off x="1371600" y="5248656"/>
            <a:ext cx="3291840" cy="731520"/>
          </a:xfrm>
          <a:prstGeom prst="rect">
            <a:avLst/>
          </a:prstGeom>
          <a:noFill/>
          <a:ln/>
        </p:spPr>
        <p:txBody>
          <a:bodyPr wrap="square" lIns="0" tIns="0" rIns="0" bIns="0" rtlCol="0" anchor="ctr"/>
          <a:lstStyle/>
          <a:p>
            <a:pPr indent="0" marL="0">
              <a:buNone/>
            </a:pPr>
            <a:r>
              <a:rPr lang="en-US" sz="1500" b="1" dirty="0">
                <a:solidFill>
                  <a:schemeClr val="tx1"/>
                </a:solidFill>
              </a:rPr>
              <a:t>Service control policies</a:t>
            </a:r>
            <a:endParaRPr lang="en-US" sz="1400" dirty="0"/>
          </a:p>
        </p:txBody>
      </p:sp>
      <p:sp>
        <p:nvSpPr>
          <p:cNvPr id="26" name="box-1120"/>
          <p:cNvSpPr/>
          <p:nvPr/>
        </p:nvSpPr>
        <p:spPr>
          <a:xfrm>
            <a:off x="4709160" y="5394960"/>
            <a:ext cx="1188720" cy="365760"/>
          </a:xfrm>
          <a:prstGeom prst="roundRect">
            <a:avLst>
              <a:gd name="adj" fmla="val 20000"/>
            </a:avLst>
          </a:prstGeom>
          <a:solidFill>
            <a:schemeClr val="bg2"/>
          </a:solidFill>
          <a:ln w="9525">
            <a:solidFill>
              <a:schemeClr val="bg2"/>
            </a:solidFill>
            <a:prstDash val="solid"/>
          </a:ln>
        </p:spPr>
      </p:sp>
      <p:sp>
        <p:nvSpPr>
          <p:cNvPr id="27" name="box-t-1121"/>
          <p:cNvSpPr txBox="1"/>
          <p:nvPr/>
        </p:nvSpPr>
        <p:spPr>
          <a:xfrm>
            <a:off x="4754880" y="5394960"/>
            <a:ext cx="1097280" cy="365760"/>
          </a:xfrm>
          <a:prstGeom prst="rect">
            <a:avLst/>
          </a:prstGeom>
          <a:noFill/>
          <a:ln/>
        </p:spPr>
        <p:txBody>
          <a:bodyPr wrap="square" lIns="508" tIns="508" rIns="508" bIns="508" rtlCol="0" anchor="ctr"/>
          <a:lstStyle/>
          <a:p>
            <a:pPr algn="ctr" indent="0" marL="0">
              <a:buNone/>
            </a:pPr>
            <a:r>
              <a:rPr lang="en-US" sz="1100" b="1" dirty="0">
                <a:solidFill>
                  <a:schemeClr val="tx2"/>
                </a:solidFill>
              </a:rPr>
              <a:t>To do</a:t>
            </a:r>
            <a:endParaRPr lang="en-US" sz="1100" dirty="0"/>
          </a:p>
        </p:txBody>
      </p:sp>
      <p:sp>
        <p:nvSpPr>
          <p:cNvPr id="28" name="box-1122"/>
          <p:cNvSpPr/>
          <p:nvPr/>
        </p:nvSpPr>
        <p:spPr>
          <a:xfrm>
            <a:off x="6172200" y="1280160"/>
            <a:ext cx="685800" cy="685800"/>
          </a:xfrm>
          <a:prstGeom prst="ellipse">
            <a:avLst/>
          </a:prstGeom>
          <a:solidFill>
            <a:schemeClr val="bg2"/>
          </a:solidFill>
          <a:ln w="9525">
            <a:solidFill>
              <a:schemeClr val="bg2"/>
            </a:solidFill>
            <a:prstDash val="solid"/>
          </a:ln>
        </p:spPr>
      </p:sp>
      <p:sp>
        <p:nvSpPr>
          <p:cNvPr id="29" name="box-t-1123"/>
          <p:cNvSpPr txBox="1"/>
          <p:nvPr/>
        </p:nvSpPr>
        <p:spPr>
          <a:xfrm>
            <a:off x="6217920" y="1280160"/>
            <a:ext cx="594360" cy="685800"/>
          </a:xfrm>
          <a:prstGeom prst="rect">
            <a:avLst/>
          </a:prstGeom>
          <a:noFill/>
          <a:ln/>
        </p:spPr>
        <p:txBody>
          <a:bodyPr wrap="square" lIns="508" tIns="508" rIns="508" bIns="508" rtlCol="0" anchor="ctr"/>
          <a:lstStyle/>
          <a:p>
            <a:pPr algn="ctr" indent="0" marL="0">
              <a:buNone/>
            </a:pPr>
            <a:r>
              <a:rPr lang="en-US" sz="1800" b="1" dirty="0">
                <a:solidFill>
                  <a:schemeClr val="tx1"/>
                </a:solidFill>
              </a:rPr>
              <a:t>5</a:t>
            </a:r>
            <a:endParaRPr lang="en-US" sz="1800" dirty="0"/>
          </a:p>
        </p:txBody>
      </p:sp>
      <p:sp>
        <p:nvSpPr>
          <p:cNvPr id="30" name="text-1124"/>
          <p:cNvSpPr txBox="1"/>
          <p:nvPr/>
        </p:nvSpPr>
        <p:spPr>
          <a:xfrm>
            <a:off x="7040880" y="1298448"/>
            <a:ext cx="3291840" cy="731520"/>
          </a:xfrm>
          <a:prstGeom prst="rect">
            <a:avLst/>
          </a:prstGeom>
          <a:noFill/>
          <a:ln/>
        </p:spPr>
        <p:txBody>
          <a:bodyPr wrap="square" lIns="0" tIns="0" rIns="0" bIns="0" rtlCol="0" anchor="ctr"/>
          <a:lstStyle/>
          <a:p>
            <a:pPr indent="0" marL="0">
              <a:buNone/>
            </a:pPr>
            <a:r>
              <a:rPr lang="en-US" sz="1500" b="1" dirty="0">
                <a:solidFill>
                  <a:schemeClr val="tx1"/>
                </a:solidFill>
              </a:rPr>
              <a:t>Identity Center</a:t>
            </a:r>
            <a:endParaRPr lang="en-US" sz="1400" dirty="0"/>
          </a:p>
          <a:p>
            <a:pPr indent="0" marL="0">
              <a:buNone/>
            </a:pPr>
            <a:r>
              <a:rPr lang="en-US" sz="1300" dirty="0">
                <a:solidFill>
                  <a:schemeClr val="tx2"/>
                </a:solidFill>
              </a:rPr>
              <a:t>Then delete the bootstrap IAM user</a:t>
            </a:r>
            <a:endParaRPr lang="en-US" sz="1400" dirty="0"/>
          </a:p>
        </p:txBody>
      </p:sp>
      <p:sp>
        <p:nvSpPr>
          <p:cNvPr id="31" name="box-1125"/>
          <p:cNvSpPr/>
          <p:nvPr/>
        </p:nvSpPr>
        <p:spPr>
          <a:xfrm>
            <a:off x="10378440" y="1444752"/>
            <a:ext cx="1188720" cy="365760"/>
          </a:xfrm>
          <a:prstGeom prst="roundRect">
            <a:avLst>
              <a:gd name="adj" fmla="val 20000"/>
            </a:avLst>
          </a:prstGeom>
          <a:solidFill>
            <a:schemeClr val="bg2"/>
          </a:solidFill>
          <a:ln w="9525">
            <a:solidFill>
              <a:schemeClr val="bg2"/>
            </a:solidFill>
            <a:prstDash val="solid"/>
          </a:ln>
        </p:spPr>
      </p:sp>
      <p:sp>
        <p:nvSpPr>
          <p:cNvPr id="32" name="box-t-1126"/>
          <p:cNvSpPr txBox="1"/>
          <p:nvPr/>
        </p:nvSpPr>
        <p:spPr>
          <a:xfrm>
            <a:off x="10424160" y="1444752"/>
            <a:ext cx="1097280" cy="365760"/>
          </a:xfrm>
          <a:prstGeom prst="rect">
            <a:avLst/>
          </a:prstGeom>
          <a:noFill/>
          <a:ln/>
        </p:spPr>
        <p:txBody>
          <a:bodyPr wrap="square" lIns="508" tIns="508" rIns="508" bIns="508" rtlCol="0" anchor="ctr"/>
          <a:lstStyle/>
          <a:p>
            <a:pPr algn="ctr" indent="0" marL="0">
              <a:buNone/>
            </a:pPr>
            <a:r>
              <a:rPr lang="en-US" sz="1100" b="1" dirty="0">
                <a:solidFill>
                  <a:schemeClr val="tx2"/>
                </a:solidFill>
              </a:rPr>
              <a:t>To do</a:t>
            </a:r>
            <a:endParaRPr lang="en-US" sz="1100" dirty="0"/>
          </a:p>
        </p:txBody>
      </p:sp>
      <p:sp>
        <p:nvSpPr>
          <p:cNvPr id="33" name="box-1127"/>
          <p:cNvSpPr/>
          <p:nvPr/>
        </p:nvSpPr>
        <p:spPr>
          <a:xfrm>
            <a:off x="6172200" y="2267712"/>
            <a:ext cx="685800" cy="685800"/>
          </a:xfrm>
          <a:prstGeom prst="ellipse">
            <a:avLst/>
          </a:prstGeom>
          <a:solidFill>
            <a:schemeClr val="bg2"/>
          </a:solidFill>
          <a:ln w="9525">
            <a:solidFill>
              <a:schemeClr val="bg2"/>
            </a:solidFill>
            <a:prstDash val="solid"/>
          </a:ln>
        </p:spPr>
      </p:sp>
      <p:sp>
        <p:nvSpPr>
          <p:cNvPr id="34" name="box-t-1128"/>
          <p:cNvSpPr txBox="1"/>
          <p:nvPr/>
        </p:nvSpPr>
        <p:spPr>
          <a:xfrm>
            <a:off x="6217920" y="2267712"/>
            <a:ext cx="594360" cy="685800"/>
          </a:xfrm>
          <a:prstGeom prst="rect">
            <a:avLst/>
          </a:prstGeom>
          <a:noFill/>
          <a:ln/>
        </p:spPr>
        <p:txBody>
          <a:bodyPr wrap="square" lIns="508" tIns="508" rIns="508" bIns="508" rtlCol="0" anchor="ctr"/>
          <a:lstStyle/>
          <a:p>
            <a:pPr algn="ctr" indent="0" marL="0">
              <a:buNone/>
            </a:pPr>
            <a:r>
              <a:rPr lang="en-US" sz="1800" b="1" dirty="0">
                <a:solidFill>
                  <a:schemeClr val="tx1"/>
                </a:solidFill>
              </a:rPr>
              <a:t>6</a:t>
            </a:r>
            <a:endParaRPr lang="en-US" sz="1800" dirty="0"/>
          </a:p>
        </p:txBody>
      </p:sp>
      <p:sp>
        <p:nvSpPr>
          <p:cNvPr id="35" name="text-1129"/>
          <p:cNvSpPr txBox="1"/>
          <p:nvPr/>
        </p:nvSpPr>
        <p:spPr>
          <a:xfrm>
            <a:off x="7040880" y="2286000"/>
            <a:ext cx="3291840" cy="731520"/>
          </a:xfrm>
          <a:prstGeom prst="rect">
            <a:avLst/>
          </a:prstGeom>
          <a:noFill/>
          <a:ln/>
        </p:spPr>
        <p:txBody>
          <a:bodyPr wrap="square" lIns="0" tIns="0" rIns="0" bIns="0" rtlCol="0" anchor="ctr"/>
          <a:lstStyle/>
          <a:p>
            <a:pPr indent="0" marL="0">
              <a:buNone/>
            </a:pPr>
            <a:r>
              <a:rPr lang="en-US" sz="1500" b="1" dirty="0">
                <a:solidFill>
                  <a:schemeClr val="tx1"/>
                </a:solidFill>
              </a:rPr>
              <a:t>Centralized logging</a:t>
            </a:r>
            <a:endParaRPr lang="en-US" sz="1400" dirty="0"/>
          </a:p>
        </p:txBody>
      </p:sp>
      <p:sp>
        <p:nvSpPr>
          <p:cNvPr id="36" name="box-1130"/>
          <p:cNvSpPr/>
          <p:nvPr/>
        </p:nvSpPr>
        <p:spPr>
          <a:xfrm>
            <a:off x="10378440" y="2432304"/>
            <a:ext cx="1188720" cy="365760"/>
          </a:xfrm>
          <a:prstGeom prst="roundRect">
            <a:avLst>
              <a:gd name="adj" fmla="val 20000"/>
            </a:avLst>
          </a:prstGeom>
          <a:solidFill>
            <a:schemeClr val="bg2"/>
          </a:solidFill>
          <a:ln w="9525">
            <a:solidFill>
              <a:schemeClr val="bg2"/>
            </a:solidFill>
            <a:prstDash val="solid"/>
          </a:ln>
        </p:spPr>
      </p:sp>
      <p:sp>
        <p:nvSpPr>
          <p:cNvPr id="37" name="box-t-1131"/>
          <p:cNvSpPr txBox="1"/>
          <p:nvPr/>
        </p:nvSpPr>
        <p:spPr>
          <a:xfrm>
            <a:off x="10424160" y="2432304"/>
            <a:ext cx="1097280" cy="365760"/>
          </a:xfrm>
          <a:prstGeom prst="rect">
            <a:avLst/>
          </a:prstGeom>
          <a:noFill/>
          <a:ln/>
        </p:spPr>
        <p:txBody>
          <a:bodyPr wrap="square" lIns="508" tIns="508" rIns="508" bIns="508" rtlCol="0" anchor="ctr"/>
          <a:lstStyle/>
          <a:p>
            <a:pPr algn="ctr" indent="0" marL="0">
              <a:buNone/>
            </a:pPr>
            <a:r>
              <a:rPr lang="en-US" sz="1100" b="1" dirty="0">
                <a:solidFill>
                  <a:schemeClr val="tx2"/>
                </a:solidFill>
              </a:rPr>
              <a:t>To do</a:t>
            </a:r>
            <a:endParaRPr lang="en-US" sz="1100" dirty="0"/>
          </a:p>
        </p:txBody>
      </p:sp>
      <p:sp>
        <p:nvSpPr>
          <p:cNvPr id="38" name="box-1132"/>
          <p:cNvSpPr/>
          <p:nvPr/>
        </p:nvSpPr>
        <p:spPr>
          <a:xfrm>
            <a:off x="6172200" y="3255264"/>
            <a:ext cx="685800" cy="685800"/>
          </a:xfrm>
          <a:prstGeom prst="ellipse">
            <a:avLst/>
          </a:prstGeom>
          <a:solidFill>
            <a:schemeClr val="bg2"/>
          </a:solidFill>
          <a:ln w="9525">
            <a:solidFill>
              <a:schemeClr val="bg2"/>
            </a:solidFill>
            <a:prstDash val="solid"/>
          </a:ln>
        </p:spPr>
      </p:sp>
      <p:sp>
        <p:nvSpPr>
          <p:cNvPr id="39" name="box-t-1133"/>
          <p:cNvSpPr txBox="1"/>
          <p:nvPr/>
        </p:nvSpPr>
        <p:spPr>
          <a:xfrm>
            <a:off x="6217920" y="3255264"/>
            <a:ext cx="594360" cy="685800"/>
          </a:xfrm>
          <a:prstGeom prst="rect">
            <a:avLst/>
          </a:prstGeom>
          <a:noFill/>
          <a:ln/>
        </p:spPr>
        <p:txBody>
          <a:bodyPr wrap="square" lIns="508" tIns="508" rIns="508" bIns="508" rtlCol="0" anchor="ctr"/>
          <a:lstStyle/>
          <a:p>
            <a:pPr algn="ctr" indent="0" marL="0">
              <a:buNone/>
            </a:pPr>
            <a:r>
              <a:rPr lang="en-US" sz="1800" b="1" dirty="0">
                <a:solidFill>
                  <a:schemeClr val="tx1"/>
                </a:solidFill>
              </a:rPr>
              <a:t>7</a:t>
            </a:r>
            <a:endParaRPr lang="en-US" sz="1800" dirty="0"/>
          </a:p>
        </p:txBody>
      </p:sp>
      <p:sp>
        <p:nvSpPr>
          <p:cNvPr id="40" name="text-1134"/>
          <p:cNvSpPr txBox="1"/>
          <p:nvPr/>
        </p:nvSpPr>
        <p:spPr>
          <a:xfrm>
            <a:off x="7040880" y="3273552"/>
            <a:ext cx="3291840" cy="731520"/>
          </a:xfrm>
          <a:prstGeom prst="rect">
            <a:avLst/>
          </a:prstGeom>
          <a:noFill/>
          <a:ln/>
        </p:spPr>
        <p:txBody>
          <a:bodyPr wrap="square" lIns="0" tIns="0" rIns="0" bIns="0" rtlCol="0" anchor="ctr"/>
          <a:lstStyle/>
          <a:p>
            <a:pPr indent="0" marL="0">
              <a:buNone/>
            </a:pPr>
            <a:r>
              <a:rPr lang="en-US" sz="1500" b="1" dirty="0">
                <a:solidFill>
                  <a:schemeClr val="tx1"/>
                </a:solidFill>
              </a:rPr>
              <a:t>Security services</a:t>
            </a:r>
            <a:endParaRPr lang="en-US" sz="1400" dirty="0"/>
          </a:p>
        </p:txBody>
      </p:sp>
      <p:sp>
        <p:nvSpPr>
          <p:cNvPr id="41" name="box-1135"/>
          <p:cNvSpPr/>
          <p:nvPr/>
        </p:nvSpPr>
        <p:spPr>
          <a:xfrm>
            <a:off x="10378440" y="3419856"/>
            <a:ext cx="1188720" cy="365760"/>
          </a:xfrm>
          <a:prstGeom prst="roundRect">
            <a:avLst>
              <a:gd name="adj" fmla="val 20000"/>
            </a:avLst>
          </a:prstGeom>
          <a:solidFill>
            <a:schemeClr val="bg2"/>
          </a:solidFill>
          <a:ln w="9525">
            <a:solidFill>
              <a:schemeClr val="bg2"/>
            </a:solidFill>
            <a:prstDash val="solid"/>
          </a:ln>
        </p:spPr>
      </p:sp>
      <p:sp>
        <p:nvSpPr>
          <p:cNvPr id="42" name="box-t-1136"/>
          <p:cNvSpPr txBox="1"/>
          <p:nvPr/>
        </p:nvSpPr>
        <p:spPr>
          <a:xfrm>
            <a:off x="10424160" y="3419856"/>
            <a:ext cx="1097280" cy="365760"/>
          </a:xfrm>
          <a:prstGeom prst="rect">
            <a:avLst/>
          </a:prstGeom>
          <a:noFill/>
          <a:ln/>
        </p:spPr>
        <p:txBody>
          <a:bodyPr wrap="square" lIns="508" tIns="508" rIns="508" bIns="508" rtlCol="0" anchor="ctr"/>
          <a:lstStyle/>
          <a:p>
            <a:pPr algn="ctr" indent="0" marL="0">
              <a:buNone/>
            </a:pPr>
            <a:r>
              <a:rPr lang="en-US" sz="1100" b="1" dirty="0">
                <a:solidFill>
                  <a:schemeClr val="tx2"/>
                </a:solidFill>
              </a:rPr>
              <a:t>To do</a:t>
            </a:r>
            <a:endParaRPr lang="en-US" sz="1100" dirty="0"/>
          </a:p>
        </p:txBody>
      </p:sp>
      <p:sp>
        <p:nvSpPr>
          <p:cNvPr id="43" name="box-1137"/>
          <p:cNvSpPr/>
          <p:nvPr/>
        </p:nvSpPr>
        <p:spPr>
          <a:xfrm>
            <a:off x="6172200" y="4242816"/>
            <a:ext cx="685800" cy="685800"/>
          </a:xfrm>
          <a:prstGeom prst="ellipse">
            <a:avLst/>
          </a:prstGeom>
          <a:solidFill>
            <a:schemeClr val="bg2"/>
          </a:solidFill>
          <a:ln w="9525">
            <a:solidFill>
              <a:schemeClr val="bg2"/>
            </a:solidFill>
            <a:prstDash val="solid"/>
          </a:ln>
        </p:spPr>
      </p:sp>
      <p:sp>
        <p:nvSpPr>
          <p:cNvPr id="44" name="box-t-1138"/>
          <p:cNvSpPr txBox="1"/>
          <p:nvPr/>
        </p:nvSpPr>
        <p:spPr>
          <a:xfrm>
            <a:off x="6217920" y="4242816"/>
            <a:ext cx="594360" cy="685800"/>
          </a:xfrm>
          <a:prstGeom prst="rect">
            <a:avLst/>
          </a:prstGeom>
          <a:noFill/>
          <a:ln/>
        </p:spPr>
        <p:txBody>
          <a:bodyPr wrap="square" lIns="508" tIns="508" rIns="508" bIns="508" rtlCol="0" anchor="ctr"/>
          <a:lstStyle/>
          <a:p>
            <a:pPr algn="ctr" indent="0" marL="0">
              <a:buNone/>
            </a:pPr>
            <a:r>
              <a:rPr lang="en-US" sz="1800" b="1" dirty="0">
                <a:solidFill>
                  <a:schemeClr val="tx1"/>
                </a:solidFill>
              </a:rPr>
              <a:t>8</a:t>
            </a:r>
            <a:endParaRPr lang="en-US" sz="1800" dirty="0"/>
          </a:p>
        </p:txBody>
      </p:sp>
      <p:sp>
        <p:nvSpPr>
          <p:cNvPr id="45" name="text-1139"/>
          <p:cNvSpPr txBox="1"/>
          <p:nvPr/>
        </p:nvSpPr>
        <p:spPr>
          <a:xfrm>
            <a:off x="7040880" y="4261104"/>
            <a:ext cx="3291840" cy="731520"/>
          </a:xfrm>
          <a:prstGeom prst="rect">
            <a:avLst/>
          </a:prstGeom>
          <a:noFill/>
          <a:ln/>
        </p:spPr>
        <p:txBody>
          <a:bodyPr wrap="square" lIns="0" tIns="0" rIns="0" bIns="0" rtlCol="0" anchor="ctr"/>
          <a:lstStyle/>
          <a:p>
            <a:pPr indent="0" marL="0">
              <a:buNone/>
            </a:pPr>
            <a:r>
              <a:rPr lang="en-US" sz="1500" b="1" dirty="0">
                <a:solidFill>
                  <a:schemeClr val="tx1"/>
                </a:solidFill>
              </a:rPr>
              <a:t>Transit Gateway network</a:t>
            </a:r>
            <a:endParaRPr lang="en-US" sz="1400" dirty="0"/>
          </a:p>
          <a:p>
            <a:pPr indent="0" marL="0">
              <a:buNone/>
            </a:pPr>
            <a:r>
              <a:rPr lang="en-US" sz="1300" dirty="0">
                <a:solidFill>
                  <a:schemeClr val="tx2"/>
                </a:solidFill>
              </a:rPr>
              <a:t>The only step that costs real money</a:t>
            </a:r>
            <a:endParaRPr lang="en-US" sz="1400" dirty="0"/>
          </a:p>
        </p:txBody>
      </p:sp>
      <p:sp>
        <p:nvSpPr>
          <p:cNvPr id="46" name="box-1140"/>
          <p:cNvSpPr/>
          <p:nvPr/>
        </p:nvSpPr>
        <p:spPr>
          <a:xfrm>
            <a:off x="10378440" y="4407408"/>
            <a:ext cx="1188720" cy="365760"/>
          </a:xfrm>
          <a:prstGeom prst="roundRect">
            <a:avLst>
              <a:gd name="adj" fmla="val 20000"/>
            </a:avLst>
          </a:prstGeom>
          <a:solidFill>
            <a:schemeClr val="bg2"/>
          </a:solidFill>
          <a:ln w="9525">
            <a:solidFill>
              <a:schemeClr val="bg2"/>
            </a:solidFill>
            <a:prstDash val="solid"/>
          </a:ln>
        </p:spPr>
      </p:sp>
      <p:sp>
        <p:nvSpPr>
          <p:cNvPr id="47" name="box-t-1141"/>
          <p:cNvSpPr txBox="1"/>
          <p:nvPr/>
        </p:nvSpPr>
        <p:spPr>
          <a:xfrm>
            <a:off x="10424160" y="4407408"/>
            <a:ext cx="1097280" cy="365760"/>
          </a:xfrm>
          <a:prstGeom prst="rect">
            <a:avLst/>
          </a:prstGeom>
          <a:noFill/>
          <a:ln/>
        </p:spPr>
        <p:txBody>
          <a:bodyPr wrap="square" lIns="508" tIns="508" rIns="508" bIns="508" rtlCol="0" anchor="ctr"/>
          <a:lstStyle/>
          <a:p>
            <a:pPr algn="ctr" indent="0" marL="0">
              <a:buNone/>
            </a:pPr>
            <a:r>
              <a:rPr lang="en-US" sz="1100" b="1" dirty="0">
                <a:solidFill>
                  <a:schemeClr val="tx2"/>
                </a:solidFill>
              </a:rPr>
              <a:t>To do</a:t>
            </a:r>
            <a:endParaRPr lang="en-US" sz="1100" dirty="0"/>
          </a:p>
        </p:txBody>
      </p:sp>
      <p:sp>
        <p:nvSpPr>
          <p:cNvPr id="48" name="box-1142"/>
          <p:cNvSpPr/>
          <p:nvPr/>
        </p:nvSpPr>
        <p:spPr>
          <a:xfrm>
            <a:off x="6172200" y="5230368"/>
            <a:ext cx="685800" cy="685800"/>
          </a:xfrm>
          <a:prstGeom prst="ellipse">
            <a:avLst/>
          </a:prstGeom>
          <a:solidFill>
            <a:schemeClr val="bg2"/>
          </a:solidFill>
          <a:ln w="9525">
            <a:solidFill>
              <a:schemeClr val="bg2"/>
            </a:solidFill>
            <a:prstDash val="solid"/>
          </a:ln>
        </p:spPr>
      </p:sp>
      <p:sp>
        <p:nvSpPr>
          <p:cNvPr id="49" name="box-t-1143"/>
          <p:cNvSpPr txBox="1"/>
          <p:nvPr/>
        </p:nvSpPr>
        <p:spPr>
          <a:xfrm>
            <a:off x="6217920" y="5230368"/>
            <a:ext cx="594360" cy="685800"/>
          </a:xfrm>
          <a:prstGeom prst="rect">
            <a:avLst/>
          </a:prstGeom>
          <a:noFill/>
          <a:ln/>
        </p:spPr>
        <p:txBody>
          <a:bodyPr wrap="square" lIns="508" tIns="508" rIns="508" bIns="508" rtlCol="0" anchor="ctr"/>
          <a:lstStyle/>
          <a:p>
            <a:pPr algn="ctr" indent="0" marL="0">
              <a:buNone/>
            </a:pPr>
            <a:r>
              <a:rPr lang="en-US" sz="1800" b="1" dirty="0">
                <a:solidFill>
                  <a:schemeClr val="tx1"/>
                </a:solidFill>
              </a:rPr>
              <a:t>9</a:t>
            </a:r>
            <a:endParaRPr lang="en-US" sz="1800" dirty="0"/>
          </a:p>
        </p:txBody>
      </p:sp>
      <p:sp>
        <p:nvSpPr>
          <p:cNvPr id="50" name="text-1144"/>
          <p:cNvSpPr txBox="1"/>
          <p:nvPr/>
        </p:nvSpPr>
        <p:spPr>
          <a:xfrm>
            <a:off x="7040880" y="5248656"/>
            <a:ext cx="3291840" cy="731520"/>
          </a:xfrm>
          <a:prstGeom prst="rect">
            <a:avLst/>
          </a:prstGeom>
          <a:noFill/>
          <a:ln/>
        </p:spPr>
        <p:txBody>
          <a:bodyPr wrap="square" lIns="0" tIns="0" rIns="0" bIns="0" rtlCol="0" anchor="ctr"/>
          <a:lstStyle/>
          <a:p>
            <a:pPr indent="0" marL="0">
              <a:buNone/>
            </a:pPr>
            <a:r>
              <a:rPr lang="en-US" sz="1500" b="1" dirty="0">
                <a:solidFill>
                  <a:schemeClr val="tx1"/>
                </a:solidFill>
              </a:rPr>
              <a:t>Verify, CI, write-up</a:t>
            </a:r>
            <a:endParaRPr lang="en-US" sz="1400" dirty="0"/>
          </a:p>
        </p:txBody>
      </p:sp>
      <p:sp>
        <p:nvSpPr>
          <p:cNvPr id="51" name="box-1145"/>
          <p:cNvSpPr/>
          <p:nvPr/>
        </p:nvSpPr>
        <p:spPr>
          <a:xfrm>
            <a:off x="10378440" y="5394960"/>
            <a:ext cx="1188720" cy="365760"/>
          </a:xfrm>
          <a:prstGeom prst="roundRect">
            <a:avLst>
              <a:gd name="adj" fmla="val 20000"/>
            </a:avLst>
          </a:prstGeom>
          <a:solidFill>
            <a:schemeClr val="bg2"/>
          </a:solidFill>
          <a:ln w="9525">
            <a:solidFill>
              <a:schemeClr val="bg2"/>
            </a:solidFill>
            <a:prstDash val="solid"/>
          </a:ln>
        </p:spPr>
      </p:sp>
      <p:sp>
        <p:nvSpPr>
          <p:cNvPr id="52" name="box-t-1146"/>
          <p:cNvSpPr txBox="1"/>
          <p:nvPr/>
        </p:nvSpPr>
        <p:spPr>
          <a:xfrm>
            <a:off x="10424160" y="5394960"/>
            <a:ext cx="1097280" cy="365760"/>
          </a:xfrm>
          <a:prstGeom prst="rect">
            <a:avLst/>
          </a:prstGeom>
          <a:noFill/>
          <a:ln/>
        </p:spPr>
        <p:txBody>
          <a:bodyPr wrap="square" lIns="508" tIns="508" rIns="508" bIns="508" rtlCol="0" anchor="ctr"/>
          <a:lstStyle/>
          <a:p>
            <a:pPr algn="ctr" indent="0" marL="0">
              <a:buNone/>
            </a:pPr>
            <a:r>
              <a:rPr lang="en-US" sz="1100" b="1" dirty="0">
                <a:solidFill>
                  <a:schemeClr val="tx2"/>
                </a:solidFill>
              </a:rPr>
              <a:t>To do</a:t>
            </a:r>
            <a:endParaRPr lang="en-US" sz="11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lIns="0" tIns="0" rIns="0" bIns="0" rtlCol="0" anchor="ctr"/>
          <a:lstStyle/>
          <a:p>
            <a:pPr algn="l" indent="0" marL="0">
              <a:buNone/>
            </a:pPr>
            <a:r>
              <a:rPr lang="en-US" sz="3400" b="1" dirty="0">
                <a:solidFill>
                  <a:schemeClr val="tx1"/>
                </a:solidFill>
              </a:rPr>
              <a:t>HCL cheat sheet</a:t>
            </a:r>
            <a:endParaRPr lang="en-US" sz="3400" dirty="0"/>
          </a:p>
        </p:txBody>
      </p:sp>
      <p:sp>
        <p:nvSpPr>
          <p:cNvPr id="3" name="card-1147"/>
          <p:cNvSpPr/>
          <p:nvPr/>
        </p:nvSpPr>
        <p:spPr>
          <a:xfrm>
            <a:off x="502920" y="1280160"/>
            <a:ext cx="5486400" cy="685800"/>
          </a:xfrm>
          <a:prstGeom prst="roundRect">
            <a:avLst>
              <a:gd name="adj" fmla="val 13333"/>
            </a:avLst>
          </a:prstGeom>
          <a:solidFill>
            <a:schemeClr val="bg2"/>
          </a:solidFill>
          <a:ln w="12700">
            <a:solidFill>
              <a:schemeClr val="bg2"/>
            </a:solidFill>
            <a:prstDash val="solid"/>
          </a:ln>
        </p:spPr>
      </p:sp>
      <p:sp>
        <p:nvSpPr>
          <p:cNvPr id="4" name="text-1148"/>
          <p:cNvSpPr txBox="1"/>
          <p:nvPr/>
        </p:nvSpPr>
        <p:spPr>
          <a:xfrm>
            <a:off x="685800" y="1280160"/>
            <a:ext cx="3108960" cy="68580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var.x / local.x</a:t>
            </a:r>
            <a:endParaRPr lang="en-US" sz="1300" dirty="0"/>
          </a:p>
        </p:txBody>
      </p:sp>
      <p:sp>
        <p:nvSpPr>
          <p:cNvPr id="5" name="text-1149"/>
          <p:cNvSpPr txBox="1"/>
          <p:nvPr/>
        </p:nvSpPr>
        <p:spPr>
          <a:xfrm>
            <a:off x="3794760" y="1280160"/>
            <a:ext cx="2103120" cy="685800"/>
          </a:xfrm>
          <a:prstGeom prst="rect">
            <a:avLst/>
          </a:prstGeom>
          <a:noFill/>
          <a:ln/>
        </p:spPr>
        <p:txBody>
          <a:bodyPr wrap="square" lIns="0" tIns="0" rIns="0" bIns="0" rtlCol="0" anchor="ctr"/>
          <a:lstStyle/>
          <a:p>
            <a:pPr indent="0" marL="0">
              <a:buNone/>
            </a:pPr>
            <a:r>
              <a:rPr lang="en-US" sz="1300" dirty="0">
                <a:solidFill>
                  <a:schemeClr val="tx1"/>
                </a:solidFill>
              </a:rPr>
              <a:t>Read a variable or local</a:t>
            </a:r>
            <a:endParaRPr lang="en-US" sz="1300" dirty="0"/>
          </a:p>
        </p:txBody>
      </p:sp>
      <p:sp>
        <p:nvSpPr>
          <p:cNvPr id="6" name="card-1150"/>
          <p:cNvSpPr/>
          <p:nvPr/>
        </p:nvSpPr>
        <p:spPr>
          <a:xfrm>
            <a:off x="6172200" y="1280160"/>
            <a:ext cx="5486400" cy="685800"/>
          </a:xfrm>
          <a:prstGeom prst="roundRect">
            <a:avLst>
              <a:gd name="adj" fmla="val 13333"/>
            </a:avLst>
          </a:prstGeom>
          <a:solidFill>
            <a:schemeClr val="bg2"/>
          </a:solidFill>
          <a:ln w="12700">
            <a:solidFill>
              <a:schemeClr val="bg2"/>
            </a:solidFill>
            <a:prstDash val="solid"/>
          </a:ln>
        </p:spPr>
      </p:sp>
      <p:sp>
        <p:nvSpPr>
          <p:cNvPr id="7" name="text-1151"/>
          <p:cNvSpPr txBox="1"/>
          <p:nvPr/>
        </p:nvSpPr>
        <p:spPr>
          <a:xfrm>
            <a:off x="6355080" y="1280160"/>
            <a:ext cx="3108960" cy="68580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aws_s3_bucket.state.arn</a:t>
            </a:r>
            <a:endParaRPr lang="en-US" sz="1300" dirty="0"/>
          </a:p>
        </p:txBody>
      </p:sp>
      <p:sp>
        <p:nvSpPr>
          <p:cNvPr id="8" name="text-1152"/>
          <p:cNvSpPr txBox="1"/>
          <p:nvPr/>
        </p:nvSpPr>
        <p:spPr>
          <a:xfrm>
            <a:off x="9464040" y="1280160"/>
            <a:ext cx="2103120" cy="685800"/>
          </a:xfrm>
          <a:prstGeom prst="rect">
            <a:avLst/>
          </a:prstGeom>
          <a:noFill/>
          <a:ln/>
        </p:spPr>
        <p:txBody>
          <a:bodyPr wrap="square" lIns="0" tIns="0" rIns="0" bIns="0" rtlCol="0" anchor="ctr"/>
          <a:lstStyle/>
          <a:p>
            <a:pPr indent="0" marL="0">
              <a:buNone/>
            </a:pPr>
            <a:r>
              <a:rPr lang="en-US" sz="1300" dirty="0">
                <a:solidFill>
                  <a:schemeClr val="tx1"/>
                </a:solidFill>
              </a:rPr>
              <a:t>Read a resource attribute</a:t>
            </a:r>
            <a:endParaRPr lang="en-US" sz="1300" dirty="0"/>
          </a:p>
        </p:txBody>
      </p:sp>
      <p:sp>
        <p:nvSpPr>
          <p:cNvPr id="9" name="card-1153"/>
          <p:cNvSpPr/>
          <p:nvPr/>
        </p:nvSpPr>
        <p:spPr>
          <a:xfrm>
            <a:off x="502920" y="2103120"/>
            <a:ext cx="5486400" cy="685800"/>
          </a:xfrm>
          <a:prstGeom prst="roundRect">
            <a:avLst>
              <a:gd name="adj" fmla="val 13333"/>
            </a:avLst>
          </a:prstGeom>
          <a:solidFill>
            <a:schemeClr val="bg1"/>
          </a:solidFill>
          <a:ln w="12700">
            <a:solidFill>
              <a:schemeClr val="bg1"/>
            </a:solidFill>
            <a:prstDash val="solid"/>
          </a:ln>
        </p:spPr>
      </p:sp>
      <p:sp>
        <p:nvSpPr>
          <p:cNvPr id="10" name="text-1154"/>
          <p:cNvSpPr txBox="1"/>
          <p:nvPr/>
        </p:nvSpPr>
        <p:spPr>
          <a:xfrm>
            <a:off x="685800" y="2103120"/>
            <a:ext cx="3108960" cy="68580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data.TYPE.NAME.attr</a:t>
            </a:r>
            <a:endParaRPr lang="en-US" sz="1300" dirty="0"/>
          </a:p>
        </p:txBody>
      </p:sp>
      <p:sp>
        <p:nvSpPr>
          <p:cNvPr id="11" name="text-1155"/>
          <p:cNvSpPr txBox="1"/>
          <p:nvPr/>
        </p:nvSpPr>
        <p:spPr>
          <a:xfrm>
            <a:off x="3794760" y="2103120"/>
            <a:ext cx="2103120" cy="685800"/>
          </a:xfrm>
          <a:prstGeom prst="rect">
            <a:avLst/>
          </a:prstGeom>
          <a:noFill/>
          <a:ln/>
        </p:spPr>
        <p:txBody>
          <a:bodyPr wrap="square" lIns="0" tIns="0" rIns="0" bIns="0" rtlCol="0" anchor="ctr"/>
          <a:lstStyle/>
          <a:p>
            <a:pPr indent="0" marL="0">
              <a:buNone/>
            </a:pPr>
            <a:r>
              <a:rPr lang="en-US" sz="1300" dirty="0">
                <a:solidFill>
                  <a:schemeClr val="tx1"/>
                </a:solidFill>
              </a:rPr>
              <a:t>Read a data source</a:t>
            </a:r>
            <a:endParaRPr lang="en-US" sz="1300" dirty="0"/>
          </a:p>
        </p:txBody>
      </p:sp>
      <p:sp>
        <p:nvSpPr>
          <p:cNvPr id="12" name="card-1156"/>
          <p:cNvSpPr/>
          <p:nvPr/>
        </p:nvSpPr>
        <p:spPr>
          <a:xfrm>
            <a:off x="6172200" y="2103120"/>
            <a:ext cx="5486400" cy="685800"/>
          </a:xfrm>
          <a:prstGeom prst="roundRect">
            <a:avLst>
              <a:gd name="adj" fmla="val 13333"/>
            </a:avLst>
          </a:prstGeom>
          <a:solidFill>
            <a:schemeClr val="bg1"/>
          </a:solidFill>
          <a:ln w="12700">
            <a:solidFill>
              <a:schemeClr val="bg1"/>
            </a:solidFill>
            <a:prstDash val="solid"/>
          </a:ln>
        </p:spPr>
      </p:sp>
      <p:sp>
        <p:nvSpPr>
          <p:cNvPr id="13" name="text-1157"/>
          <p:cNvSpPr txBox="1"/>
          <p:nvPr/>
        </p:nvSpPr>
        <p:spPr>
          <a:xfrm>
            <a:off x="6355080" y="2103120"/>
            <a:ext cx="3108960" cy="68580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module.NAME.output</a:t>
            </a:r>
            <a:endParaRPr lang="en-US" sz="1300" dirty="0"/>
          </a:p>
        </p:txBody>
      </p:sp>
      <p:sp>
        <p:nvSpPr>
          <p:cNvPr id="14" name="text-1158"/>
          <p:cNvSpPr txBox="1"/>
          <p:nvPr/>
        </p:nvSpPr>
        <p:spPr>
          <a:xfrm>
            <a:off x="9464040" y="2103120"/>
            <a:ext cx="2103120" cy="685800"/>
          </a:xfrm>
          <a:prstGeom prst="rect">
            <a:avLst/>
          </a:prstGeom>
          <a:noFill/>
          <a:ln/>
        </p:spPr>
        <p:txBody>
          <a:bodyPr wrap="square" lIns="0" tIns="0" rIns="0" bIns="0" rtlCol="0" anchor="ctr"/>
          <a:lstStyle/>
          <a:p>
            <a:pPr indent="0" marL="0">
              <a:buNone/>
            </a:pPr>
            <a:r>
              <a:rPr lang="en-US" sz="1300" dirty="0">
                <a:solidFill>
                  <a:schemeClr val="tx1"/>
                </a:solidFill>
              </a:rPr>
              <a:t>Read a module's return value</a:t>
            </a:r>
            <a:endParaRPr lang="en-US" sz="1300" dirty="0"/>
          </a:p>
        </p:txBody>
      </p:sp>
      <p:sp>
        <p:nvSpPr>
          <p:cNvPr id="15" name="card-1159"/>
          <p:cNvSpPr/>
          <p:nvPr/>
        </p:nvSpPr>
        <p:spPr>
          <a:xfrm>
            <a:off x="502920" y="2926080"/>
            <a:ext cx="5486400" cy="685800"/>
          </a:xfrm>
          <a:prstGeom prst="roundRect">
            <a:avLst>
              <a:gd name="adj" fmla="val 13333"/>
            </a:avLst>
          </a:prstGeom>
          <a:solidFill>
            <a:schemeClr val="bg2"/>
          </a:solidFill>
          <a:ln w="12700">
            <a:solidFill>
              <a:schemeClr val="bg2"/>
            </a:solidFill>
            <a:prstDash val="solid"/>
          </a:ln>
        </p:spPr>
      </p:sp>
      <p:sp>
        <p:nvSpPr>
          <p:cNvPr id="16" name="text-1160"/>
          <p:cNvSpPr txBox="1"/>
          <p:nvPr/>
        </p:nvSpPr>
        <p:spPr>
          <a:xfrm>
            <a:off x="685800" y="2926080"/>
            <a:ext cx="3108960" cy="68580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for_each = map</a:t>
            </a:r>
            <a:endParaRPr lang="en-US" sz="1300" dirty="0"/>
          </a:p>
        </p:txBody>
      </p:sp>
      <p:sp>
        <p:nvSpPr>
          <p:cNvPr id="17" name="text-1161"/>
          <p:cNvSpPr txBox="1"/>
          <p:nvPr/>
        </p:nvSpPr>
        <p:spPr>
          <a:xfrm>
            <a:off x="3794760" y="2926080"/>
            <a:ext cx="2103120" cy="685800"/>
          </a:xfrm>
          <a:prstGeom prst="rect">
            <a:avLst/>
          </a:prstGeom>
          <a:noFill/>
          <a:ln/>
        </p:spPr>
        <p:txBody>
          <a:bodyPr wrap="square" lIns="0" tIns="0" rIns="0" bIns="0" rtlCol="0" anchor="ctr"/>
          <a:lstStyle/>
          <a:p>
            <a:pPr indent="0" marL="0">
              <a:buNone/>
            </a:pPr>
            <a:r>
              <a:rPr lang="en-US" sz="1300" dirty="0">
                <a:solidFill>
                  <a:schemeClr val="tx1"/>
                </a:solidFill>
              </a:rPr>
              <a:t>One resource per key: each.key, each.value</a:t>
            </a:r>
            <a:endParaRPr lang="en-US" sz="1300" dirty="0"/>
          </a:p>
        </p:txBody>
      </p:sp>
      <p:sp>
        <p:nvSpPr>
          <p:cNvPr id="18" name="card-1162"/>
          <p:cNvSpPr/>
          <p:nvPr/>
        </p:nvSpPr>
        <p:spPr>
          <a:xfrm>
            <a:off x="6172200" y="2926080"/>
            <a:ext cx="5486400" cy="685800"/>
          </a:xfrm>
          <a:prstGeom prst="roundRect">
            <a:avLst>
              <a:gd name="adj" fmla="val 13333"/>
            </a:avLst>
          </a:prstGeom>
          <a:solidFill>
            <a:schemeClr val="bg2"/>
          </a:solidFill>
          <a:ln w="12700">
            <a:solidFill>
              <a:schemeClr val="bg2"/>
            </a:solidFill>
            <a:prstDash val="solid"/>
          </a:ln>
        </p:spPr>
      </p:sp>
      <p:sp>
        <p:nvSpPr>
          <p:cNvPr id="19" name="text-1163"/>
          <p:cNvSpPr txBox="1"/>
          <p:nvPr/>
        </p:nvSpPr>
        <p:spPr>
          <a:xfrm>
            <a:off x="6355080" y="2926080"/>
            <a:ext cx="3108960" cy="68580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count = n</a:t>
            </a:r>
            <a:endParaRPr lang="en-US" sz="1300" dirty="0"/>
          </a:p>
        </p:txBody>
      </p:sp>
      <p:sp>
        <p:nvSpPr>
          <p:cNvPr id="20" name="text-1164"/>
          <p:cNvSpPr txBox="1"/>
          <p:nvPr/>
        </p:nvSpPr>
        <p:spPr>
          <a:xfrm>
            <a:off x="9464040" y="2926080"/>
            <a:ext cx="2103120" cy="685800"/>
          </a:xfrm>
          <a:prstGeom prst="rect">
            <a:avLst/>
          </a:prstGeom>
          <a:noFill/>
          <a:ln/>
        </p:spPr>
        <p:txBody>
          <a:bodyPr wrap="square" lIns="0" tIns="0" rIns="0" bIns="0" rtlCol="0" anchor="ctr"/>
          <a:lstStyle/>
          <a:p>
            <a:pPr indent="0" marL="0">
              <a:buNone/>
            </a:pPr>
            <a:r>
              <a:rPr lang="en-US" sz="1300" dirty="0">
                <a:solidFill>
                  <a:schemeClr val="tx1"/>
                </a:solidFill>
              </a:rPr>
              <a:t>n copies: count.index</a:t>
            </a:r>
            <a:endParaRPr lang="en-US" sz="1300" dirty="0"/>
          </a:p>
        </p:txBody>
      </p:sp>
      <p:sp>
        <p:nvSpPr>
          <p:cNvPr id="21" name="card-1165"/>
          <p:cNvSpPr/>
          <p:nvPr/>
        </p:nvSpPr>
        <p:spPr>
          <a:xfrm>
            <a:off x="502920" y="3749040"/>
            <a:ext cx="5486400" cy="685800"/>
          </a:xfrm>
          <a:prstGeom prst="roundRect">
            <a:avLst>
              <a:gd name="adj" fmla="val 13333"/>
            </a:avLst>
          </a:prstGeom>
          <a:solidFill>
            <a:schemeClr val="bg1"/>
          </a:solidFill>
          <a:ln w="12700">
            <a:solidFill>
              <a:schemeClr val="bg1"/>
            </a:solidFill>
            <a:prstDash val="solid"/>
          </a:ln>
        </p:spPr>
      </p:sp>
      <p:sp>
        <p:nvSpPr>
          <p:cNvPr id="22" name="text-1166"/>
          <p:cNvSpPr txBox="1"/>
          <p:nvPr/>
        </p:nvSpPr>
        <p:spPr>
          <a:xfrm>
            <a:off x="685800" y="3749040"/>
            <a:ext cx="3108960" cy="68580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cond ? a : b</a:t>
            </a:r>
            <a:endParaRPr lang="en-US" sz="1300" dirty="0"/>
          </a:p>
        </p:txBody>
      </p:sp>
      <p:sp>
        <p:nvSpPr>
          <p:cNvPr id="23" name="text-1167"/>
          <p:cNvSpPr txBox="1"/>
          <p:nvPr/>
        </p:nvSpPr>
        <p:spPr>
          <a:xfrm>
            <a:off x="3794760" y="3749040"/>
            <a:ext cx="2103120" cy="685800"/>
          </a:xfrm>
          <a:prstGeom prst="rect">
            <a:avLst/>
          </a:prstGeom>
          <a:noFill/>
          <a:ln/>
        </p:spPr>
        <p:txBody>
          <a:bodyPr wrap="square" lIns="0" tIns="0" rIns="0" bIns="0" rtlCol="0" anchor="ctr"/>
          <a:lstStyle/>
          <a:p>
            <a:pPr indent="0" marL="0">
              <a:buNone/>
            </a:pPr>
            <a:r>
              <a:rPr lang="en-US" sz="1300" dirty="0">
                <a:solidFill>
                  <a:schemeClr val="tx1"/>
                </a:solidFill>
              </a:rPr>
              <a:t>Conditional expression</a:t>
            </a:r>
            <a:endParaRPr lang="en-US" sz="1300" dirty="0"/>
          </a:p>
        </p:txBody>
      </p:sp>
      <p:sp>
        <p:nvSpPr>
          <p:cNvPr id="24" name="card-1168"/>
          <p:cNvSpPr/>
          <p:nvPr/>
        </p:nvSpPr>
        <p:spPr>
          <a:xfrm>
            <a:off x="6172200" y="3749040"/>
            <a:ext cx="5486400" cy="685800"/>
          </a:xfrm>
          <a:prstGeom prst="roundRect">
            <a:avLst>
              <a:gd name="adj" fmla="val 13333"/>
            </a:avLst>
          </a:prstGeom>
          <a:solidFill>
            <a:schemeClr val="bg1"/>
          </a:solidFill>
          <a:ln w="12700">
            <a:solidFill>
              <a:schemeClr val="bg1"/>
            </a:solidFill>
            <a:prstDash val="solid"/>
          </a:ln>
        </p:spPr>
      </p:sp>
      <p:sp>
        <p:nvSpPr>
          <p:cNvPr id="25" name="text-1169"/>
          <p:cNvSpPr txBox="1"/>
          <p:nvPr/>
        </p:nvSpPr>
        <p:spPr>
          <a:xfrm>
            <a:off x="6355080" y="3749040"/>
            <a:ext cx="3108960" cy="68580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[for x in xs : f(x)]</a:t>
            </a:r>
            <a:endParaRPr lang="en-US" sz="1300" dirty="0"/>
          </a:p>
        </p:txBody>
      </p:sp>
      <p:sp>
        <p:nvSpPr>
          <p:cNvPr id="26" name="text-1170"/>
          <p:cNvSpPr txBox="1"/>
          <p:nvPr/>
        </p:nvSpPr>
        <p:spPr>
          <a:xfrm>
            <a:off x="9464040" y="3749040"/>
            <a:ext cx="2103120" cy="685800"/>
          </a:xfrm>
          <a:prstGeom prst="rect">
            <a:avLst/>
          </a:prstGeom>
          <a:noFill/>
          <a:ln/>
        </p:spPr>
        <p:txBody>
          <a:bodyPr wrap="square" lIns="0" tIns="0" rIns="0" bIns="0" rtlCol="0" anchor="ctr"/>
          <a:lstStyle/>
          <a:p>
            <a:pPr indent="0" marL="0">
              <a:buNone/>
            </a:pPr>
            <a:r>
              <a:rPr lang="en-US" sz="1300" dirty="0">
                <a:solidFill>
                  <a:schemeClr val="tx1"/>
                </a:solidFill>
              </a:rPr>
              <a:t>List comprehension</a:t>
            </a:r>
            <a:endParaRPr lang="en-US" sz="1300" dirty="0"/>
          </a:p>
        </p:txBody>
      </p:sp>
      <p:sp>
        <p:nvSpPr>
          <p:cNvPr id="27" name="card-1171"/>
          <p:cNvSpPr/>
          <p:nvPr/>
        </p:nvSpPr>
        <p:spPr>
          <a:xfrm>
            <a:off x="502920" y="4572000"/>
            <a:ext cx="5486400" cy="685800"/>
          </a:xfrm>
          <a:prstGeom prst="roundRect">
            <a:avLst>
              <a:gd name="adj" fmla="val 13333"/>
            </a:avLst>
          </a:prstGeom>
          <a:solidFill>
            <a:schemeClr val="bg2"/>
          </a:solidFill>
          <a:ln w="12700">
            <a:solidFill>
              <a:schemeClr val="bg2"/>
            </a:solidFill>
            <a:prstDash val="solid"/>
          </a:ln>
        </p:spPr>
      </p:sp>
      <p:sp>
        <p:nvSpPr>
          <p:cNvPr id="28" name="text-1172"/>
          <p:cNvSpPr txBox="1"/>
          <p:nvPr/>
        </p:nvSpPr>
        <p:spPr>
          <a:xfrm>
            <a:off x="685800" y="4572000"/>
            <a:ext cx="3108960" cy="68580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 for k, v in m : k =&gt; v }</a:t>
            </a:r>
            <a:endParaRPr lang="en-US" sz="1300" dirty="0"/>
          </a:p>
        </p:txBody>
      </p:sp>
      <p:sp>
        <p:nvSpPr>
          <p:cNvPr id="29" name="text-1173"/>
          <p:cNvSpPr txBox="1"/>
          <p:nvPr/>
        </p:nvSpPr>
        <p:spPr>
          <a:xfrm>
            <a:off x="3794760" y="4572000"/>
            <a:ext cx="2103120" cy="685800"/>
          </a:xfrm>
          <a:prstGeom prst="rect">
            <a:avLst/>
          </a:prstGeom>
          <a:noFill/>
          <a:ln/>
        </p:spPr>
        <p:txBody>
          <a:bodyPr wrap="square" lIns="0" tIns="0" rIns="0" bIns="0" rtlCol="0" anchor="ctr"/>
          <a:lstStyle/>
          <a:p>
            <a:pPr indent="0" marL="0">
              <a:buNone/>
            </a:pPr>
            <a:r>
              <a:rPr lang="en-US" sz="1300" dirty="0">
                <a:solidFill>
                  <a:schemeClr val="tx1"/>
                </a:solidFill>
              </a:rPr>
              <a:t>Map comprehension</a:t>
            </a:r>
            <a:endParaRPr lang="en-US" sz="1300" dirty="0"/>
          </a:p>
        </p:txBody>
      </p:sp>
      <p:sp>
        <p:nvSpPr>
          <p:cNvPr id="30" name="card-1174"/>
          <p:cNvSpPr/>
          <p:nvPr/>
        </p:nvSpPr>
        <p:spPr>
          <a:xfrm>
            <a:off x="6172200" y="4572000"/>
            <a:ext cx="5486400" cy="685800"/>
          </a:xfrm>
          <a:prstGeom prst="roundRect">
            <a:avLst>
              <a:gd name="adj" fmla="val 13333"/>
            </a:avLst>
          </a:prstGeom>
          <a:solidFill>
            <a:schemeClr val="bg2"/>
          </a:solidFill>
          <a:ln w="12700">
            <a:solidFill>
              <a:schemeClr val="bg2"/>
            </a:solidFill>
            <a:prstDash val="solid"/>
          </a:ln>
        </p:spPr>
      </p:sp>
      <p:sp>
        <p:nvSpPr>
          <p:cNvPr id="31" name="text-1175"/>
          <p:cNvSpPr txBox="1"/>
          <p:nvPr/>
        </p:nvSpPr>
        <p:spPr>
          <a:xfrm>
            <a:off x="6355080" y="4572000"/>
            <a:ext cx="3108960" cy="68580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"${expr}"</a:t>
            </a:r>
            <a:endParaRPr lang="en-US" sz="1300" dirty="0"/>
          </a:p>
        </p:txBody>
      </p:sp>
      <p:sp>
        <p:nvSpPr>
          <p:cNvPr id="32" name="text-1176"/>
          <p:cNvSpPr txBox="1"/>
          <p:nvPr/>
        </p:nvSpPr>
        <p:spPr>
          <a:xfrm>
            <a:off x="9464040" y="4572000"/>
            <a:ext cx="2103120" cy="685800"/>
          </a:xfrm>
          <a:prstGeom prst="rect">
            <a:avLst/>
          </a:prstGeom>
          <a:noFill/>
          <a:ln/>
        </p:spPr>
        <p:txBody>
          <a:bodyPr wrap="square" lIns="0" tIns="0" rIns="0" bIns="0" rtlCol="0" anchor="ctr"/>
          <a:lstStyle/>
          <a:p>
            <a:pPr indent="0" marL="0">
              <a:buNone/>
            </a:pPr>
            <a:r>
              <a:rPr lang="en-US" sz="1300" dirty="0">
                <a:solidFill>
                  <a:schemeClr val="tx1"/>
                </a:solidFill>
              </a:rPr>
              <a:t>String interpolation</a:t>
            </a:r>
            <a:endParaRPr lang="en-US" sz="1300" dirty="0"/>
          </a:p>
        </p:txBody>
      </p:sp>
      <p:sp>
        <p:nvSpPr>
          <p:cNvPr id="33" name="card-1177"/>
          <p:cNvSpPr/>
          <p:nvPr/>
        </p:nvSpPr>
        <p:spPr>
          <a:xfrm>
            <a:off x="502920" y="5394960"/>
            <a:ext cx="5486400" cy="685800"/>
          </a:xfrm>
          <a:prstGeom prst="roundRect">
            <a:avLst>
              <a:gd name="adj" fmla="val 13333"/>
            </a:avLst>
          </a:prstGeom>
          <a:solidFill>
            <a:schemeClr val="bg1"/>
          </a:solidFill>
          <a:ln w="12700">
            <a:solidFill>
              <a:schemeClr val="bg1"/>
            </a:solidFill>
            <a:prstDash val="solid"/>
          </a:ln>
        </p:spPr>
      </p:sp>
      <p:sp>
        <p:nvSpPr>
          <p:cNvPr id="34" name="text-1178"/>
          <p:cNvSpPr txBox="1"/>
          <p:nvPr/>
        </p:nvSpPr>
        <p:spPr>
          <a:xfrm>
            <a:off x="685800" y="5394960"/>
            <a:ext cx="3108960" cy="68580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jsonencode(...) / jsondecode(...)</a:t>
            </a:r>
            <a:endParaRPr lang="en-US" sz="1300" dirty="0"/>
          </a:p>
        </p:txBody>
      </p:sp>
      <p:sp>
        <p:nvSpPr>
          <p:cNvPr id="35" name="text-1179"/>
          <p:cNvSpPr txBox="1"/>
          <p:nvPr/>
        </p:nvSpPr>
        <p:spPr>
          <a:xfrm>
            <a:off x="3794760" y="5394960"/>
            <a:ext cx="2103120" cy="685800"/>
          </a:xfrm>
          <a:prstGeom prst="rect">
            <a:avLst/>
          </a:prstGeom>
          <a:noFill/>
          <a:ln/>
        </p:spPr>
        <p:txBody>
          <a:bodyPr wrap="square" lIns="0" tIns="0" rIns="0" bIns="0" rtlCol="0" anchor="ctr"/>
          <a:lstStyle/>
          <a:p>
            <a:pPr indent="0" marL="0">
              <a:buNone/>
            </a:pPr>
            <a:r>
              <a:rPr lang="en-US" sz="1300" dirty="0">
                <a:solidFill>
                  <a:schemeClr val="tx1"/>
                </a:solidFill>
              </a:rPr>
              <a:t>HCL to JSON and back</a:t>
            </a:r>
            <a:endParaRPr lang="en-US" sz="1300" dirty="0"/>
          </a:p>
        </p:txBody>
      </p:sp>
      <p:sp>
        <p:nvSpPr>
          <p:cNvPr id="36" name="card-1180"/>
          <p:cNvSpPr/>
          <p:nvPr/>
        </p:nvSpPr>
        <p:spPr>
          <a:xfrm>
            <a:off x="6172200" y="5394960"/>
            <a:ext cx="5486400" cy="685800"/>
          </a:xfrm>
          <a:prstGeom prst="roundRect">
            <a:avLst>
              <a:gd name="adj" fmla="val 13333"/>
            </a:avLst>
          </a:prstGeom>
          <a:solidFill>
            <a:schemeClr val="bg1"/>
          </a:solidFill>
          <a:ln w="12700">
            <a:solidFill>
              <a:schemeClr val="bg1"/>
            </a:solidFill>
            <a:prstDash val="solid"/>
          </a:ln>
        </p:spPr>
      </p:sp>
      <p:sp>
        <p:nvSpPr>
          <p:cNvPr id="37" name="text-1181"/>
          <p:cNvSpPr txBox="1"/>
          <p:nvPr/>
        </p:nvSpPr>
        <p:spPr>
          <a:xfrm>
            <a:off x="6355080" y="5394960"/>
            <a:ext cx="3108960" cy="68580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depends_on = [...]</a:t>
            </a:r>
            <a:endParaRPr lang="en-US" sz="1300" dirty="0"/>
          </a:p>
        </p:txBody>
      </p:sp>
      <p:sp>
        <p:nvSpPr>
          <p:cNvPr id="38" name="text-1182"/>
          <p:cNvSpPr txBox="1"/>
          <p:nvPr/>
        </p:nvSpPr>
        <p:spPr>
          <a:xfrm>
            <a:off x="9464040" y="5394960"/>
            <a:ext cx="2103120" cy="685800"/>
          </a:xfrm>
          <a:prstGeom prst="rect">
            <a:avLst/>
          </a:prstGeom>
          <a:noFill/>
          <a:ln/>
        </p:spPr>
        <p:txBody>
          <a:bodyPr wrap="square" lIns="0" tIns="0" rIns="0" bIns="0" rtlCol="0" anchor="ctr"/>
          <a:lstStyle/>
          <a:p>
            <a:pPr indent="0" marL="0">
              <a:buNone/>
            </a:pPr>
            <a:r>
              <a:rPr lang="en-US" sz="1300" dirty="0">
                <a:solidFill>
                  <a:schemeClr val="tx1"/>
                </a:solidFill>
              </a:rPr>
              <a:t>Explicit ordering</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ctr"/>
          <a:lstStyle/>
          <a:p>
            <a:pPr algn="l" indent="0" marL="0">
              <a:buNone/>
            </a:pPr>
            <a:r>
              <a:rPr lang="en-US" sz="3600" b="1" dirty="0">
                <a:solidFill>
                  <a:schemeClr val="bg1"/>
                </a:solidFill>
              </a:rPr>
              <a:t>Check your understanding</a:t>
            </a:r>
            <a:endParaRPr lang="en-US" sz="3600" dirty="0"/>
          </a:p>
        </p:txBody>
      </p:sp>
      <p:sp>
        <p:nvSpPr>
          <p:cNvPr id="3" name="marker-1183"/>
          <p:cNvSpPr/>
          <p:nvPr/>
        </p:nvSpPr>
        <p:spPr>
          <a:xfrm>
            <a:off x="731520" y="1600200"/>
            <a:ext cx="457200" cy="457200"/>
          </a:xfrm>
          <a:prstGeom prst="ellipse">
            <a:avLst/>
          </a:prstGeom>
          <a:solidFill>
            <a:schemeClr val="accent2"/>
          </a:solidFill>
          <a:ln w="12700">
            <a:solidFill>
              <a:schemeClr val="accent2"/>
            </a:solidFill>
            <a:prstDash val="solid"/>
          </a:ln>
        </p:spPr>
      </p:sp>
      <p:sp>
        <p:nvSpPr>
          <p:cNvPr id="4" name="marker-n-1184"/>
          <p:cNvSpPr txBox="1"/>
          <p:nvPr/>
        </p:nvSpPr>
        <p:spPr>
          <a:xfrm>
            <a:off x="731520" y="160020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5" name="text-1185"/>
          <p:cNvSpPr txBox="1"/>
          <p:nvPr/>
        </p:nvSpPr>
        <p:spPr>
          <a:xfrm>
            <a:off x="1371600" y="1554480"/>
            <a:ext cx="4480560" cy="1371600"/>
          </a:xfrm>
          <a:prstGeom prst="rect">
            <a:avLst/>
          </a:prstGeom>
          <a:noFill/>
          <a:ln/>
        </p:spPr>
        <p:txBody>
          <a:bodyPr wrap="square" lIns="0" tIns="0" rIns="0" bIns="0" rtlCol="0" anchor="t"/>
          <a:lstStyle/>
          <a:p>
            <a:pPr indent="0" marL="0">
              <a:buNone/>
            </a:pPr>
            <a:r>
              <a:rPr lang="en-US" sz="1600" dirty="0">
                <a:solidFill>
                  <a:schemeClr val="bg1"/>
                </a:solidFill>
              </a:rPr>
              <a:t>Why deny requests where aws:SecureTransport is false, instead of allowing ones where it is true?</a:t>
            </a:r>
            <a:endParaRPr lang="en-US" sz="1600" dirty="0"/>
          </a:p>
        </p:txBody>
      </p:sp>
      <p:sp>
        <p:nvSpPr>
          <p:cNvPr id="6" name="marker-1186"/>
          <p:cNvSpPr/>
          <p:nvPr/>
        </p:nvSpPr>
        <p:spPr>
          <a:xfrm>
            <a:off x="6217920" y="1600200"/>
            <a:ext cx="457200" cy="457200"/>
          </a:xfrm>
          <a:prstGeom prst="ellipse">
            <a:avLst/>
          </a:prstGeom>
          <a:solidFill>
            <a:schemeClr val="accent2"/>
          </a:solidFill>
          <a:ln w="12700">
            <a:solidFill>
              <a:schemeClr val="accent2"/>
            </a:solidFill>
            <a:prstDash val="solid"/>
          </a:ln>
        </p:spPr>
      </p:sp>
      <p:sp>
        <p:nvSpPr>
          <p:cNvPr id="7" name="marker-n-1187"/>
          <p:cNvSpPr txBox="1"/>
          <p:nvPr/>
        </p:nvSpPr>
        <p:spPr>
          <a:xfrm>
            <a:off x="6217920" y="160020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8" name="text-1188"/>
          <p:cNvSpPr txBox="1"/>
          <p:nvPr/>
        </p:nvSpPr>
        <p:spPr>
          <a:xfrm>
            <a:off x="6858000" y="1554480"/>
            <a:ext cx="4480560" cy="1371600"/>
          </a:xfrm>
          <a:prstGeom prst="rect">
            <a:avLst/>
          </a:prstGeom>
          <a:noFill/>
          <a:ln/>
        </p:spPr>
        <p:txBody>
          <a:bodyPr wrap="square" lIns="0" tIns="0" rIns="0" bIns="0" rtlCol="0" anchor="t"/>
          <a:lstStyle/>
          <a:p>
            <a:pPr indent="0" marL="0">
              <a:buNone/>
            </a:pPr>
            <a:r>
              <a:rPr lang="en-US" sz="1600" dirty="0">
                <a:solidFill>
                  <a:schemeClr val="bg1"/>
                </a:solidFill>
              </a:rPr>
              <a:t>An admin in the dev account runs cloudtrail stop-logging. What stops them, and why can't IAM override it?</a:t>
            </a:r>
            <a:endParaRPr lang="en-US" sz="1600" dirty="0"/>
          </a:p>
        </p:txBody>
      </p:sp>
      <p:sp>
        <p:nvSpPr>
          <p:cNvPr id="9" name="marker-1189"/>
          <p:cNvSpPr/>
          <p:nvPr/>
        </p:nvSpPr>
        <p:spPr>
          <a:xfrm>
            <a:off x="731520" y="3200400"/>
            <a:ext cx="457200" cy="457200"/>
          </a:xfrm>
          <a:prstGeom prst="ellipse">
            <a:avLst/>
          </a:prstGeom>
          <a:solidFill>
            <a:schemeClr val="accent2"/>
          </a:solidFill>
          <a:ln w="12700">
            <a:solidFill>
              <a:schemeClr val="accent2"/>
            </a:solidFill>
            <a:prstDash val="solid"/>
          </a:ln>
        </p:spPr>
      </p:sp>
      <p:sp>
        <p:nvSpPr>
          <p:cNvPr id="10" name="marker-n-1190"/>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1" name="text-1191"/>
          <p:cNvSpPr txBox="1"/>
          <p:nvPr/>
        </p:nvSpPr>
        <p:spPr>
          <a:xfrm>
            <a:off x="1371600" y="3154680"/>
            <a:ext cx="4480560" cy="1371600"/>
          </a:xfrm>
          <a:prstGeom prst="rect">
            <a:avLst/>
          </a:prstGeom>
          <a:noFill/>
          <a:ln/>
        </p:spPr>
        <p:txBody>
          <a:bodyPr wrap="square" lIns="0" tIns="0" rIns="0" bIns="0" rtlCol="0" anchor="t"/>
          <a:lstStyle/>
          <a:p>
            <a:pPr indent="0" marL="0">
              <a:buNone/>
            </a:pPr>
            <a:r>
              <a:rPr lang="en-US" sz="1600" dirty="0">
                <a:solidFill>
                  <a:schemeClr val="bg1"/>
                </a:solidFill>
              </a:rPr>
              <a:t>Why does the management account stay empty of workloads?</a:t>
            </a:r>
            <a:endParaRPr lang="en-US" sz="1600" dirty="0"/>
          </a:p>
        </p:txBody>
      </p:sp>
      <p:sp>
        <p:nvSpPr>
          <p:cNvPr id="12" name="marker-1192"/>
          <p:cNvSpPr/>
          <p:nvPr/>
        </p:nvSpPr>
        <p:spPr>
          <a:xfrm>
            <a:off x="6217920" y="3200400"/>
            <a:ext cx="457200" cy="457200"/>
          </a:xfrm>
          <a:prstGeom prst="ellipse">
            <a:avLst/>
          </a:prstGeom>
          <a:solidFill>
            <a:schemeClr val="accent2"/>
          </a:solidFill>
          <a:ln w="12700">
            <a:solidFill>
              <a:schemeClr val="accent2"/>
            </a:solidFill>
            <a:prstDash val="solid"/>
          </a:ln>
        </p:spPr>
      </p:sp>
      <p:sp>
        <p:nvSpPr>
          <p:cNvPr id="13" name="marker-n-1193"/>
          <p:cNvSpPr txBox="1"/>
          <p:nvPr/>
        </p:nvSpPr>
        <p:spPr>
          <a:xfrm>
            <a:off x="6217920" y="320040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4" name="text-1194"/>
          <p:cNvSpPr txBox="1"/>
          <p:nvPr/>
        </p:nvSpPr>
        <p:spPr>
          <a:xfrm>
            <a:off x="6858000" y="3154680"/>
            <a:ext cx="4480560" cy="1371600"/>
          </a:xfrm>
          <a:prstGeom prst="rect">
            <a:avLst/>
          </a:prstGeom>
          <a:noFill/>
          <a:ln/>
        </p:spPr>
        <p:txBody>
          <a:bodyPr wrap="square" lIns="0" tIns="0" rIns="0" bIns="0" rtlCol="0" anchor="t"/>
          <a:lstStyle/>
          <a:p>
            <a:pPr indent="0" marL="0">
              <a:buNone/>
            </a:pPr>
            <a:r>
              <a:rPr lang="en-US" sz="1600" dirty="0">
                <a:solidFill>
                  <a:schemeClr val="bg1"/>
                </a:solidFill>
              </a:rPr>
              <a:t>What would go wrong if the log bucket policy trusted cloudtrail.amazonaws.com with no condition?</a:t>
            </a:r>
            <a:endParaRPr lang="en-US" sz="1600" dirty="0"/>
          </a:p>
        </p:txBody>
      </p:sp>
      <p:sp>
        <p:nvSpPr>
          <p:cNvPr id="15" name="marker-1195"/>
          <p:cNvSpPr/>
          <p:nvPr/>
        </p:nvSpPr>
        <p:spPr>
          <a:xfrm>
            <a:off x="731520" y="4800600"/>
            <a:ext cx="457200" cy="457200"/>
          </a:xfrm>
          <a:prstGeom prst="ellipse">
            <a:avLst/>
          </a:prstGeom>
          <a:solidFill>
            <a:schemeClr val="accent2"/>
          </a:solidFill>
          <a:ln w="12700">
            <a:solidFill>
              <a:schemeClr val="accent2"/>
            </a:solidFill>
            <a:prstDash val="solid"/>
          </a:ln>
        </p:spPr>
      </p:sp>
      <p:sp>
        <p:nvSpPr>
          <p:cNvPr id="16" name="marker-n-1196"/>
          <p:cNvSpPr txBox="1"/>
          <p:nvPr/>
        </p:nvSpPr>
        <p:spPr>
          <a:xfrm>
            <a:off x="731520" y="480060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17" name="text-1197"/>
          <p:cNvSpPr txBox="1"/>
          <p:nvPr/>
        </p:nvSpPr>
        <p:spPr>
          <a:xfrm>
            <a:off x="1371600" y="4754880"/>
            <a:ext cx="4480560" cy="1371600"/>
          </a:xfrm>
          <a:prstGeom prst="rect">
            <a:avLst/>
          </a:prstGeom>
          <a:noFill/>
          <a:ln/>
        </p:spPr>
        <p:txBody>
          <a:bodyPr wrap="square" lIns="0" tIns="0" rIns="0" bIns="0" rtlCol="0" anchor="t"/>
          <a:lstStyle/>
          <a:p>
            <a:pPr indent="0" marL="0">
              <a:buNone/>
            </a:pPr>
            <a:r>
              <a:rPr lang="en-US" sz="1600" dirty="0">
                <a:solidFill>
                  <a:schemeClr val="bg1"/>
                </a:solidFill>
              </a:rPr>
              <a:t>Dev adds a route to 10.20.0.0/16 in its own VPC. Why can it still not reach prod?</a:t>
            </a:r>
            <a:endParaRPr lang="en-US" sz="1600" dirty="0"/>
          </a:p>
        </p:txBody>
      </p:sp>
      <p:sp>
        <p:nvSpPr>
          <p:cNvPr id="18" name="marker-1198"/>
          <p:cNvSpPr/>
          <p:nvPr/>
        </p:nvSpPr>
        <p:spPr>
          <a:xfrm>
            <a:off x="6217920" y="4800600"/>
            <a:ext cx="457200" cy="457200"/>
          </a:xfrm>
          <a:prstGeom prst="ellipse">
            <a:avLst/>
          </a:prstGeom>
          <a:solidFill>
            <a:schemeClr val="accent2"/>
          </a:solidFill>
          <a:ln w="12700">
            <a:solidFill>
              <a:schemeClr val="accent2"/>
            </a:solidFill>
            <a:prstDash val="solid"/>
          </a:ln>
        </p:spPr>
      </p:sp>
      <p:sp>
        <p:nvSpPr>
          <p:cNvPr id="19" name="marker-n-1199"/>
          <p:cNvSpPr txBox="1"/>
          <p:nvPr/>
        </p:nvSpPr>
        <p:spPr>
          <a:xfrm>
            <a:off x="6217920" y="480060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20" name="text-1200"/>
          <p:cNvSpPr txBox="1"/>
          <p:nvPr/>
        </p:nvSpPr>
        <p:spPr>
          <a:xfrm>
            <a:off x="6858000" y="4754880"/>
            <a:ext cx="4480560" cy="1371600"/>
          </a:xfrm>
          <a:prstGeom prst="rect">
            <a:avLst/>
          </a:prstGeom>
          <a:noFill/>
          <a:ln/>
        </p:spPr>
        <p:txBody>
          <a:bodyPr wrap="square" lIns="0" tIns="0" rIns="0" bIns="0" rtlCol="0" anchor="t"/>
          <a:lstStyle/>
          <a:p>
            <a:pPr indent="0" marL="0">
              <a:buNone/>
            </a:pPr>
            <a:r>
              <a:rPr lang="en-US" sz="1600" dirty="0">
                <a:solidFill>
                  <a:schemeClr val="bg1"/>
                </a:solidFill>
              </a:rPr>
              <a:t>Why is for_each over a map safer than count over a list for the member accounts?</a:t>
            </a:r>
            <a:endParaRPr lang="en-US" sz="1600" dirty="0"/>
          </a:p>
        </p:txBody>
      </p:sp>
    </p:spTree>
  </p:cSld>
  <p:clrMapOvr>
    <a:masterClrMapping/>
  </p:clrMapOvr>
</p:sld>
</file>

<file path=ppt/theme/theme1.xml><?xml version="1.0" encoding="utf-8"?>
<a:theme xmlns:a="http://schemas.openxmlformats.org/drawingml/2006/main" name="Landing Zone">
  <a:themeElements>
    <a:clrScheme name="Landing Zone">
      <a:dk1>
        <a:srgbClr val="1B1530"/>
      </a:dk1>
      <a:lt1>
        <a:srgbClr val="FFFFFF"/>
      </a:lt1>
      <a:dk2>
        <a:srgbClr val="6F6A86"/>
      </a:dk2>
      <a:lt2>
        <a:srgbClr val="F4F2FA"/>
      </a:lt2>
      <a:accent1>
        <a:srgbClr val="5B3FC4"/>
      </a:accent1>
      <a:accent2>
        <a:srgbClr val="FF9900"/>
      </a:accent2>
      <a:accent3>
        <a:srgbClr val="13897A"/>
      </a:accent3>
      <a:accent4>
        <a:srgbClr val="D64545"/>
      </a:accent4>
      <a:accent5>
        <a:srgbClr val="B9A9F7"/>
      </a:accent5>
      <a:accent6>
        <a:srgbClr val="9BDCA8"/>
      </a:accent6>
      <a:hlink>
        <a:srgbClr val="5B3FC4"/>
      </a:hlink>
      <a:folHlink>
        <a:srgbClr val="6F6A86"/>
      </a:folHlink>
    </a:clrScheme>
    <a:fontScheme name="Landing Zon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Landing Zone with Terraform</dc:title>
  <dc:subject>PptxGenJS Presentation</dc:subject>
  <dc:creator>Taylor</dc:creator>
  <cp:lastModifiedBy>Taylor</cp:lastModifiedBy>
  <cp:revision>1</cp:revision>
  <dcterms:created xsi:type="dcterms:W3CDTF">2026-10-21T03:23:31Z</dcterms:created>
  <dcterms:modified xsi:type="dcterms:W3CDTF">2026-10-21T03:23:31Z</dcterms:modified>
</cp:coreProperties>
</file>